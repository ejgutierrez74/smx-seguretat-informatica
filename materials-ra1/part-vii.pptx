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12191675"/>
  <p:embeddedFontLs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h8aP5i9W2Wr6ChjFNmRN2313Qr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D7E202-2C9D-4E7C-B546-BC644BB75176}">
  <a:tblStyle styleId="{81D7E202-2C9D-4E7C-B546-BC644BB751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Mono-bold.fntdata"/><Relationship Id="rId14" Type="http://schemas.openxmlformats.org/officeDocument/2006/relationships/slide" Target="slides/slide9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12f341bc55c35aaa_0_15:notes"/>
          <p:cNvSpPr txBox="1"/>
          <p:nvPr>
            <p:ph idx="1" type="body"/>
          </p:nvPr>
        </p:nvSpPr>
        <p:spPr>
          <a:xfrm>
            <a:off x="685756" y="5866993"/>
            <a:ext cx="5485800" cy="4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h12f341bc55c35aaa_0_15:notes"/>
          <p:cNvSpPr txBox="1"/>
          <p:nvPr>
            <p:ph idx="12" type="sldNum"/>
          </p:nvPr>
        </p:nvSpPr>
        <p:spPr>
          <a:xfrm>
            <a:off x="3884515" y="11579441"/>
            <a:ext cx="2971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27" name="Google Shape;27;h12f341bc55c35aaa_0_15:notes"/>
          <p:cNvSpPr/>
          <p:nvPr>
            <p:ph idx="2" type="sldImg"/>
          </p:nvPr>
        </p:nvSpPr>
        <p:spPr>
          <a:xfrm>
            <a:off x="1143152" y="914376"/>
            <a:ext cx="4572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h12f341bc55c35aaa_0_52:notes"/>
          <p:cNvSpPr txBox="1"/>
          <p:nvPr>
            <p:ph idx="1" type="body"/>
          </p:nvPr>
        </p:nvSpPr>
        <p:spPr>
          <a:xfrm>
            <a:off x="685756" y="5866993"/>
            <a:ext cx="5485800" cy="4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" name="Google Shape;42;h12f341bc55c35aaa_0_52:notes"/>
          <p:cNvSpPr txBox="1"/>
          <p:nvPr>
            <p:ph idx="12" type="sldNum"/>
          </p:nvPr>
        </p:nvSpPr>
        <p:spPr>
          <a:xfrm>
            <a:off x="3884515" y="11579441"/>
            <a:ext cx="2971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43" name="Google Shape;43;h12f341bc55c35aaa_0_52:notes"/>
          <p:cNvSpPr/>
          <p:nvPr>
            <p:ph idx="2" type="sldImg"/>
          </p:nvPr>
        </p:nvSpPr>
        <p:spPr>
          <a:xfrm>
            <a:off x="1143152" y="914376"/>
            <a:ext cx="4572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792d81c27e28080c_0_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h792d81c27e28080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h792d81c27e28080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792d81c27e28080c_0_54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h792d81c27e28080c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792d81c27e28080c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792d81c27e28080c_0_3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h792d81c27e28080c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h792d81c27e28080c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792d81c27e28080c_0_14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h792d81c27e28080c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h792d81c27e28080c_0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h792d81c27e28080c_0_193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h792d81c27e28080c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h792d81c27e28080c_0_1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792d81c27e28080c_0_214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h792d81c27e28080c_0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h792d81c27e28080c_0_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792d81c27e28080c_0_226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h792d81c27e28080c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h792d81c27e28080c_0_2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h792d81c27e28080c_0_66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h792d81c27e28080c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h792d81c27e28080c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h792d81c27e28080c_0_169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h792d81c27e28080c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h792d81c27e28080c_0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7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8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9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0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1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2:notes"/>
          <p:cNvSpPr/>
          <p:nvPr>
            <p:ph idx="2" type="sldImg"/>
          </p:nvPr>
        </p:nvSpPr>
        <p:spPr>
          <a:xfrm>
            <a:off x="685727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h12f341bc55c35aaa_0_3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Mila" type="blank">
  <p:cSld name="BLANK">
    <p:bg>
      <p:bgPr>
        <a:solidFill>
          <a:srgbClr val="EBF3F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h12f341bc55c35aaa_0_5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6" name="Google Shape;16;h12f341bc55c35aaa_0_5"/>
          <p:cNvSpPr/>
          <p:nvPr/>
        </p:nvSpPr>
        <p:spPr>
          <a:xfrm>
            <a:off x="365575" y="274324"/>
            <a:ext cx="8412000" cy="6030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5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h12f341bc55c35aaa_0_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h12f341bc55c35aaa_0_8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12f341bc55c35aaa_0_11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_31__5f_DEFAULT">
  <p:cSld name="_31__5f_DEFAUL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h12f341bc55c35aaa_0_13"/>
          <p:cNvSpPr txBox="1"/>
          <p:nvPr>
            <p:ph idx="12" type="sldNum"/>
          </p:nvPr>
        </p:nvSpPr>
        <p:spPr>
          <a:xfrm>
            <a:off x="7535095" y="4652333"/>
            <a:ext cx="1485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CF7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12f341bc55c35aaa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○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089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■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9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●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9089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○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9089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■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9089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●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9089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○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9089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5"/>
              <a:buFont typeface="Arial"/>
              <a:buChar char="■"/>
              <a:defRPr b="0" i="0" sz="142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h12f341bc55c35aaa_0_0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7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h12f341bc55c35aaa_0_15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0" name="Google Shape;30;h12f341bc55c35aaa_0_15"/>
          <p:cNvSpPr/>
          <p:nvPr/>
        </p:nvSpPr>
        <p:spPr>
          <a:xfrm>
            <a:off x="349238" y="639881"/>
            <a:ext cx="7983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550"/>
              <a:buFont typeface="Play"/>
              <a:buNone/>
            </a:pPr>
            <a:r>
              <a:rPr b="1" lang="ca" sz="2550">
                <a:solidFill>
                  <a:srgbClr val="173F66"/>
                </a:solidFill>
              </a:rPr>
              <a:t>Registres d’usuaris,</a:t>
            </a:r>
            <a:r>
              <a:rPr lang="ca" sz="2550">
                <a:solidFill>
                  <a:schemeClr val="dk1"/>
                </a:solidFill>
              </a:rPr>
              <a:t> </a:t>
            </a:r>
            <a:r>
              <a:rPr b="1" lang="ca" sz="2550">
                <a:solidFill>
                  <a:srgbClr val="173F66"/>
                </a:solidFill>
              </a:rPr>
              <a:t>incidències i alarmes</a:t>
            </a:r>
            <a:endParaRPr b="1" sz="2550">
              <a:solidFill>
                <a:srgbClr val="173F6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50">
              <a:solidFill>
                <a:srgbClr val="0B2E6D"/>
              </a:solidFill>
            </a:endParaRPr>
          </a:p>
        </p:txBody>
      </p:sp>
      <p:sp>
        <p:nvSpPr>
          <p:cNvPr id="31" name="Google Shape;31;h12f341bc55c35aaa_0_15"/>
          <p:cNvSpPr/>
          <p:nvPr/>
        </p:nvSpPr>
        <p:spPr>
          <a:xfrm>
            <a:off x="397718" y="1393883"/>
            <a:ext cx="7886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0A84D6"/>
                </a:solidFill>
                <a:latin typeface="Arial"/>
                <a:ea typeface="Arial"/>
                <a:cs typeface="Arial"/>
                <a:sym typeface="Arial"/>
              </a:rPr>
              <a:t>1r CFGM SMX · M0226 · Seguretat Informàtica</a:t>
            </a:r>
            <a:endParaRPr sz="1350"/>
          </a:p>
        </p:txBody>
      </p:sp>
      <p:sp>
        <p:nvSpPr>
          <p:cNvPr id="32" name="Google Shape;32;h12f341bc55c35aaa_0_15"/>
          <p:cNvSpPr/>
          <p:nvPr/>
        </p:nvSpPr>
        <p:spPr>
          <a:xfrm>
            <a:off x="397718" y="1874006"/>
            <a:ext cx="78867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25" u="none">
                <a:solidFill>
                  <a:srgbClr val="13315C"/>
                </a:solidFill>
              </a:rPr>
              <a:t>RA1 · Seguretat passiva en equips informàtics - P</a:t>
            </a:r>
            <a:r>
              <a:rPr b="1" lang="ca" sz="1425">
                <a:solidFill>
                  <a:srgbClr val="13315C"/>
                </a:solidFill>
              </a:rPr>
              <a:t>art VII</a:t>
            </a:r>
            <a:endParaRPr b="1" sz="1425"/>
          </a:p>
        </p:txBody>
      </p:sp>
      <p:sp>
        <p:nvSpPr>
          <p:cNvPr id="33" name="Google Shape;33;h12f341bc55c35aaa_0_15"/>
          <p:cNvSpPr/>
          <p:nvPr/>
        </p:nvSpPr>
        <p:spPr>
          <a:xfrm>
            <a:off x="4150650" y="2256700"/>
            <a:ext cx="4607100" cy="204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4" name="Google Shape;34;h12f341bc55c35aaa_0_15"/>
          <p:cNvSpPr/>
          <p:nvPr/>
        </p:nvSpPr>
        <p:spPr>
          <a:xfrm>
            <a:off x="4551577" y="2533157"/>
            <a:ext cx="2605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Autors i crèdits</a:t>
            </a:r>
            <a:endParaRPr sz="1200"/>
          </a:p>
        </p:txBody>
      </p:sp>
      <p:sp>
        <p:nvSpPr>
          <p:cNvPr id="35" name="Google Shape;35;h12f341bc55c35aaa_0_15"/>
          <p:cNvSpPr/>
          <p:nvPr/>
        </p:nvSpPr>
        <p:spPr>
          <a:xfrm>
            <a:off x="4551575" y="2876875"/>
            <a:ext cx="42063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Idea original: Ivan Basart Carrillo</a:t>
            </a:r>
            <a:r>
              <a:rPr lang="ca" sz="1175">
                <a:solidFill>
                  <a:srgbClr val="13315C"/>
                </a:solidFill>
              </a:rPr>
              <a:t>. </a:t>
            </a:r>
            <a:r>
              <a:rPr lang="ca" sz="11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Carles Caño Valls </a:t>
            </a:r>
            <a:endParaRPr sz="1175" u="none">
              <a:solidFill>
                <a:srgbClr val="1331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75">
                <a:solidFill>
                  <a:srgbClr val="13315C"/>
                </a:solidFill>
              </a:rPr>
              <a:t>                     </a:t>
            </a:r>
            <a:r>
              <a:rPr lang="ca" sz="11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ca" sz="1175">
                <a:solidFill>
                  <a:srgbClr val="13315C"/>
                </a:solidFill>
              </a:rPr>
              <a:t>Carles Franquesa</a:t>
            </a:r>
            <a:endParaRPr sz="1175">
              <a:solidFill>
                <a:srgbClr val="1331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75">
                <a:solidFill>
                  <a:srgbClr val="13315C"/>
                </a:solidFill>
              </a:rPr>
              <a:t>Modificació: Amanda Fontana</a:t>
            </a:r>
            <a:endParaRPr sz="1175">
              <a:solidFill>
                <a:srgbClr val="1331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Adaptació, modificaci</a:t>
            </a:r>
            <a:r>
              <a:rPr lang="ca" sz="1175">
                <a:solidFill>
                  <a:srgbClr val="13315C"/>
                </a:solidFill>
              </a:rPr>
              <a:t>ó </a:t>
            </a:r>
            <a:r>
              <a:rPr lang="ca" sz="11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 i reorganització: Eduard Gutiérrez</a:t>
            </a:r>
            <a:endParaRPr sz="1175"/>
          </a:p>
        </p:txBody>
      </p:sp>
      <p:pic>
        <p:nvPicPr>
          <p:cNvPr id="36" name="Google Shape;36;h12f341bc55c35aaa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115" y="4611318"/>
            <a:ext cx="1062695" cy="37151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h12f341bc55c35aaa_0_15"/>
          <p:cNvSpPr/>
          <p:nvPr/>
        </p:nvSpPr>
        <p:spPr>
          <a:xfrm>
            <a:off x="1459607" y="4815311"/>
            <a:ext cx="51432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7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Llicència del material: Creative Commons BY-NC-SA 4.0</a:t>
            </a:r>
            <a:endParaRPr sz="1350"/>
          </a:p>
        </p:txBody>
      </p:sp>
      <p:pic>
        <p:nvPicPr>
          <p:cNvPr id="38" name="Google Shape;38;h12f341bc55c35aaa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825" y="2285275"/>
            <a:ext cx="3311724" cy="197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h12f341bc55c35aaa_0_15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7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h12f341bc55c35aaa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5746" y="479791"/>
            <a:ext cx="455499" cy="6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h12f341bc55c35aaa_0_52"/>
          <p:cNvSpPr/>
          <p:nvPr/>
        </p:nvSpPr>
        <p:spPr>
          <a:xfrm>
            <a:off x="361231" y="746702"/>
            <a:ext cx="83109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Criteris d’avaluació i continguts que treballarem</a:t>
            </a:r>
            <a:r>
              <a:rPr lang="ca" sz="1050">
                <a:solidFill>
                  <a:srgbClr val="5B6B7A"/>
                </a:solidFill>
              </a:rPr>
              <a:t> </a:t>
            </a: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amb els registres d'usuaris, incidències i alarmes</a:t>
            </a:r>
            <a:endParaRPr sz="1350"/>
          </a:p>
        </p:txBody>
      </p:sp>
      <p:sp>
        <p:nvSpPr>
          <p:cNvPr id="47" name="Google Shape;47;h12f341bc55c35aaa_0_52"/>
          <p:cNvSpPr/>
          <p:nvPr/>
        </p:nvSpPr>
        <p:spPr>
          <a:xfrm>
            <a:off x="182712" y="198301"/>
            <a:ext cx="11155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25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  RA1 · Seguretat passiva en equips informàtics</a:t>
            </a:r>
            <a:endParaRPr sz="1350"/>
          </a:p>
        </p:txBody>
      </p:sp>
      <p:graphicFrame>
        <p:nvGraphicFramePr>
          <p:cNvPr id="48" name="Google Shape;48;h12f341bc55c35aaa_0_52"/>
          <p:cNvGraphicFramePr/>
          <p:nvPr/>
        </p:nvGraphicFramePr>
        <p:xfrm>
          <a:off x="396623" y="11602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{81D7E202-2C9D-4E7C-B546-BC644BB75176}</a:tableStyleId>
              </a:tblPr>
              <a:tblGrid>
                <a:gridCol w="4044825"/>
                <a:gridCol w="4044825"/>
              </a:tblGrid>
              <a:tr h="607250">
                <a:tc gridSpan="2">
                  <a:txBody>
                    <a:bodyPr/>
                    <a:lstStyle/>
                    <a:p>
                      <a:pPr indent="0" lvl="0" marL="13335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 hMerge="1"/>
              </a:tr>
              <a:tr h="68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Criteris d’avaluació</a:t>
                      </a:r>
                      <a:endParaRPr sz="1050"/>
                    </a:p>
                  </a:txBody>
                  <a:tcPr marT="68575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Continguts</a:t>
                      </a:r>
                      <a:endParaRPr sz="1050"/>
                    </a:p>
                  </a:txBody>
                  <a:tcPr marT="68575" marB="68575" marR="68575" marL="68575" anchor="ctr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</a:tr>
              <a:tr h="607250">
                <a:tc>
                  <a:txBody>
                    <a:bodyPr/>
                    <a:lstStyle/>
                    <a:p>
                      <a:pPr indent="0" lvl="0" marL="13335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</a:t>
                      </a:r>
                      <a:endParaRPr b="1" sz="1125">
                        <a:solidFill>
                          <a:srgbClr val="13315C"/>
                        </a:solidFill>
                      </a:endParaRPr>
                    </a:p>
                    <a:p>
                      <a:pPr indent="0" lvl="0" marL="13335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25">
                        <a:solidFill>
                          <a:srgbClr val="13315C"/>
                        </a:solidFill>
                      </a:endParaRPr>
                    </a:p>
                    <a:p>
                      <a:pPr indent="0" lvl="0" marL="13335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25">
                        <a:solidFill>
                          <a:srgbClr val="13315C"/>
                        </a:solidFill>
                      </a:endParaRPr>
                    </a:p>
                  </a:txBody>
                  <a:tcPr marT="108000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Gestió i inventari: registres d’usuaris, incidències i </a:t>
                      </a:r>
                      <a:endParaRPr sz="1200">
                        <a:solidFill>
                          <a:srgbClr val="1428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alarmes.</a:t>
                      </a:r>
                      <a:endParaRPr sz="1200">
                        <a:solidFill>
                          <a:srgbClr val="1428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428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0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" name="Google Shape;49;h12f341bc55c35aaa_0_52"/>
          <p:cNvSpPr/>
          <p:nvPr/>
        </p:nvSpPr>
        <p:spPr>
          <a:xfrm>
            <a:off x="396625" y="1169825"/>
            <a:ext cx="8089500" cy="619800"/>
          </a:xfrm>
          <a:prstGeom prst="roundRect">
            <a:avLst>
              <a:gd fmla="val 16667" name="adj"/>
            </a:avLst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RA1 · Seguretat passiva en equips informàtics - Part VII</a:t>
            </a:r>
            <a:endParaRPr sz="1350"/>
          </a:p>
        </p:txBody>
      </p:sp>
      <p:sp>
        <p:nvSpPr>
          <p:cNvPr id="50" name="Google Shape;50;h12f341bc55c35aaa_0_52"/>
          <p:cNvSpPr/>
          <p:nvPr/>
        </p:nvSpPr>
        <p:spPr>
          <a:xfrm>
            <a:off x="4602059" y="2600315"/>
            <a:ext cx="502800" cy="411300"/>
          </a:xfrm>
          <a:prstGeom prst="roundRect">
            <a:avLst>
              <a:gd fmla="val 16667" name="adj"/>
            </a:avLst>
          </a:prstGeom>
          <a:solidFill>
            <a:srgbClr val="9FBC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350"/>
          </a:p>
        </p:txBody>
      </p:sp>
      <p:sp>
        <p:nvSpPr>
          <p:cNvPr id="51" name="Google Shape;51;h12f341bc55c35aaa_0_52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58" name="Google Shape;58;p3"/>
          <p:cNvSpPr/>
          <p:nvPr/>
        </p:nvSpPr>
        <p:spPr>
          <a:xfrm>
            <a:off x="556612" y="377250"/>
            <a:ext cx="483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encaixen els registres?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45773" y="1038987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Són una peça de la seguretat lògica i de la resposta davant incidències.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14364" y="1371600"/>
            <a:ext cx="1920300" cy="1440300"/>
          </a:xfrm>
          <a:prstGeom prst="roundRect">
            <a:avLst>
              <a:gd fmla="val 3810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65244" y="1563624"/>
            <a:ext cx="397800" cy="397800"/>
          </a:xfrm>
          <a:prstGeom prst="ellipse">
            <a:avLst/>
          </a:prstGeom>
          <a:solidFill>
            <a:srgbClr val="0E7BC7"/>
          </a:solidFill>
          <a:ln cap="flat" cmpd="sng" w="9525">
            <a:solidFill>
              <a:srgbClr val="0E7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65244" y="1611630"/>
            <a:ext cx="3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165891" y="1563624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Identificació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33826" y="2125980"/>
            <a:ext cx="154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1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 diu ser?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33826" y="2434590"/>
            <a:ext cx="15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usuari, compte, equip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606109" y="1371600"/>
            <a:ext cx="1920300" cy="1440300"/>
          </a:xfrm>
          <a:prstGeom prst="roundRect">
            <a:avLst>
              <a:gd fmla="val 3810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2756989" y="1563624"/>
            <a:ext cx="397800" cy="397800"/>
          </a:xfrm>
          <a:prstGeom prst="ellipse">
            <a:avLst/>
          </a:prstGeom>
          <a:solidFill>
            <a:srgbClr val="0E7BC7"/>
          </a:solidFill>
          <a:ln cap="flat" cmpd="sng" w="9525">
            <a:solidFill>
              <a:srgbClr val="0E7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756989" y="1611630"/>
            <a:ext cx="3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257637" y="1563624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Autenticació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825571" y="2125980"/>
            <a:ext cx="154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1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Ho pot demostrar?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825571" y="2434590"/>
            <a:ext cx="15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contrasenya, MFA, biometria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697855" y="1371600"/>
            <a:ext cx="1920300" cy="1440300"/>
          </a:xfrm>
          <a:prstGeom prst="roundRect">
            <a:avLst>
              <a:gd fmla="val 3810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848735" y="1563624"/>
            <a:ext cx="397800" cy="397800"/>
          </a:xfrm>
          <a:prstGeom prst="ellipse">
            <a:avLst/>
          </a:prstGeom>
          <a:solidFill>
            <a:srgbClr val="0E7BC7"/>
          </a:solidFill>
          <a:ln cap="flat" cmpd="sng" w="9525">
            <a:solidFill>
              <a:srgbClr val="0E7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848735" y="1611630"/>
            <a:ext cx="3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349383" y="1563624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Autorització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917317" y="2125980"/>
            <a:ext cx="154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1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Què pot fer?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917317" y="2434590"/>
            <a:ext cx="15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permisos, rols, ACL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789601" y="1371600"/>
            <a:ext cx="1920300" cy="1440300"/>
          </a:xfrm>
          <a:prstGeom prst="roundRect">
            <a:avLst>
              <a:gd fmla="val 3810" name="adj"/>
            </a:avLst>
          </a:prstGeom>
          <a:solidFill>
            <a:srgbClr val="EAF7E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940481" y="1563624"/>
            <a:ext cx="397800" cy="397800"/>
          </a:xfrm>
          <a:prstGeom prst="ellipse">
            <a:avLst/>
          </a:prstGeom>
          <a:solidFill>
            <a:srgbClr val="2E7D32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940481" y="1611630"/>
            <a:ext cx="3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441128" y="1563624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Registre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009063" y="2125980"/>
            <a:ext cx="154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1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Què ha passat?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009063" y="2434590"/>
            <a:ext cx="15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6B7785"/>
                </a:solidFill>
                <a:latin typeface="Arial"/>
                <a:ea typeface="Arial"/>
                <a:cs typeface="Arial"/>
                <a:sym typeface="Arial"/>
              </a:rPr>
              <a:t>logs, incidències, alarmes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99999" y="3652051"/>
            <a:ext cx="7544100" cy="849600"/>
          </a:xfrm>
          <a:prstGeom prst="roundRect">
            <a:avLst>
              <a:gd fmla="val 8421" name="adj"/>
            </a:avLst>
          </a:prstGeom>
          <a:solidFill>
            <a:srgbClr val="FFF4DA"/>
          </a:solidFill>
          <a:ln cap="flat" cmpd="sng" w="9525">
            <a:solidFill>
              <a:srgbClr val="F3D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1005758" y="3823505"/>
            <a:ext cx="71325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1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Idea clau: els registres no eviten l’incident, però permeten detectar-lo, reconstruir què ha passat i millorar la resposta.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92" name="Google Shape;92;p4"/>
          <p:cNvSpPr/>
          <p:nvPr/>
        </p:nvSpPr>
        <p:spPr>
          <a:xfrm>
            <a:off x="580293" y="377156"/>
            <a:ext cx="5545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Registre, incidència i alarma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22543" y="932700"/>
            <a:ext cx="80241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No tot el que queda registrat és greu: cal interpretar-lo.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11699" y="1446716"/>
            <a:ext cx="2503200" cy="1830900"/>
          </a:xfrm>
          <a:prstGeom prst="roundRect">
            <a:avLst>
              <a:gd fmla="val 307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83153" y="1679079"/>
            <a:ext cx="397800" cy="408300"/>
          </a:xfrm>
          <a:prstGeom prst="ellipse">
            <a:avLst/>
          </a:prstGeom>
          <a:solidFill>
            <a:srgbClr val="0E7BC7"/>
          </a:solidFill>
          <a:ln cap="flat" cmpd="sng" w="9525">
            <a:solidFill>
              <a:srgbClr val="0E7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83153" y="1728369"/>
            <a:ext cx="3978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🧾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197516" y="1657955"/>
            <a:ext cx="14403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Registre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51735" y="2291674"/>
            <a:ext cx="2023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Pista escrita d’un esdeveniment: qui, què, quan, des d’on i amb quin resultat.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289260" y="1446716"/>
            <a:ext cx="2503200" cy="1830900"/>
          </a:xfrm>
          <a:prstGeom prst="roundRect">
            <a:avLst>
              <a:gd fmla="val 3077" name="adj"/>
            </a:avLst>
          </a:prstGeom>
          <a:solidFill>
            <a:srgbClr val="FFF4DA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460714" y="1679079"/>
            <a:ext cx="397800" cy="408300"/>
          </a:xfrm>
          <a:prstGeom prst="ellipse">
            <a:avLst/>
          </a:prstGeom>
          <a:solidFill>
            <a:srgbClr val="F5A623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460714" y="1728369"/>
            <a:ext cx="3978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975077" y="1657955"/>
            <a:ext cx="14403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Incidència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529296" y="2291674"/>
            <a:ext cx="2023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Situació que cal revisar: errors repetits, bloquejos, rendiment anòmal o accés sospitós.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066821" y="1446716"/>
            <a:ext cx="2503200" cy="1830900"/>
          </a:xfrm>
          <a:prstGeom prst="roundRect">
            <a:avLst>
              <a:gd fmla="val 3077" name="adj"/>
            </a:avLst>
          </a:prstGeom>
          <a:solidFill>
            <a:srgbClr val="FDECEC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238275" y="1679079"/>
            <a:ext cx="397800" cy="408300"/>
          </a:xfrm>
          <a:prstGeom prst="ellipse">
            <a:avLst/>
          </a:prstGeom>
          <a:solidFill>
            <a:srgbClr val="C62828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238275" y="1728369"/>
            <a:ext cx="3978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🚨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752638" y="1657955"/>
            <a:ext cx="14403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Alarma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306857" y="2291674"/>
            <a:ext cx="2023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Avís automàtic quan un esdeveniment és important: notificació, correu o tiquet.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14566" y="3699938"/>
            <a:ext cx="7818300" cy="857400"/>
          </a:xfrm>
          <a:prstGeom prst="roundRect">
            <a:avLst>
              <a:gd fmla="val 9412" name="adj"/>
            </a:avLst>
          </a:prstGeom>
          <a:solidFill>
            <a:srgbClr val="EAF7E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820325" y="3890046"/>
            <a:ext cx="7406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None/>
            </a:pPr>
            <a:r>
              <a:rPr b="1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Exemple: 5 intents fallits en 2 minuts → registre + incidència. </a:t>
            </a:r>
            <a:endParaRPr b="1" i="0" sz="1088" u="none" cap="none" strike="noStrike">
              <a:solidFill>
                <a:srgbClr val="173F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None/>
            </a:pPr>
            <a:r>
              <a:rPr b="1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Si afecta un compte administrador → alarma immediata.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117" name="Google Shape;117;p5"/>
          <p:cNvSpPr/>
          <p:nvPr/>
        </p:nvSpPr>
        <p:spPr>
          <a:xfrm>
            <a:off x="548666" y="411474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Primer pas: triar bé què registrem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25222" y="946352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Més registres no sempre vol dir més seguretat.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14379" y="1378406"/>
            <a:ext cx="2537700" cy="2503200"/>
          </a:xfrm>
          <a:prstGeom prst="roundRect">
            <a:avLst>
              <a:gd fmla="val 2192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1525" lIns="1525" spcFirstLastPara="1" rIns="1525" wrap="square" tIns="15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No cal revisar-ho tot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14525" y="1652725"/>
            <a:ext cx="2537700" cy="20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25" lIns="1125" spcFirstLastPara="1" rIns="1125" wrap="square" tIns="11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Totes les aplicacions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Aplicacions crítiques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Registres útils per a seguretat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394815" y="1378406"/>
            <a:ext cx="5075100" cy="2503200"/>
          </a:xfrm>
          <a:prstGeom prst="roundRect">
            <a:avLst>
              <a:gd fmla="val 2192" name="adj"/>
            </a:avLst>
          </a:prstGeom>
          <a:solidFill>
            <a:srgbClr val="F6FAFE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566270" y="1584146"/>
            <a:ext cx="4663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La política de registres ha de dir: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566275" y="1927050"/>
            <a:ext cx="4698000" cy="17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49243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25"/>
              <a:buFont typeface="Arial"/>
              <a:buChar char="●"/>
            </a:pPr>
            <a:r>
              <a:rPr b="0" i="0" lang="ca" sz="12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 revisa els registres i amb quina freqüència.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243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25"/>
              <a:buFont typeface="Arial"/>
              <a:buChar char="●"/>
            </a:pPr>
            <a:r>
              <a:rPr b="0" i="0" lang="ca" sz="12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Quins esdeveniments generen incidència o alarma.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243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25"/>
              <a:buFont typeface="Arial"/>
              <a:buChar char="●"/>
            </a:pPr>
            <a:r>
              <a:rPr b="0" i="0" lang="ca" sz="12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Quant temps es conserven.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243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25"/>
              <a:buFont typeface="Arial"/>
              <a:buChar char="●"/>
            </a:pPr>
            <a:r>
              <a:rPr b="0" i="0" lang="ca" sz="12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 pot veure, modificar o esborrar registres.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243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25"/>
              <a:buFont typeface="Arial"/>
              <a:buChar char="●"/>
            </a:pPr>
            <a:r>
              <a:rPr b="0" i="0" lang="ca" sz="12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Què es registra en l’inventari d’usuaris i grups.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8675" y="4155900"/>
            <a:ext cx="7921200" cy="658500"/>
          </a:xfrm>
          <a:prstGeom prst="roundRect">
            <a:avLst>
              <a:gd fmla="val 14545" name="adj"/>
            </a:avLst>
          </a:prstGeom>
          <a:solidFill>
            <a:srgbClr val="FFF4DA"/>
          </a:solidFill>
          <a:ln cap="flat" cmpd="sng" w="9525">
            <a:solidFill>
              <a:srgbClr val="F3D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61900" y="4265625"/>
            <a:ext cx="7502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1" i="0" lang="ca" sz="12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Regla pràctica: si ningú ho revisa ni sap què fer amb la informació, aquell registre aporta poc valor.</a:t>
            </a:r>
            <a:endParaRPr b="0" i="0" sz="12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133" name="Google Shape;133;p6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 i inventari d’usuaris</a:t>
            </a:r>
            <a:endParaRPr b="1" i="0" sz="180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45773" y="922408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Els canvis d’usuaris i grups també han de deixar rastre.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34929" y="1320172"/>
            <a:ext cx="2400300" cy="2606100"/>
          </a:xfrm>
          <a:prstGeom prst="roundRect">
            <a:avLst>
              <a:gd fmla="val 2286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706384" y="1525913"/>
            <a:ext cx="20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Canvis que cal registrar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06375" y="1903100"/>
            <a:ext cx="2194800" cy="18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30003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Alta d’un usuari.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Baixa o bloqueig d’un compte.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Canvi de grup o rol.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Permisos especials.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Comptes administradors.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141039" y="1320172"/>
            <a:ext cx="2674500" cy="2606100"/>
          </a:xfrm>
          <a:prstGeom prst="roundRect">
            <a:avLst>
              <a:gd fmla="val 2105" name="adj"/>
            </a:avLst>
          </a:prstGeom>
          <a:solidFill>
            <a:srgbClr val="F6FAFE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3312493" y="1525913"/>
            <a:ext cx="233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Dades mínimes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312493" y="1903103"/>
            <a:ext cx="21948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30003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Usuari afectat.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 autoritza el canvi.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Data i hora.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Motiu o tiquet.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03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Sistema o recurs afectat.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055766" y="1320172"/>
            <a:ext cx="2503200" cy="2606100"/>
          </a:xfrm>
          <a:prstGeom prst="roundRect">
            <a:avLst>
              <a:gd fmla="val 2192" name="adj"/>
            </a:avLst>
          </a:prstGeom>
          <a:solidFill>
            <a:srgbClr val="EAF7E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227221" y="1525913"/>
            <a:ext cx="212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Per què és important?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227225" y="1903100"/>
            <a:ext cx="21948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50" lIns="950" spcFirstLastPara="1" rIns="950" wrap="square" tIns="95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Permet saber si un accés era legítim, detectar comptes oblidats i revisar privilegis massa amplis.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34925" y="4166250"/>
            <a:ext cx="8024100" cy="718200"/>
          </a:xfrm>
          <a:prstGeom prst="roundRect">
            <a:avLst>
              <a:gd fmla="val 15385" name="adj"/>
            </a:avLst>
          </a:prstGeom>
          <a:solidFill>
            <a:srgbClr val="FFF4DA"/>
          </a:solidFill>
          <a:ln cap="flat" cmpd="sng" w="9525">
            <a:solidFill>
              <a:srgbClr val="F3D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912125" y="4262239"/>
            <a:ext cx="7201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1" i="0" lang="ca" sz="12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Exemple: “marta” passa d’alumna a pràctiques → cal actualitzar grups, permisos i registre del canvi.</a:t>
            </a:r>
            <a:endParaRPr b="0" i="0" sz="12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152" name="Google Shape;152;p7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Registres dels sistemes operatius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11497" y="920562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Windows, Linux i altres sistemes registren activitat del sistema i dels usuaris.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80118" y="1326803"/>
            <a:ext cx="3874800" cy="2263200"/>
          </a:xfrm>
          <a:prstGeom prst="roundRect">
            <a:avLst>
              <a:gd fmla="val 2424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51572" y="1518827"/>
            <a:ext cx="397800" cy="397800"/>
          </a:xfrm>
          <a:prstGeom prst="ellipse">
            <a:avLst/>
          </a:prstGeom>
          <a:solidFill>
            <a:srgbClr val="0E7BC7"/>
          </a:solidFill>
          <a:ln cap="flat" cmpd="sng" w="9525">
            <a:solidFill>
              <a:srgbClr val="0E7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651572" y="1566833"/>
            <a:ext cx="3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165936" y="1518827"/>
            <a:ext cx="233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Esdeveniments del sistema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51575" y="2012599"/>
            <a:ext cx="3394800" cy="15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Arrencada o apagada de l’equip.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Inici o parada de serveis.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Errors del sistema.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Canvis de configuració.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Baixades de rendiment.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595027" y="1326803"/>
            <a:ext cx="3874800" cy="2263200"/>
          </a:xfrm>
          <a:prstGeom prst="roundRect">
            <a:avLst>
              <a:gd fmla="val 2424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766482" y="1518827"/>
            <a:ext cx="397800" cy="397800"/>
          </a:xfrm>
          <a:prstGeom prst="ellipse">
            <a:avLst/>
          </a:prstGeom>
          <a:solidFill>
            <a:srgbClr val="0E7BC7"/>
          </a:solidFill>
          <a:ln cap="flat" cmpd="sng" w="9525">
            <a:solidFill>
              <a:srgbClr val="0E7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766482" y="1566833"/>
            <a:ext cx="3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👤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280846" y="1518827"/>
            <a:ext cx="240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425"/>
              <a:buFont typeface="Arial"/>
              <a:buNone/>
            </a:pPr>
            <a:r>
              <a:rPr b="1" i="0" lang="ca" sz="14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Esdeveniments d’usuari</a:t>
            </a:r>
            <a:endParaRPr b="0" i="0" sz="14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766475" y="2012599"/>
            <a:ext cx="33948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Inici de sessió correcte.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Intents fallits.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Bloqueig de compte.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Ús d’eines d’administració.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Canvi de contrasenya o grup.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51572" y="4035713"/>
            <a:ext cx="7544100" cy="411600"/>
          </a:xfrm>
          <a:prstGeom prst="roundRect">
            <a:avLst>
              <a:gd fmla="val 13333" name="adj"/>
            </a:avLst>
          </a:prstGeom>
          <a:solidFill>
            <a:srgbClr val="EAF7E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823027" y="4172873"/>
            <a:ext cx="7201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1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Idea clau: els registres ajuden a reconstruir què ha passat, quan, amb quin usuari i des de quin equip.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172" name="Google Shape;172;p8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Quins esdeveniments mirem?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02815" y="1018390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Alguns registres són especialment útils per detectar problemes de seguretat.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02382" y="1474220"/>
            <a:ext cx="3634800" cy="2798700"/>
          </a:xfrm>
          <a:prstGeom prst="roundRect">
            <a:avLst>
              <a:gd fmla="val 1739" name="adj"/>
            </a:avLst>
          </a:prstGeom>
          <a:solidFill>
            <a:srgbClr val="F6FAFE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63430" y="1587601"/>
            <a:ext cx="3291900" cy="22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42893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Intents d’accés fallits i satisfactoris.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893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Identitat dels usuaris que han accedit.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893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Bloqueig d’usuaris després d’intents fallits.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893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Data i hora dels intents d’accés.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893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Ús d’eines d’administració.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893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Char char="●"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Peticions d’alteració de fitxers de configuració.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389155" y="1474220"/>
            <a:ext cx="4080600" cy="2798700"/>
          </a:xfrm>
          <a:prstGeom prst="roundRect">
            <a:avLst>
              <a:gd fmla="val 1739" name="adj"/>
            </a:avLst>
          </a:prstGeom>
          <a:solidFill>
            <a:srgbClr val="FFF4DA"/>
          </a:solidFill>
          <a:ln cap="flat" cmpd="sng" w="9525">
            <a:solidFill>
              <a:srgbClr val="F3D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4641163" y="1512913"/>
            <a:ext cx="366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Exemple d’incidència: possible força bruta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627300" y="1930762"/>
            <a:ext cx="3566400" cy="127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38"/>
              <a:buFont typeface="Consolas"/>
              <a:buNone/>
            </a:pPr>
            <a:r>
              <a:rPr b="1" i="0" lang="ca" sz="1038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10:00  login ERROR  usuari: admin</a:t>
            </a:r>
            <a:endParaRPr b="1" i="0" sz="1038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38"/>
              <a:buFont typeface="Consolas"/>
              <a:buNone/>
            </a:pPr>
            <a:r>
              <a:rPr b="1" i="0" lang="ca" sz="1038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10:01  login ERROR  usuari: admin</a:t>
            </a:r>
            <a:endParaRPr b="1" i="0" sz="1038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38"/>
              <a:buFont typeface="Consolas"/>
              <a:buNone/>
            </a:pPr>
            <a:r>
              <a:rPr b="1" i="0" lang="ca" sz="1038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10:02  login ERROR  usuari: admin</a:t>
            </a:r>
            <a:endParaRPr b="1" i="0" sz="1038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38"/>
              <a:buFont typeface="Consolas"/>
              <a:buNone/>
            </a:pPr>
            <a:r>
              <a:rPr b="1" i="0" lang="ca" sz="1038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10:03  compte bloquejat</a:t>
            </a:r>
            <a:endParaRPr b="1" i="0" sz="1038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38"/>
              <a:buFont typeface="Consolas"/>
              <a:buNone/>
            </a:pPr>
            <a:r>
              <a:rPr b="1" i="0" lang="ca" sz="1038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10:05  alarma enviada</a:t>
            </a:r>
            <a:endParaRPr b="1" i="0" sz="1038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675512" y="3378995"/>
            <a:ext cx="3566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Cal revisar origen, usuari afectat, horari i si hi ha altres intents semblants.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186" name="Google Shape;186;p9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 interpretem un registre?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45773" y="946437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La sintaxi canvia, però les preguntes són gairebé sempre les mateixes.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69220" y="1378491"/>
            <a:ext cx="3806100" cy="2297400"/>
          </a:xfrm>
          <a:prstGeom prst="roundRect">
            <a:avLst>
              <a:gd fmla="val 1493" name="adj"/>
            </a:avLst>
          </a:prstGeom>
          <a:solidFill>
            <a:srgbClr val="F3F6F9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61225" y="1447075"/>
            <a:ext cx="4096500" cy="216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Registre: Seguretat</a:t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ID de l'esdeveniment: 1102</a:t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Data: 26/10/2026</a:t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Hora: 10:20</a:t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Equip: AULA-PC04</a:t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00"/>
              <a:buFont typeface="Consolas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Usuari: Administrador</a:t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Descripció: S'ha esborrat el registre d'auditoria.</a:t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00"/>
              <a:buFont typeface="Consolas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649839" y="1378491"/>
            <a:ext cx="3943500" cy="2297400"/>
          </a:xfrm>
          <a:prstGeom prst="roundRect">
            <a:avLst>
              <a:gd fmla="val 2388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4855584" y="1584231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Preguntes per llegir un registre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855584" y="1947705"/>
            <a:ext cx="34290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Quin esdeveniment ha passat?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Quan ha passat?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Quin usuari o equip hi està relacionat?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El resultat és correcte o sospitós?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Cal obrir incidència o generar alarma?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40675" y="4053111"/>
            <a:ext cx="7544100" cy="445800"/>
          </a:xfrm>
          <a:prstGeom prst="roundRect">
            <a:avLst>
              <a:gd fmla="val 12308" name="adj"/>
            </a:avLst>
          </a:prstGeom>
          <a:solidFill>
            <a:srgbClr val="FDECEC"/>
          </a:solidFill>
          <a:ln cap="flat" cmpd="sng" w="9525">
            <a:solidFill>
              <a:srgbClr val="F2B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912129" y="4203987"/>
            <a:ext cx="7201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1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Compte: “audit log was cleared” pot ser legítim, però també pot indicar que algú intenta esborrar pistes.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792d81c27e28080c_0_0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201" name="Google Shape;201;h792d81c27e28080c_0_0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· Registres habituals a Ubuntu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h792d81c27e28080c_0_0"/>
          <p:cNvGraphicFramePr/>
          <p:nvPr/>
        </p:nvGraphicFramePr>
        <p:xfrm>
          <a:off x="445775" y="1629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{81D7E202-2C9D-4E7C-B546-BC644BB75176}</a:tableStyleId>
              </a:tblPr>
              <a:tblGrid>
                <a:gridCol w="2526200"/>
                <a:gridCol w="4712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ca"/>
                        <a:t>Registre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ca"/>
                        <a:t>Quina informació conté?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/var/log/auth.log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/>
                        <a:t>Autenticació, accessos, intents fallits, </a:t>
                      </a: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sudo</a:t>
                      </a:r>
                      <a:r>
                        <a:rPr lang="ca" sz="1200"/>
                        <a:t> i SSH.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/var/log/syslog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/>
                        <a:t>Missatges generals del sistema i dels serveis.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/var/log/kern.log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/>
                        <a:t>Missatges del nucli, maquinari i controladors.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/var/log/apt/history.log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/>
                        <a:t>Instal·lacions i actualitzacions de programes.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/var/log/apache2/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/>
                        <a:t>Accessos i errors del servidor web Apache, si està instal·lat.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3" name="Google Shape;203;h792d81c27e28080c_0_0"/>
          <p:cNvSpPr txBox="1"/>
          <p:nvPr/>
        </p:nvSpPr>
        <p:spPr>
          <a:xfrm>
            <a:off x="445775" y="950075"/>
            <a:ext cx="811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200">
                <a:solidFill>
                  <a:schemeClr val="dk1"/>
                </a:solidFill>
              </a:rPr>
              <a:t>A Ubuntu 26.04, molts registres es poden consultar a </a:t>
            </a:r>
            <a:r>
              <a:rPr lang="ca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/var/log</a:t>
            </a:r>
            <a:r>
              <a:rPr lang="ca" sz="1200">
                <a:solidFill>
                  <a:schemeClr val="dk1"/>
                </a:solidFill>
              </a:rPr>
              <a:t>. Els registres d'Apache només apareixen si tenim instal·lat aquest servidor web. També podem consultar esdeveniments del sistema amb </a:t>
            </a:r>
            <a:r>
              <a:rPr lang="ca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journalctl</a:t>
            </a:r>
            <a:r>
              <a:rPr lang="ca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4" name="Google Shape;204;h792d81c27e28080c_0_0"/>
          <p:cNvSpPr txBox="1"/>
          <p:nvPr/>
        </p:nvSpPr>
        <p:spPr>
          <a:xfrm>
            <a:off x="445775" y="4110850"/>
            <a:ext cx="7239000" cy="92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chemeClr val="dk1"/>
                </a:solidFill>
              </a:rPr>
              <a:t>Què és el kernel (nucli)?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/>
              <a:t>És la part central del sistema operatiu. Gestiona la memòria, els processos i la comunicació amb el maquinari, com els discos, el teclat i la xarxa.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/ Ubuntu: on mirar registres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graphicFrame>
        <p:nvGraphicFramePr>
          <p:cNvPr id="212" name="Google Shape;212;p10"/>
          <p:cNvGraphicFramePr/>
          <p:nvPr/>
        </p:nvGraphicFramePr>
        <p:xfrm>
          <a:off x="445775" y="13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{81D7E202-2C9D-4E7C-B546-BC644BB75176}</a:tableStyleId>
              </a:tblPr>
              <a:tblGrid>
                <a:gridCol w="2576525"/>
                <a:gridCol w="4847300"/>
              </a:tblGrid>
              <a:tr h="543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ca" sz="1500"/>
                        <a:t>Ordre</a:t>
                      </a:r>
                      <a:endParaRPr b="1"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ca" sz="1500"/>
                        <a:t>Per a què serveix?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cat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/>
                        <a:t>Llegir tot un fitxer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tail -n 20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/>
                        <a:t>Veure les últimes 20 línies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grep "text"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/>
                        <a:t>Buscar línies que contenen un text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less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200"/>
                        <a:t>Permet llegir un fitxer pantalla a pantalla. Es tanca amb q.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792d81c27e28080c_0_54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/ Ubuntu: on mirar registres</a:t>
            </a:r>
            <a:endParaRPr b="1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h792d81c27e28080c_0_54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220" name="Google Shape;220;h792d81c27e28080c_0_54"/>
          <p:cNvSpPr txBox="1"/>
          <p:nvPr/>
        </p:nvSpPr>
        <p:spPr>
          <a:xfrm>
            <a:off x="445775" y="1080450"/>
            <a:ext cx="8018700" cy="397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Veure l'historial d'instal·lacions</a:t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cat /var/log/apt/history.log</a:t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Veure els últims registres d'autenticació</a:t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sudo tail -n 20 /var/log/auth.log</a:t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Buscar quan s'ha utilitzat sudo</a:t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sudo grep "sudo" /var/log/auth.log</a:t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Veure les sessions actuals</a:t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who</a:t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Veure els últims missatges del sistema</a:t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journalctl -n 20</a:t>
            </a:r>
            <a:endParaRPr b="1" sz="1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792d81c27e28080c_0_30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/ Ubuntu: Consultar el diari del sistema</a:t>
            </a:r>
            <a:endParaRPr b="1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h792d81c27e28080c_0_30"/>
          <p:cNvSpPr/>
          <p:nvPr/>
        </p:nvSpPr>
        <p:spPr>
          <a:xfrm>
            <a:off x="445773" y="1054409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125">
                <a:solidFill>
                  <a:srgbClr val="173F66"/>
                </a:solidFill>
              </a:rPr>
              <a:t>El diari del sistema guarda missatges sobre el funcionament d'Ubuntu i dels seus serveis.</a:t>
            </a:r>
            <a:endParaRPr sz="1125">
              <a:solidFill>
                <a:srgbClr val="173F66"/>
              </a:solidFill>
            </a:endParaRPr>
          </a:p>
        </p:txBody>
      </p:sp>
      <p:sp>
        <p:nvSpPr>
          <p:cNvPr id="228" name="Google Shape;228;h792d81c27e28080c_0_30"/>
          <p:cNvSpPr/>
          <p:nvPr/>
        </p:nvSpPr>
        <p:spPr>
          <a:xfrm>
            <a:off x="534929" y="1417883"/>
            <a:ext cx="2503200" cy="3189000"/>
          </a:xfrm>
          <a:prstGeom prst="roundRect">
            <a:avLst>
              <a:gd fmla="val 2192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h792d81c27e28080c_0_30"/>
          <p:cNvSpPr/>
          <p:nvPr/>
        </p:nvSpPr>
        <p:spPr>
          <a:xfrm>
            <a:off x="706384" y="1623622"/>
            <a:ext cx="20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journalctl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h792d81c27e28080c_0_30"/>
          <p:cNvSpPr/>
          <p:nvPr/>
        </p:nvSpPr>
        <p:spPr>
          <a:xfrm>
            <a:off x="706384" y="2035103"/>
            <a:ext cx="2091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Mostra el diari del sistema. Permet filtrar per servei, prioritat, usuari o moment temporal.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h792d81c27e28080c_0_30"/>
          <p:cNvSpPr/>
          <p:nvPr/>
        </p:nvSpPr>
        <p:spPr>
          <a:xfrm>
            <a:off x="706384" y="3166673"/>
            <a:ext cx="2057400" cy="617100"/>
          </a:xfrm>
          <a:prstGeom prst="roundRect">
            <a:avLst>
              <a:gd fmla="val 5556" name="adj"/>
            </a:avLst>
          </a:prstGeom>
          <a:solidFill>
            <a:srgbClr val="F3F6F9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h792d81c27e28080c_0_30"/>
          <p:cNvSpPr/>
          <p:nvPr/>
        </p:nvSpPr>
        <p:spPr>
          <a:xfrm>
            <a:off x="788682" y="3235253"/>
            <a:ext cx="1892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Consolas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journalctl -n 50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Consolas"/>
              <a:buNone/>
            </a:pPr>
            <a:r>
              <a:t/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h792d81c27e28080c_0_30"/>
          <p:cNvSpPr/>
          <p:nvPr/>
        </p:nvSpPr>
        <p:spPr>
          <a:xfrm>
            <a:off x="3312493" y="1417883"/>
            <a:ext cx="2503200" cy="3189000"/>
          </a:xfrm>
          <a:prstGeom prst="roundRect">
            <a:avLst>
              <a:gd fmla="val 2192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h792d81c27e28080c_0_30"/>
          <p:cNvSpPr/>
          <p:nvPr/>
        </p:nvSpPr>
        <p:spPr>
          <a:xfrm>
            <a:off x="3483948" y="1623622"/>
            <a:ext cx="20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/var/log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h792d81c27e28080c_0_30"/>
          <p:cNvSpPr/>
          <p:nvPr/>
        </p:nvSpPr>
        <p:spPr>
          <a:xfrm>
            <a:off x="3483948" y="2035103"/>
            <a:ext cx="20916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Fitxers de registre. En Ubuntu/Debian sovint hi trobem auth.log, syslog o kern.log, segons configuració.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h792d81c27e28080c_0_30"/>
          <p:cNvSpPr/>
          <p:nvPr/>
        </p:nvSpPr>
        <p:spPr>
          <a:xfrm>
            <a:off x="3483948" y="3166673"/>
            <a:ext cx="2057400" cy="617100"/>
          </a:xfrm>
          <a:prstGeom prst="roundRect">
            <a:avLst>
              <a:gd fmla="val 5556" name="adj"/>
            </a:avLst>
          </a:prstGeom>
          <a:solidFill>
            <a:srgbClr val="F3F6F9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h792d81c27e28080c_0_30"/>
          <p:cNvSpPr/>
          <p:nvPr/>
        </p:nvSpPr>
        <p:spPr>
          <a:xfrm>
            <a:off x="3566246" y="3235253"/>
            <a:ext cx="1892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Consolas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tail -50 /var/log/auth.log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Consolas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cat /var/log/syslog | tail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h792d81c27e28080c_0_30"/>
          <p:cNvSpPr/>
          <p:nvPr/>
        </p:nvSpPr>
        <p:spPr>
          <a:xfrm>
            <a:off x="6090057" y="1417883"/>
            <a:ext cx="2469000" cy="3189000"/>
          </a:xfrm>
          <a:prstGeom prst="roundRect">
            <a:avLst>
              <a:gd fmla="val 2222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h792d81c27e28080c_0_30"/>
          <p:cNvSpPr/>
          <p:nvPr/>
        </p:nvSpPr>
        <p:spPr>
          <a:xfrm>
            <a:off x="6261512" y="1623622"/>
            <a:ext cx="20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Usuaris i sessions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h792d81c27e28080c_0_30"/>
          <p:cNvSpPr/>
          <p:nvPr/>
        </p:nvSpPr>
        <p:spPr>
          <a:xfrm>
            <a:off x="6261512" y="2035103"/>
            <a:ext cx="2057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0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Ordres ràpides per veure connexions i activitat recent.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h792d81c27e28080c_0_30"/>
          <p:cNvSpPr/>
          <p:nvPr/>
        </p:nvSpPr>
        <p:spPr>
          <a:xfrm>
            <a:off x="6261512" y="3029513"/>
            <a:ext cx="2023200" cy="857400"/>
          </a:xfrm>
          <a:prstGeom prst="roundRect">
            <a:avLst>
              <a:gd fmla="val 4000" name="adj"/>
            </a:avLst>
          </a:prstGeom>
          <a:solidFill>
            <a:srgbClr val="F3F6F9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792d81c27e28080c_0_30"/>
          <p:cNvSpPr/>
          <p:nvPr/>
        </p:nvSpPr>
        <p:spPr>
          <a:xfrm>
            <a:off x="6343810" y="3098093"/>
            <a:ext cx="1858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Consolas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who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Consolas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Consolas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last -n 10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Consolas"/>
              <a:buNone/>
            </a:pPr>
            <a:r>
              <a:t/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h792d81c27e28080c_0_30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244" name="Google Shape;244;h792d81c27e28080c_0_30"/>
          <p:cNvSpPr txBox="1"/>
          <p:nvPr/>
        </p:nvSpPr>
        <p:spPr>
          <a:xfrm>
            <a:off x="566250" y="3886925"/>
            <a:ext cx="2503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050">
                <a:solidFill>
                  <a:srgbClr val="173F66"/>
                </a:solidFill>
              </a:rPr>
              <a:t>Mostra els últims 50 missatges registrats.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792d81c27e28080c_0_140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/ Ubuntu: on mirar registres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h792d81c27e28080c_0_140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252" name="Google Shape;252;h792d81c27e28080c_0_140"/>
          <p:cNvSpPr txBox="1"/>
          <p:nvPr/>
        </p:nvSpPr>
        <p:spPr>
          <a:xfrm>
            <a:off x="362375" y="1148475"/>
            <a:ext cx="793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/>
              <a:t>GNOME disposa d'una aplicació gràfica anomenada Registres (Logs) per consultar esdeveniments, si està instal·lada</a:t>
            </a:r>
            <a:endParaRPr sz="1200"/>
          </a:p>
        </p:txBody>
      </p:sp>
      <p:pic>
        <p:nvPicPr>
          <p:cNvPr id="253" name="Google Shape;253;h792d81c27e28080c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47375"/>
            <a:ext cx="3947699" cy="195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h792d81c27e28080c_0_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275" y="1947375"/>
            <a:ext cx="4338399" cy="241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Windows: Visor d’esdeveniments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445773" y="96702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Eina gràfica per revisar registres del sistema, seguretat i aplicacions.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534925" y="1399075"/>
            <a:ext cx="2571900" cy="2022300"/>
          </a:xfrm>
          <a:prstGeom prst="roundRect">
            <a:avLst>
              <a:gd fmla="val 2162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706384" y="1570528"/>
            <a:ext cx="212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On anar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95075" y="1947725"/>
            <a:ext cx="25719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Cerca: “Visor d’esdeveniments”.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Registres de Windows.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Sistema, Seguretat i Aplicació.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Filtra per data, nivell o ID.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3312488" y="1399075"/>
            <a:ext cx="2571900" cy="2022300"/>
          </a:xfrm>
          <a:prstGeom prst="roundRect">
            <a:avLst>
              <a:gd fmla="val 2162" name="adj"/>
            </a:avLst>
          </a:prstGeom>
          <a:solidFill>
            <a:srgbClr val="F6FAFE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3483948" y="1570528"/>
            <a:ext cx="212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Què mirar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3483950" y="1947725"/>
            <a:ext cx="23232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Errors i advertiments.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Inici de sessió correcte/fallit.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Canvis en comptes i grups.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Esborrat del registre.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090050" y="1399075"/>
            <a:ext cx="2434500" cy="2022300"/>
          </a:xfrm>
          <a:prstGeom prst="roundRect">
            <a:avLst>
              <a:gd fmla="val 2254" name="adj"/>
            </a:avLst>
          </a:prstGeom>
          <a:solidFill>
            <a:srgbClr val="EAF7E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6261512" y="1570528"/>
            <a:ext cx="20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Nivells típics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261525" y="1997325"/>
            <a:ext cx="22083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Informació.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Advertiment.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Error.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Crític.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6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Char char="●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Auditoria correcta/fallida.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534950" y="3594213"/>
            <a:ext cx="8024100" cy="377100"/>
          </a:xfrm>
          <a:prstGeom prst="roundRect">
            <a:avLst>
              <a:gd fmla="val 14545" name="adj"/>
            </a:avLst>
          </a:prstGeom>
          <a:solidFill>
            <a:srgbClr val="FFF4DA"/>
          </a:solidFill>
          <a:ln cap="flat" cmpd="sng" w="19050">
            <a:solidFill>
              <a:srgbClr val="F3D2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717325" y="3645651"/>
            <a:ext cx="765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1" i="0" lang="ca" sz="12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El Visor d’esdeveniments és ideal per a classe perquè permet veure registres sense saber comandes.</a:t>
            </a:r>
            <a:endParaRPr b="0" i="0" sz="12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274" name="Google Shape;274;p12"/>
          <p:cNvSpPr txBox="1"/>
          <p:nvPr/>
        </p:nvSpPr>
        <p:spPr>
          <a:xfrm>
            <a:off x="559950" y="4066150"/>
            <a:ext cx="8024100" cy="94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1200"/>
              <a:t>Visor d'esdeveniments:</a:t>
            </a:r>
            <a:r>
              <a:rPr lang="ca" sz="1200"/>
              <a:t> permet consultar què ha passat. </a:t>
            </a:r>
            <a:endParaRPr sz="1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 sz="1200"/>
              <a:t>Gestor de tasques:</a:t>
            </a:r>
            <a:r>
              <a:rPr lang="ca" sz="1200"/>
              <a:t> permet veure què està passant ara, com els processos en execució i el consum de CPU i memòria.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792d81c27e28080c_0_193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Windows · Com obrir les eines de diagnosi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h792d81c27e28080c_0_193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pic>
        <p:nvPicPr>
          <p:cNvPr id="282" name="Google Shape;282;h792d81c27e28080c_0_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750" y="1276325"/>
            <a:ext cx="3118201" cy="307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h792d81c27e28080c_0_1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8625" y="1276325"/>
            <a:ext cx="3209118" cy="30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h792d81c27e28080c_0_193"/>
          <p:cNvSpPr/>
          <p:nvPr/>
        </p:nvSpPr>
        <p:spPr>
          <a:xfrm>
            <a:off x="551754" y="4490900"/>
            <a:ext cx="311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Windows: Obrir el Visor d'esdeveniments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h792d81c27e28080c_0_193"/>
          <p:cNvSpPr/>
          <p:nvPr/>
        </p:nvSpPr>
        <p:spPr>
          <a:xfrm>
            <a:off x="4811579" y="4490900"/>
            <a:ext cx="311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Windows: Obrir el Gestor de tasques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792d81c27e28080c_0_214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Windows: Visor d’esdeveniments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h792d81c27e28080c_0_214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pic>
        <p:nvPicPr>
          <p:cNvPr id="293" name="Google Shape;293;h792d81c27e28080c_0_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5329" y="1162600"/>
            <a:ext cx="4310344" cy="307298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h792d81c27e28080c_0_214"/>
          <p:cNvSpPr/>
          <p:nvPr/>
        </p:nvSpPr>
        <p:spPr>
          <a:xfrm>
            <a:off x="342130" y="1289350"/>
            <a:ext cx="360000" cy="360000"/>
          </a:xfrm>
          <a:prstGeom prst="ellipse">
            <a:avLst/>
          </a:prstGeom>
          <a:solidFill>
            <a:srgbClr val="008DD2"/>
          </a:solidFill>
          <a:ln cap="flat" cmpd="sng" w="1067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75" lIns="76775" spcFirstLastPara="1" rIns="76775" wrap="square" tIns="7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/>
          </a:p>
        </p:txBody>
      </p:sp>
      <p:sp>
        <p:nvSpPr>
          <p:cNvPr id="295" name="Google Shape;295;h792d81c27e28080c_0_214"/>
          <p:cNvSpPr/>
          <p:nvPr/>
        </p:nvSpPr>
        <p:spPr>
          <a:xfrm>
            <a:off x="378120" y="1405010"/>
            <a:ext cx="288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FFFFFF"/>
                </a:solidFill>
              </a:rPr>
              <a:t>1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h792d81c27e28080c_0_214"/>
          <p:cNvSpPr/>
          <p:nvPr/>
        </p:nvSpPr>
        <p:spPr>
          <a:xfrm>
            <a:off x="342130" y="1847003"/>
            <a:ext cx="360000" cy="360000"/>
          </a:xfrm>
          <a:prstGeom prst="ellipse">
            <a:avLst/>
          </a:prstGeom>
          <a:solidFill>
            <a:srgbClr val="008DD2"/>
          </a:solidFill>
          <a:ln cap="flat" cmpd="sng" w="1067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75" lIns="76775" spcFirstLastPara="1" rIns="76775" wrap="square" tIns="7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h792d81c27e28080c_0_214"/>
          <p:cNvSpPr/>
          <p:nvPr/>
        </p:nvSpPr>
        <p:spPr>
          <a:xfrm>
            <a:off x="378125" y="1933250"/>
            <a:ext cx="2880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ca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h792d81c27e28080c_0_214"/>
          <p:cNvSpPr/>
          <p:nvPr/>
        </p:nvSpPr>
        <p:spPr>
          <a:xfrm>
            <a:off x="342130" y="2404655"/>
            <a:ext cx="360000" cy="360000"/>
          </a:xfrm>
          <a:prstGeom prst="ellipse">
            <a:avLst/>
          </a:prstGeom>
          <a:solidFill>
            <a:srgbClr val="008DD2"/>
          </a:solidFill>
          <a:ln cap="flat" cmpd="sng" w="1067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75" lIns="76775" spcFirstLastPara="1" rIns="76775" wrap="square" tIns="7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h792d81c27e28080c_0_214"/>
          <p:cNvSpPr/>
          <p:nvPr/>
        </p:nvSpPr>
        <p:spPr>
          <a:xfrm>
            <a:off x="378120" y="2518372"/>
            <a:ext cx="288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FFFFFF"/>
                </a:solidFill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h792d81c27e28080c_0_214"/>
          <p:cNvSpPr/>
          <p:nvPr/>
        </p:nvSpPr>
        <p:spPr>
          <a:xfrm>
            <a:off x="342130" y="2962308"/>
            <a:ext cx="360000" cy="360000"/>
          </a:xfrm>
          <a:prstGeom prst="ellipse">
            <a:avLst/>
          </a:prstGeom>
          <a:solidFill>
            <a:srgbClr val="008DD2"/>
          </a:solidFill>
          <a:ln cap="flat" cmpd="sng" w="10675">
            <a:solidFill>
              <a:srgbClr val="008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75" lIns="76775" spcFirstLastPara="1" rIns="76775" wrap="square" tIns="7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792d81c27e28080c_0_214"/>
          <p:cNvSpPr/>
          <p:nvPr/>
        </p:nvSpPr>
        <p:spPr>
          <a:xfrm>
            <a:off x="378125" y="3066460"/>
            <a:ext cx="288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ca" sz="900">
                <a:solidFill>
                  <a:srgbClr val="FFFFFF"/>
                </a:solidFill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h792d81c27e28080c_0_214"/>
          <p:cNvSpPr txBox="1"/>
          <p:nvPr/>
        </p:nvSpPr>
        <p:spPr>
          <a:xfrm>
            <a:off x="733275" y="24165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100">
                <a:solidFill>
                  <a:schemeClr val="dk1"/>
                </a:solidFill>
              </a:rPr>
              <a:t>Opcions per filtrar i buscar esdeveniments.</a:t>
            </a:r>
            <a:endParaRPr sz="1100"/>
          </a:p>
        </p:txBody>
      </p:sp>
      <p:sp>
        <p:nvSpPr>
          <p:cNvPr id="303" name="Google Shape;303;h792d81c27e28080c_0_214"/>
          <p:cNvSpPr txBox="1"/>
          <p:nvPr/>
        </p:nvSpPr>
        <p:spPr>
          <a:xfrm>
            <a:off x="733275" y="2953800"/>
            <a:ext cx="343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100">
                <a:solidFill>
                  <a:schemeClr val="dk1"/>
                </a:solidFill>
              </a:rPr>
              <a:t>Descripció i detalls de l'esdeveniment  seleccionat.</a:t>
            </a:r>
            <a:endParaRPr sz="1100"/>
          </a:p>
        </p:txBody>
      </p:sp>
      <p:sp>
        <p:nvSpPr>
          <p:cNvPr id="304" name="Google Shape;304;h792d81c27e28080c_0_214"/>
          <p:cNvSpPr txBox="1"/>
          <p:nvPr/>
        </p:nvSpPr>
        <p:spPr>
          <a:xfrm>
            <a:off x="733275" y="1828500"/>
            <a:ext cx="360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1200"/>
              </a:spcAft>
              <a:buNone/>
            </a:pPr>
            <a:r>
              <a:rPr lang="ca" sz="1100">
                <a:solidFill>
                  <a:schemeClr val="dk1"/>
                </a:solidFill>
              </a:rPr>
              <a:t>Data, hora, nivell, origen</a:t>
            </a:r>
            <a:r>
              <a:rPr lang="ca" sz="1100">
                <a:solidFill>
                  <a:schemeClr val="dk1"/>
                </a:solidFill>
              </a:rPr>
              <a:t> i ID de cada  </a:t>
            </a:r>
            <a:r>
              <a:rPr lang="ca" sz="1100">
                <a:solidFill>
                  <a:schemeClr val="dk1"/>
                </a:solidFill>
              </a:rPr>
              <a:t>esdeveniment.</a:t>
            </a:r>
            <a:endParaRPr sz="1100"/>
          </a:p>
        </p:txBody>
      </p:sp>
      <p:sp>
        <p:nvSpPr>
          <p:cNvPr id="305" name="Google Shape;305;h792d81c27e28080c_0_214"/>
          <p:cNvSpPr txBox="1"/>
          <p:nvPr/>
        </p:nvSpPr>
        <p:spPr>
          <a:xfrm>
            <a:off x="733275" y="12893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100">
                <a:solidFill>
                  <a:schemeClr val="dk1"/>
                </a:solidFill>
              </a:rPr>
              <a:t>Registres d'Aplicació, Seguretat i Sistema.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792d81c27e28080c_0_226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Windows: 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Administrador de tasques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h792d81c27e28080c_0_226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pic>
        <p:nvPicPr>
          <p:cNvPr id="313" name="Google Shape;313;h792d81c27e28080c_0_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990" y="1212800"/>
            <a:ext cx="3869685" cy="27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h792d81c27e28080c_0_2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775" y="1118875"/>
            <a:ext cx="4001175" cy="285797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h792d81c27e28080c_0_226"/>
          <p:cNvSpPr txBox="1"/>
          <p:nvPr/>
        </p:nvSpPr>
        <p:spPr>
          <a:xfrm>
            <a:off x="893225" y="4201350"/>
            <a:ext cx="7782600" cy="646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/>
              <a:t>Idea Clau:</a:t>
            </a:r>
            <a:r>
              <a:rPr lang="ca" sz="1200"/>
              <a:t> el Gestor de tasques mostra què està passant ara; el Visor d'esdeveniments permet consultar registres del que ha passat. Les dues eines són complementàries, però no equivalents.</a:t>
            </a: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Windows: exemples pràctics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61148" y="1028602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Alguns identificadors d’esdeveniment són molt útils per investigar incidències.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06282" y="1542934"/>
            <a:ext cx="696900" cy="519900"/>
          </a:xfrm>
          <a:prstGeom prst="rect">
            <a:avLst/>
          </a:prstGeom>
          <a:solidFill>
            <a:srgbClr val="173F66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324" name="Google Shape;324;p13"/>
          <p:cNvSpPr/>
          <p:nvPr/>
        </p:nvSpPr>
        <p:spPr>
          <a:xfrm>
            <a:off x="461147" y="1584082"/>
            <a:ext cx="5871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3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1"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1103073" y="1542934"/>
            <a:ext cx="1045200" cy="519900"/>
          </a:xfrm>
          <a:prstGeom prst="rect">
            <a:avLst/>
          </a:prstGeom>
          <a:solidFill>
            <a:srgbClr val="173F66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326" name="Google Shape;326;p13"/>
          <p:cNvSpPr/>
          <p:nvPr/>
        </p:nvSpPr>
        <p:spPr>
          <a:xfrm>
            <a:off x="1157938" y="1584082"/>
            <a:ext cx="9354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3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Registre</a:t>
            </a:r>
            <a:endParaRPr b="1"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2148251" y="1542925"/>
            <a:ext cx="2395800" cy="519900"/>
          </a:xfrm>
          <a:prstGeom prst="rect">
            <a:avLst/>
          </a:prstGeom>
          <a:solidFill>
            <a:srgbClr val="173F66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2203125" y="1584075"/>
            <a:ext cx="23409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3"/>
              <a:buFont typeface="Arial"/>
              <a:buNone/>
            </a:pPr>
            <a:r>
              <a:rPr b="1" i="0" lang="ca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Què pot indicar</a:t>
            </a:r>
            <a:endParaRPr b="1"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06282" y="2062999"/>
            <a:ext cx="696900" cy="51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461147" y="2104147"/>
            <a:ext cx="5871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4624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1103073" y="2062999"/>
            <a:ext cx="1045200" cy="51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1157938" y="2104147"/>
            <a:ext cx="9354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2148251" y="2062991"/>
            <a:ext cx="2395800" cy="51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2203125" y="2104140"/>
            <a:ext cx="23409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Inici de sessió correcte.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06282" y="2583064"/>
            <a:ext cx="696900" cy="5199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461147" y="2624212"/>
            <a:ext cx="5871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4625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103073" y="2583064"/>
            <a:ext cx="1045200" cy="5199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1157938" y="2624212"/>
            <a:ext cx="9354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2148251" y="2583075"/>
            <a:ext cx="2395800" cy="5199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2198554" y="2624199"/>
            <a:ext cx="2146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Inici de sessió fallit.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406282" y="3103129"/>
            <a:ext cx="696900" cy="51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461147" y="3144277"/>
            <a:ext cx="5871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4740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103073" y="3103129"/>
            <a:ext cx="1045200" cy="51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1157938" y="3144277"/>
            <a:ext cx="9354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2148251" y="3103135"/>
            <a:ext cx="2395800" cy="51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2198554" y="3144266"/>
            <a:ext cx="2146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Compte bloquejat.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06282" y="3623194"/>
            <a:ext cx="696900" cy="5199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461147" y="3664342"/>
            <a:ext cx="5871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1102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103073" y="3623194"/>
            <a:ext cx="1045200" cy="5199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1157938" y="3664342"/>
            <a:ext cx="9354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2148251" y="3623195"/>
            <a:ext cx="2395800" cy="5199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2198554" y="3664332"/>
            <a:ext cx="2146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S’ha esborrat el registre d’auditoria.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406282" y="4143259"/>
            <a:ext cx="696900" cy="51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461147" y="4184407"/>
            <a:ext cx="5871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7036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103073" y="4143259"/>
            <a:ext cx="1045200" cy="51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1157938" y="4184407"/>
            <a:ext cx="9354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2148251" y="4143255"/>
            <a:ext cx="2395800" cy="51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2198554" y="4184399"/>
            <a:ext cx="2146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63"/>
              <a:buFont typeface="Arial"/>
              <a:buNone/>
            </a:pPr>
            <a:r>
              <a:rPr b="0" i="0" lang="ca" sz="8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Un servei s’ha iniciat o s’ha aturat.</a:t>
            </a:r>
            <a:endParaRPr b="0" i="0" sz="8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4728825" y="1542925"/>
            <a:ext cx="4008900" cy="3120300"/>
          </a:xfrm>
          <a:prstGeom prst="roundRect">
            <a:avLst>
              <a:gd fmla="val 1758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/>
              <a:t>Com buscar un esdeveniment a Windows 11?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ca" sz="1200"/>
              <a:t>Com hem vist diapositiva 16.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ca" sz="1200"/>
              <a:t>Obre Registres de Windows → Seguretat.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ca" sz="1200"/>
              <a:t>Al panell dret, prem Filtrar el registre actual….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ca" sz="1200"/>
              <a:t>Al camp Identificadors d'esdeveniment, introdueix 4625.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ca" sz="1200"/>
              <a:t>Prem D'acord i selecciona un resultat per consultar-ne els detalls.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200"/>
              <a:t>Exemple: l'ID 4625 indica un intent d'inici de sessió fallit.</a:t>
            </a:r>
            <a:endParaRPr sz="1200"/>
          </a:p>
        </p:txBody>
      </p:sp>
      <p:sp>
        <p:nvSpPr>
          <p:cNvPr id="360" name="Google Shape;360;p13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Registres del programari de seguretat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35488" y="932693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 més del sistema operatiu, les eines de seguretat generen registres propis.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524645" y="1399037"/>
            <a:ext cx="2537700" cy="994500"/>
          </a:xfrm>
          <a:prstGeom prst="roundRect">
            <a:avLst>
              <a:gd fmla="val 551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696099" y="1549913"/>
            <a:ext cx="212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Antivirus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696099" y="1824233"/>
            <a:ext cx="2126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malware detectat, quarantena, actualitzacions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3336500" y="1399037"/>
            <a:ext cx="2537700" cy="994500"/>
          </a:xfrm>
          <a:prstGeom prst="roundRect">
            <a:avLst>
              <a:gd fmla="val 551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3507954" y="1549913"/>
            <a:ext cx="212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Tallafocs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3507954" y="1824233"/>
            <a:ext cx="2126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tràfic permès o bloquejat segons la política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6148355" y="1399037"/>
            <a:ext cx="2537700" cy="994500"/>
          </a:xfrm>
          <a:prstGeom prst="roundRect">
            <a:avLst>
              <a:gd fmla="val 551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6319809" y="1549913"/>
            <a:ext cx="212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Router / switch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6319809" y="1824233"/>
            <a:ext cx="2126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connexions, errors, canvis de configuració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524645" y="2770637"/>
            <a:ext cx="2537700" cy="994500"/>
          </a:xfrm>
          <a:prstGeom prst="roundRect">
            <a:avLst>
              <a:gd fmla="val 551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696099" y="2921513"/>
            <a:ext cx="212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Proxy web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96099" y="3195833"/>
            <a:ext cx="2126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pàgines bloquejades i peticions web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3336500" y="2770637"/>
            <a:ext cx="2537700" cy="994500"/>
          </a:xfrm>
          <a:prstGeom prst="roundRect">
            <a:avLst>
              <a:gd fmla="val 551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3507954" y="2921513"/>
            <a:ext cx="212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Accés remot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3507954" y="3195833"/>
            <a:ext cx="2126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38"/>
              <a:buFont typeface="Arial"/>
              <a:buNone/>
            </a:pPr>
            <a:r>
              <a:rPr b="0" i="0" lang="ca" sz="93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intents d’entrada des de fora</a:t>
            </a:r>
            <a:endParaRPr b="0" i="0" sz="9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730390" y="4279397"/>
            <a:ext cx="7544100" cy="342900"/>
          </a:xfrm>
          <a:prstGeom prst="roundRect">
            <a:avLst>
              <a:gd fmla="val 16000" name="adj"/>
            </a:avLst>
          </a:prstGeom>
          <a:solidFill>
            <a:srgbClr val="EAF7E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901845" y="4375409"/>
            <a:ext cx="72012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1" i="0" lang="ca" sz="10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Exemple: si el tallafocs bloqueja tràfic perillós, ho desa com a registre i pot avisar l’administrador.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registre a incidència i alarma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96437" y="1056134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La mateixa dada pot ser normal o greu segons el context i la regla definida.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577140" y="1597950"/>
            <a:ext cx="1817400" cy="1583100"/>
          </a:xfrm>
          <a:prstGeom prst="roundRect">
            <a:avLst>
              <a:gd fmla="val 3810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748595" y="1809029"/>
            <a:ext cx="397800" cy="437100"/>
          </a:xfrm>
          <a:prstGeom prst="ellipse">
            <a:avLst/>
          </a:prstGeom>
          <a:solidFill>
            <a:srgbClr val="0E7BC7"/>
          </a:solidFill>
          <a:ln cap="flat" cmpd="sng" w="9525">
            <a:solidFill>
              <a:srgbClr val="0E7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748595" y="1861798"/>
            <a:ext cx="397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228668" y="1809029"/>
            <a:ext cx="10287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Registre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782874" y="2449800"/>
            <a:ext cx="15303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0" i="0" lang="ca" sz="10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Es guarda l’esdeveniment.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2634595" y="1597950"/>
            <a:ext cx="1817400" cy="1583100"/>
          </a:xfrm>
          <a:prstGeom prst="roundRect">
            <a:avLst>
              <a:gd fmla="val 3810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2806050" y="1809029"/>
            <a:ext cx="397800" cy="437100"/>
          </a:xfrm>
          <a:prstGeom prst="ellipse">
            <a:avLst/>
          </a:prstGeom>
          <a:solidFill>
            <a:srgbClr val="0E7BC7"/>
          </a:solidFill>
          <a:ln cap="flat" cmpd="sng" w="9525">
            <a:solidFill>
              <a:srgbClr val="0E7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2806050" y="1861798"/>
            <a:ext cx="397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3286123" y="1809029"/>
            <a:ext cx="10287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Regla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2840341" y="2449804"/>
            <a:ext cx="1405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0" i="0" lang="ca" sz="10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Es compara amb criteris.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692050" y="1597950"/>
            <a:ext cx="1817400" cy="1583100"/>
          </a:xfrm>
          <a:prstGeom prst="roundRect">
            <a:avLst>
              <a:gd fmla="val 3810" name="adj"/>
            </a:avLst>
          </a:prstGeom>
          <a:solidFill>
            <a:srgbClr val="FFF4DA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4863505" y="1809029"/>
            <a:ext cx="397800" cy="437100"/>
          </a:xfrm>
          <a:prstGeom prst="ellipse">
            <a:avLst/>
          </a:prstGeom>
          <a:solidFill>
            <a:srgbClr val="F5A623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4863505" y="1861798"/>
            <a:ext cx="397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5343577" y="1809029"/>
            <a:ext cx="10287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Incidència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4897796" y="2449804"/>
            <a:ext cx="1405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0" i="0" lang="ca" sz="10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Cal investigar.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6749505" y="1597950"/>
            <a:ext cx="1817400" cy="1583100"/>
          </a:xfrm>
          <a:prstGeom prst="roundRect">
            <a:avLst>
              <a:gd fmla="val 3810" name="adj"/>
            </a:avLst>
          </a:prstGeom>
          <a:solidFill>
            <a:srgbClr val="FDECEC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6920959" y="1809029"/>
            <a:ext cx="397800" cy="437100"/>
          </a:xfrm>
          <a:prstGeom prst="ellipse">
            <a:avLst/>
          </a:prstGeom>
          <a:solidFill>
            <a:srgbClr val="C62828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6920959" y="1861798"/>
            <a:ext cx="397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7401032" y="1809029"/>
            <a:ext cx="10287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Alarma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6955250" y="2449804"/>
            <a:ext cx="1405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0" i="0" lang="ca" sz="10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S’avisa algú.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782886" y="3897201"/>
            <a:ext cx="7475400" cy="678300"/>
          </a:xfrm>
          <a:prstGeom prst="roundRect">
            <a:avLst>
              <a:gd fmla="val 8889" name="adj"/>
            </a:avLst>
          </a:prstGeom>
          <a:solidFill>
            <a:srgbClr val="EAF7E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988631" y="4047972"/>
            <a:ext cx="70638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1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Exemple: “5 intents fallits en 2 minuts” → bloqueig de l’usuari + correu a administració.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1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Si passa amb un compte administrador, pot tenir prioritat alta.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5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h792d81c27e28080c_0_66"/>
          <p:cNvSpPr/>
          <p:nvPr/>
        </p:nvSpPr>
        <p:spPr>
          <a:xfrm>
            <a:off x="457057" y="39184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Exemple - Fitxa de registre d'una incidència</a:t>
            </a:r>
            <a:endParaRPr b="1"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h792d81c27e28080c_0_66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graphicFrame>
        <p:nvGraphicFramePr>
          <p:cNvPr id="423" name="Google Shape;423;h792d81c27e28080c_0_66"/>
          <p:cNvGraphicFramePr/>
          <p:nvPr/>
        </p:nvGraphicFramePr>
        <p:xfrm>
          <a:off x="1133125" y="988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{81D7E202-2C9D-4E7C-B546-BC644BB75176}</a:tableStyleId>
              </a:tblPr>
              <a:tblGrid>
                <a:gridCol w="3257000"/>
                <a:gridCol w="3257000"/>
              </a:tblGrid>
              <a:tr h="371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300">
                          <a:solidFill>
                            <a:schemeClr val="lt1"/>
                          </a:solidFill>
                        </a:rPr>
                        <a:t>Camp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300">
                          <a:solidFill>
                            <a:schemeClr val="lt1"/>
                          </a:solidFill>
                        </a:rPr>
                        <a:t>Exemple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37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Núm. incidència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INC-001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Data i hora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26/10/2026 · 10:30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Equip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AULA-PC04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Problema detectat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Diversos intents d'accés fallits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Prioritat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Mitjana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Responsable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Tècnic informàtic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Acció realitzada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Revisar el Visor d'esdeveniments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Estat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Pendent de resolució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4" name="Google Shape;424;h792d81c27e28080c_0_66"/>
          <p:cNvSpPr txBox="1"/>
          <p:nvPr/>
        </p:nvSpPr>
        <p:spPr>
          <a:xfrm>
            <a:off x="457050" y="4561800"/>
            <a:ext cx="8106900" cy="5817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 sz="1200">
                <a:solidFill>
                  <a:schemeClr val="dk1"/>
                </a:solidFill>
              </a:rPr>
              <a:t>Idea clau</a:t>
            </a:r>
            <a:r>
              <a:rPr lang="ca" sz="1200">
                <a:solidFill>
                  <a:schemeClr val="dk1"/>
                </a:solidFill>
              </a:rPr>
              <a:t>: un tiquet conserva el responsable, l'estat i l'historial de les actuacions, perquè cap incidència quedi sense seguiment.</a:t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792d81c27e28080c_0_169"/>
          <p:cNvSpPr/>
          <p:nvPr/>
        </p:nvSpPr>
        <p:spPr>
          <a:xfrm>
            <a:off x="457050" y="594425"/>
            <a:ext cx="822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 d'incidències amb sistemes de tiquets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t/>
            </a:r>
            <a:endParaRPr b="1"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h792d81c27e28080c_0_169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432" name="Google Shape;432;h792d81c27e28080c_0_169"/>
          <p:cNvSpPr txBox="1"/>
          <p:nvPr/>
        </p:nvSpPr>
        <p:spPr>
          <a:xfrm>
            <a:off x="375300" y="979550"/>
            <a:ext cx="839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200"/>
              <a:t>Actualment, moltes organitzacions utilitzen programes que permeten centralitzar les incidències, assignar responsables i seguir-ne la resolució.</a:t>
            </a:r>
            <a:endParaRPr sz="1200"/>
          </a:p>
        </p:txBody>
      </p:sp>
      <p:pic>
        <p:nvPicPr>
          <p:cNvPr id="433" name="Google Shape;433;h792d81c27e28080c_0_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900" y="1685650"/>
            <a:ext cx="4845476" cy="2443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h792d81c27e28080c_0_169"/>
          <p:cNvSpPr txBox="1"/>
          <p:nvPr/>
        </p:nvSpPr>
        <p:spPr>
          <a:xfrm>
            <a:off x="6927000" y="1626049"/>
            <a:ext cx="1841700" cy="2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accent5"/>
                </a:solidFill>
              </a:rPr>
              <a:t>Registrar 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accent5"/>
                </a:solidFill>
              </a:rPr>
              <a:t>↓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accent5"/>
                </a:solidFill>
              </a:rPr>
              <a:t>Assignar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accent5"/>
                </a:solidFill>
              </a:rPr>
              <a:t>↓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accent5"/>
                </a:solidFill>
              </a:rPr>
              <a:t>Fer seguiment  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accent5"/>
                </a:solidFill>
              </a:rPr>
              <a:t>↓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accent5"/>
                </a:solidFill>
              </a:rPr>
              <a:t>Resoldre 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accent5"/>
                </a:solidFill>
              </a:rPr>
              <a:t>↓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accent5"/>
                </a:solidFill>
              </a:rPr>
              <a:t>Tancar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435" name="Google Shape;435;h792d81c27e28080c_0_169"/>
          <p:cNvSpPr txBox="1"/>
          <p:nvPr/>
        </p:nvSpPr>
        <p:spPr>
          <a:xfrm>
            <a:off x="375300" y="4317850"/>
            <a:ext cx="822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/>
              <a:t>Exemples de programari de gestió de tiquets:</a:t>
            </a:r>
            <a:r>
              <a:rPr lang="ca" sz="1200"/>
              <a:t> GLPI (codi obert), Jira Service Management i ServiceNow. Aquestes eines poden seguir bones pràctiques com ITIL</a:t>
            </a:r>
            <a:r>
              <a:rPr lang="ca"/>
              <a:t>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6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 de registres: dificultats habituals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418342" y="971306"/>
            <a:ext cx="80241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Gestionar logs és més difícil quan hi ha molts equips, fonts i formats.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438917" y="1352198"/>
            <a:ext cx="2571900" cy="1113600"/>
          </a:xfrm>
          <a:prstGeom prst="roundRect">
            <a:avLst>
              <a:gd fmla="val 5161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576081" y="1495930"/>
            <a:ext cx="22290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Massa fonts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576081" y="1797769"/>
            <a:ext cx="22290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15"/>
              <a:buFont typeface="Arial"/>
              <a:buNone/>
            </a:pPr>
            <a:r>
              <a:rPr b="0" i="0" lang="ca" sz="91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Registres repartits per servidors, aplicacions i dispositius.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3285062" y="1352198"/>
            <a:ext cx="2571900" cy="1113600"/>
          </a:xfrm>
          <a:prstGeom prst="roundRect">
            <a:avLst>
              <a:gd fmla="val 5161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3422226" y="1495930"/>
            <a:ext cx="22290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Dades inconsistents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3422226" y="1797769"/>
            <a:ext cx="22290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15"/>
              <a:buFont typeface="Arial"/>
              <a:buNone/>
            </a:pPr>
            <a:r>
              <a:rPr b="0" i="0" lang="ca" sz="91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Un registre guarda IP; un altre, usuari o equip.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6131208" y="1352198"/>
            <a:ext cx="2571900" cy="1113600"/>
          </a:xfrm>
          <a:prstGeom prst="roundRect">
            <a:avLst>
              <a:gd fmla="val 5161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6"/>
          <p:cNvSpPr/>
          <p:nvPr/>
        </p:nvSpPr>
        <p:spPr>
          <a:xfrm>
            <a:off x="6268371" y="1495930"/>
            <a:ext cx="22290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Temps no sincronitzat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6268371" y="1797769"/>
            <a:ext cx="22290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15"/>
              <a:buFont typeface="Arial"/>
              <a:buNone/>
            </a:pPr>
            <a:r>
              <a:rPr b="0" i="0" lang="ca" sz="91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Si cada servidor té una hora diferent, l’ordre dels fets es confon.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438917" y="2861391"/>
            <a:ext cx="2571900" cy="1113600"/>
          </a:xfrm>
          <a:prstGeom prst="roundRect">
            <a:avLst>
              <a:gd fmla="val 5161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576081" y="3005124"/>
            <a:ext cx="22290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Formats diferents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576081" y="3306962"/>
            <a:ext cx="22290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15"/>
              <a:buFont typeface="Arial"/>
              <a:buNone/>
            </a:pPr>
            <a:r>
              <a:rPr b="0" i="0" lang="ca" sz="91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Text pla, CSV, XML, bases de dades o eines pròpies.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3285062" y="2861391"/>
            <a:ext cx="2571900" cy="1113600"/>
          </a:xfrm>
          <a:prstGeom prst="roundRect">
            <a:avLst>
              <a:gd fmla="val 5161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3422226" y="3005124"/>
            <a:ext cx="22290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Informació sensible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3422226" y="3306962"/>
            <a:ext cx="22290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15"/>
              <a:buFont typeface="Arial"/>
              <a:buNone/>
            </a:pPr>
            <a:r>
              <a:rPr b="0" i="0" lang="ca" sz="91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Els registres poden contenir dades personals o activitat privilegiada.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6131208" y="2861391"/>
            <a:ext cx="2571900" cy="1113600"/>
          </a:xfrm>
          <a:prstGeom prst="roundRect">
            <a:avLst>
              <a:gd fmla="val 5161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6268371" y="3005124"/>
            <a:ext cx="22290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00"/>
              <a:buFont typeface="Arial"/>
              <a:buNone/>
            </a:pPr>
            <a:r>
              <a:rPr b="1" i="0" lang="ca" sz="120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Eines de gestió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6268371" y="3306962"/>
            <a:ext cx="22290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15"/>
              <a:buFont typeface="Arial"/>
              <a:buNone/>
            </a:pPr>
            <a:r>
              <a:rPr b="0" i="0" lang="ca" sz="91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Manualment és lent; pot caldre una eina centralitzada.</a:t>
            </a:r>
            <a:endParaRPr b="0" i="0" sz="9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6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7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Protecció dels registres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445773" y="949840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Un atacant pot intentar esborrar les pistes. Els registres també s’han de protegir.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569220" y="1484764"/>
            <a:ext cx="2503200" cy="2400300"/>
          </a:xfrm>
          <a:prstGeom prst="roundRect">
            <a:avLst>
              <a:gd fmla="val 2286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740675" y="1656214"/>
            <a:ext cx="397800" cy="397800"/>
          </a:xfrm>
          <a:prstGeom prst="ellipse">
            <a:avLst/>
          </a:prstGeom>
          <a:solidFill>
            <a:srgbClr val="0E7BC7"/>
          </a:solidFill>
          <a:ln cap="flat" cmpd="sng" w="9525">
            <a:solidFill>
              <a:srgbClr val="0E7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740675" y="1704220"/>
            <a:ext cx="3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1255038" y="1676788"/>
            <a:ext cx="15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Accés restringit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809257" y="2273434"/>
            <a:ext cx="20232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0" i="0" lang="ca" sz="10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Només administradors o personal autoritzat han de poder veure, modificar o esborrar registres.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3346784" y="1484764"/>
            <a:ext cx="2503200" cy="2400300"/>
          </a:xfrm>
          <a:prstGeom prst="roundRect">
            <a:avLst>
              <a:gd fmla="val 2286" name="adj"/>
            </a:avLst>
          </a:prstGeom>
          <a:solidFill>
            <a:srgbClr val="EAF7E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"/>
          <p:cNvSpPr/>
          <p:nvPr/>
        </p:nvSpPr>
        <p:spPr>
          <a:xfrm>
            <a:off x="3518239" y="1656214"/>
            <a:ext cx="397800" cy="397800"/>
          </a:xfrm>
          <a:prstGeom prst="ellipse">
            <a:avLst/>
          </a:prstGeom>
          <a:solidFill>
            <a:srgbClr val="2E7D32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7"/>
          <p:cNvSpPr/>
          <p:nvPr/>
        </p:nvSpPr>
        <p:spPr>
          <a:xfrm>
            <a:off x="3518239" y="1704220"/>
            <a:ext cx="3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4032602" y="1676788"/>
            <a:ext cx="15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Integritat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3586821" y="2273434"/>
            <a:ext cx="20232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0" i="0" lang="ca" sz="10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Cal poder detectar si algú altera un registre. Es poden utilitzar mètodes criptogràfics.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6124348" y="1484764"/>
            <a:ext cx="2503200" cy="2400300"/>
          </a:xfrm>
          <a:prstGeom prst="roundRect">
            <a:avLst>
              <a:gd fmla="val 2286" name="adj"/>
            </a:avLst>
          </a:prstGeom>
          <a:solidFill>
            <a:srgbClr val="FFF4DA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6295803" y="1656214"/>
            <a:ext cx="397800" cy="397800"/>
          </a:xfrm>
          <a:prstGeom prst="ellipse">
            <a:avLst/>
          </a:prstGeom>
          <a:solidFill>
            <a:srgbClr val="F5A623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7"/>
          <p:cNvSpPr/>
          <p:nvPr/>
        </p:nvSpPr>
        <p:spPr>
          <a:xfrm>
            <a:off x="6295803" y="1704220"/>
            <a:ext cx="3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ca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6810167" y="1676788"/>
            <a:ext cx="15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Confidencialitat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6364385" y="2273434"/>
            <a:ext cx="20232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0" i="0" lang="ca" sz="10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Si contenen dades sensibles, pot convenir xifrar-los o guardar-los en suports protegits.</a:t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740675" y="4193674"/>
            <a:ext cx="7544100" cy="411600"/>
          </a:xfrm>
          <a:prstGeom prst="roundRect">
            <a:avLst>
              <a:gd fmla="val 13333" name="adj"/>
            </a:avLst>
          </a:prstGeom>
          <a:solidFill>
            <a:srgbClr val="FDECEC"/>
          </a:solidFill>
          <a:ln cap="flat" cmpd="sng" w="9525">
            <a:solidFill>
              <a:srgbClr val="F2B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912129" y="4330834"/>
            <a:ext cx="7201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1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Sense registres fiables, és molt més difícil saber si hi ha hagut un atac i què ha passat.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p17"/>
          <p:cNvCxnSpPr/>
          <p:nvPr/>
        </p:nvCxnSpPr>
        <p:spPr>
          <a:xfrm>
            <a:off x="514364" y="4690872"/>
            <a:ext cx="7132500" cy="0"/>
          </a:xfrm>
          <a:prstGeom prst="straightConnector1">
            <a:avLst/>
          </a:prstGeom>
          <a:noFill/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17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8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494" name="Google Shape;494;p18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1 · Ubuntu/Linux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469774" y="989777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Objectiu: identificar incidències i alarmes a partir de registres d’autenticació.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524639" y="1353251"/>
            <a:ext cx="4114800" cy="2983200"/>
          </a:xfrm>
          <a:prstGeom prst="roundRect">
            <a:avLst>
              <a:gd fmla="val 1839" name="adj"/>
            </a:avLst>
          </a:prstGeom>
          <a:solidFill>
            <a:srgbClr val="F6FAFE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8"/>
          <p:cNvSpPr/>
          <p:nvPr/>
        </p:nvSpPr>
        <p:spPr>
          <a:xfrm>
            <a:off x="696094" y="1524701"/>
            <a:ext cx="3771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Situació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696094" y="1833311"/>
            <a:ext cx="3771900" cy="1268700"/>
          </a:xfrm>
          <a:prstGeom prst="roundRect">
            <a:avLst>
              <a:gd fmla="val 2703" name="adj"/>
            </a:avLst>
          </a:prstGeom>
          <a:solidFill>
            <a:srgbClr val="F3F6F9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778392" y="1901891"/>
            <a:ext cx="36072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09:12 sshd: Accepted password for pau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10:01 sshd: Failed password for admin from 185.x.x.x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10:02 sshd: Failed password for admin from 185.x.x.x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10:03 sshd: Failed password for admin from 185.x.x.x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10:04 sshd: Failed password for admin from 185.x.x.x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10:06 sudo: anna : COMMAND=/usr/sbin/useradd test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4845294" y="1353251"/>
            <a:ext cx="3806100" cy="2983200"/>
          </a:xfrm>
          <a:prstGeom prst="roundRect">
            <a:avLst>
              <a:gd fmla="val 1839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5016749" y="1524701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Tasques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5016752" y="1901888"/>
            <a:ext cx="3477300" cy="19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40511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AutoNum type="arabicPeriod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Classifica cada línia: normal, incidència o alarma.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511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AutoNum type="arabicPeriod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Indica quines ordres podries utilitzar per trobar aquests registres.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511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AutoNum type="arabicPeriod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Quina informació falta per investigar millor?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511" lvl="0" marL="3429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88"/>
              <a:buFont typeface="Arial"/>
              <a:buAutoNum type="arabicPeriod"/>
            </a:pPr>
            <a:r>
              <a:rPr b="0" i="0" lang="ca" sz="10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Quina resposta proposaries?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509" name="Google Shape;509;p19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Solució proposada · Pràctica 1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394847" y="971290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Una resposta correcta pot variar segons la política definida al centre o empresa.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415421" y="1266184"/>
            <a:ext cx="3943500" cy="3120300"/>
          </a:xfrm>
          <a:prstGeom prst="roundRect">
            <a:avLst>
              <a:gd fmla="val 1758" name="adj"/>
            </a:avLst>
          </a:prstGeom>
          <a:solidFill>
            <a:srgbClr val="EAF7E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9"/>
          <p:cNvSpPr/>
          <p:nvPr/>
        </p:nvSpPr>
        <p:spPr>
          <a:xfrm>
            <a:off x="586876" y="1437634"/>
            <a:ext cx="356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Classificació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9"/>
          <p:cNvSpPr/>
          <p:nvPr/>
        </p:nvSpPr>
        <p:spPr>
          <a:xfrm>
            <a:off x="586875" y="1814825"/>
            <a:ext cx="3771900" cy="13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962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65"/>
              <a:buFont typeface="Arial"/>
              <a:buChar char="●"/>
            </a:pPr>
            <a:r>
              <a:rPr b="0" i="0" lang="ca" sz="106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Accepted password for pau → registre normal.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2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65"/>
              <a:buFont typeface="Arial"/>
              <a:buChar char="●"/>
            </a:pPr>
            <a:r>
              <a:rPr b="0" i="0" lang="ca" sz="106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4 intents fallits sobre admin des de la mateixa IP → incidència; pot generar alarma.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2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65"/>
              <a:buFont typeface="Arial"/>
              <a:buChar char="●"/>
            </a:pPr>
            <a:r>
              <a:rPr b="0" i="0" lang="ca" sz="106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sudo useradd test → registre important: cal comprovar si estava autoritzat.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586875" y="3323565"/>
            <a:ext cx="34632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0" i="0" lang="ca" sz="11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Resposta: revisar IP origen, hora, usuari afectat i altres intents semblants. Si hi ha política, bloquejar temporalment i avisar administració.</a:t>
            </a:r>
            <a:endParaRPr b="0" i="0" sz="11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4633204" y="1266184"/>
            <a:ext cx="3943500" cy="3120300"/>
          </a:xfrm>
          <a:prstGeom prst="roundRect">
            <a:avLst>
              <a:gd fmla="val 1758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9"/>
          <p:cNvSpPr/>
          <p:nvPr/>
        </p:nvSpPr>
        <p:spPr>
          <a:xfrm>
            <a:off x="4804658" y="1437634"/>
            <a:ext cx="356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Ordres possibles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9"/>
          <p:cNvSpPr/>
          <p:nvPr/>
        </p:nvSpPr>
        <p:spPr>
          <a:xfrm>
            <a:off x="4779250" y="1883400"/>
            <a:ext cx="3674100" cy="12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48"/>
              <a:buFont typeface="Consolas"/>
              <a:buNone/>
            </a:pPr>
            <a:r>
              <a:rPr b="1" lang="ca" sz="1148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$ sudo </a:t>
            </a:r>
            <a:r>
              <a:rPr b="1" i="0" lang="ca" sz="1148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tail -50 /var/log/auth.log</a:t>
            </a:r>
            <a:endParaRPr b="1" i="0" sz="1148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48"/>
              <a:buFont typeface="Consolas"/>
              <a:buNone/>
            </a:pPr>
            <a:r>
              <a:rPr b="1" lang="ca" sz="1148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$ sudo </a:t>
            </a:r>
            <a:r>
              <a:rPr b="1" i="0" lang="ca" sz="1148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grep "Failed password" /var/log/auth.log</a:t>
            </a:r>
            <a:endParaRPr b="1" i="0" sz="1148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48"/>
              <a:buFont typeface="Consolas"/>
              <a:buNone/>
            </a:pPr>
            <a:r>
              <a:rPr b="1" lang="ca" sz="1148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$ sudo </a:t>
            </a:r>
            <a:r>
              <a:rPr b="1" i="0" lang="ca" sz="1148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grep "sudo" /var/log/auth.log</a:t>
            </a:r>
            <a:endParaRPr b="1" i="0" sz="1148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848"/>
              <a:buFont typeface="Consolas"/>
              <a:buNone/>
            </a:pPr>
            <a:r>
              <a:t/>
            </a:r>
            <a:endParaRPr b="0" i="0" sz="104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4804650" y="3549950"/>
            <a:ext cx="36741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0" i="0" lang="ca" sz="12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Informació que falta: equip, IP completa, geolocalització aproximada, propietari del compte, i si l’acció sudo tenia tiquet.</a:t>
            </a:r>
            <a:endParaRPr b="0" i="0" sz="12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0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525" name="Google Shape;525;p20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2 · Windows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385603" y="1104143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2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Objectiu: usar el Visor d’esdeveniments per detectar una incidència.</a:t>
            </a:r>
            <a:endParaRPr b="0" i="0" sz="12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440468" y="1467617"/>
            <a:ext cx="4114800" cy="2983200"/>
          </a:xfrm>
          <a:prstGeom prst="roundRect">
            <a:avLst>
              <a:gd fmla="val 1839" name="adj"/>
            </a:avLst>
          </a:prstGeom>
          <a:solidFill>
            <a:srgbClr val="F6FAFE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0"/>
          <p:cNvSpPr/>
          <p:nvPr/>
        </p:nvSpPr>
        <p:spPr>
          <a:xfrm>
            <a:off x="611923" y="1639067"/>
            <a:ext cx="3771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Situació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611923" y="1947677"/>
            <a:ext cx="3771900" cy="1268700"/>
          </a:xfrm>
          <a:prstGeom prst="roundRect">
            <a:avLst>
              <a:gd fmla="val 2703" name="adj"/>
            </a:avLst>
          </a:prstGeom>
          <a:solidFill>
            <a:srgbClr val="F3F6F9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694221" y="2016257"/>
            <a:ext cx="36072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09:45  ID 4624  Logon correcte  usuari: carla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10:12  ID 4625  Logon fallit     usuari: admin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10:13  ID 4625  Logon fallit     usuari: admin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10:14  ID 4625  Logon fallit     usuari: admin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10:15  ID 4740  Compte bloquejat usuari: admin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788"/>
              <a:buFont typeface="Consolas"/>
              <a:buNone/>
            </a:pPr>
            <a:r>
              <a:rPr b="0" i="0" lang="ca" sz="788" u="none" cap="none" strike="noStrike">
                <a:solidFill>
                  <a:srgbClr val="173F66"/>
                </a:solidFill>
                <a:latin typeface="Consolas"/>
                <a:ea typeface="Consolas"/>
                <a:cs typeface="Consolas"/>
                <a:sym typeface="Consolas"/>
              </a:rPr>
              <a:t>10:20  ID 1102  Audit log cleared</a:t>
            </a:r>
            <a:endParaRPr b="0" i="0" sz="7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4761123" y="1467617"/>
            <a:ext cx="3806100" cy="2983200"/>
          </a:xfrm>
          <a:prstGeom prst="roundRect">
            <a:avLst>
              <a:gd fmla="val 1839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0"/>
          <p:cNvSpPr/>
          <p:nvPr/>
        </p:nvSpPr>
        <p:spPr>
          <a:xfrm>
            <a:off x="4932578" y="1639067"/>
            <a:ext cx="3429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75"/>
              <a:buFont typeface="Arial"/>
              <a:buNone/>
            </a:pPr>
            <a:r>
              <a:rPr b="1" i="0" lang="ca" sz="127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Tasques</a:t>
            </a:r>
            <a:endParaRPr b="0" i="0" sz="12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4932575" y="2016250"/>
            <a:ext cx="3607200" cy="19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3103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88"/>
              <a:buFont typeface="Arial"/>
              <a:buAutoNum type="arabicPeriod"/>
            </a:pPr>
            <a:r>
              <a:rPr b="0" i="0" lang="ca" sz="12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Quins esdeveniments són normals?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3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88"/>
              <a:buFont typeface="Arial"/>
              <a:buAutoNum type="arabicPeriod"/>
            </a:pPr>
            <a:r>
              <a:rPr b="0" i="0" lang="ca" sz="12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Quins obriries com a incidència?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3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88"/>
              <a:buFont typeface="Arial"/>
              <a:buAutoNum type="arabicPeriod"/>
            </a:pPr>
            <a:r>
              <a:rPr b="0" i="0" lang="ca" sz="12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Quin podria ser alarma crítica?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358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288"/>
              <a:buFont typeface="Arial"/>
              <a:buAutoNum type="arabicPeriod"/>
            </a:pPr>
            <a:r>
              <a:rPr b="0" i="0" lang="ca" sz="1288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On ho buscaries al Visor d’esdeveniments?</a:t>
            </a:r>
            <a:endParaRPr b="0" i="0" sz="12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1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  <p:sp>
        <p:nvSpPr>
          <p:cNvPr id="540" name="Google Shape;540;p21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Solució proposada · Pràctica 2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404091" y="980515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La clau és relacionar IDs, usuari afectat i ordre temporal dels fets.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1"/>
          <p:cNvSpPr/>
          <p:nvPr/>
        </p:nvSpPr>
        <p:spPr>
          <a:xfrm>
            <a:off x="424675" y="1275399"/>
            <a:ext cx="3943500" cy="3387900"/>
          </a:xfrm>
          <a:prstGeom prst="roundRect">
            <a:avLst>
              <a:gd fmla="val 1758" name="adj"/>
            </a:avLst>
          </a:prstGeom>
          <a:solidFill>
            <a:srgbClr val="EAF7E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1"/>
          <p:cNvSpPr/>
          <p:nvPr/>
        </p:nvSpPr>
        <p:spPr>
          <a:xfrm>
            <a:off x="596120" y="1446859"/>
            <a:ext cx="356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Interpretació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596125" y="1824051"/>
            <a:ext cx="3497700" cy="19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962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65"/>
              <a:buFont typeface="Arial"/>
              <a:buChar char="●"/>
            </a:pPr>
            <a:r>
              <a:rPr b="0" i="0" lang="ca" sz="106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4624 de carla → registre normal.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2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65"/>
              <a:buFont typeface="Arial"/>
              <a:buChar char="●"/>
            </a:pPr>
            <a:r>
              <a:rPr b="0" i="0" lang="ca" sz="106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Tres 4625 sobre admin → incidència: intents fallits repetits.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2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65"/>
              <a:buFont typeface="Arial"/>
              <a:buChar char="●"/>
            </a:pPr>
            <a:r>
              <a:rPr b="0" i="0" lang="ca" sz="106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4740 → compte bloquejat: confirma l’impacte.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2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65"/>
              <a:buFont typeface="Arial"/>
              <a:buChar char="●"/>
            </a:pPr>
            <a:r>
              <a:rPr b="0" i="0" lang="ca" sz="106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1102 → molt sospitós: algú ha esborrat el registre d’auditoria.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613370" y="3935749"/>
            <a:ext cx="346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13"/>
              <a:buFont typeface="Arial"/>
              <a:buNone/>
            </a:pPr>
            <a:r>
              <a:rPr b="1" i="0" lang="ca" sz="131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El 1102 podria ser alarma crítica, sobretot si no estava previst per manteniment.</a:t>
            </a:r>
            <a:endParaRPr b="0" i="0" sz="13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4642454" y="1275399"/>
            <a:ext cx="3943500" cy="3387900"/>
          </a:xfrm>
          <a:prstGeom prst="roundRect">
            <a:avLst>
              <a:gd fmla="val 1758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1"/>
          <p:cNvSpPr/>
          <p:nvPr/>
        </p:nvSpPr>
        <p:spPr>
          <a:xfrm>
            <a:off x="4813902" y="1446859"/>
            <a:ext cx="356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350"/>
              <a:buFont typeface="Arial"/>
              <a:buNone/>
            </a:pPr>
            <a:r>
              <a:rPr b="1" i="0" lang="ca" sz="13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On mirar-ho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4813900" y="1824051"/>
            <a:ext cx="3497700" cy="14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5" lIns="1525" spcFirstLastPara="1" rIns="1525" wrap="square" tIns="1525">
            <a:normAutofit/>
          </a:bodyPr>
          <a:lstStyle/>
          <a:p>
            <a:pPr indent="-2962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65"/>
              <a:buFont typeface="Arial"/>
              <a:buChar char="●"/>
            </a:pPr>
            <a:r>
              <a:rPr b="0" i="0" lang="ca" sz="106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Visor d’esdeveniments → Registres de Windows → Seguretat.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2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65"/>
              <a:buFont typeface="Arial"/>
              <a:buChar char="●"/>
            </a:pPr>
            <a:r>
              <a:rPr b="0" i="0" lang="ca" sz="106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Filtrar per IDs: 4624, 4625, 4740 i 1102.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229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65"/>
              <a:buFont typeface="Arial"/>
              <a:buChar char="●"/>
            </a:pPr>
            <a:r>
              <a:rPr b="0" i="0" lang="ca" sz="106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Comprovar equip, usuari, hora i origen.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2"/>
          <p:cNvSpPr/>
          <p:nvPr/>
        </p:nvSpPr>
        <p:spPr>
          <a:xfrm>
            <a:off x="445782" y="377190"/>
            <a:ext cx="8229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225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Idees essencials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404072" y="962046"/>
            <a:ext cx="802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25"/>
              <a:buFont typeface="Arial"/>
              <a:buNone/>
            </a:pPr>
            <a:r>
              <a:rPr b="0" i="0" lang="ca" sz="1125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Què hauria de quedar clar?</a:t>
            </a:r>
            <a:endParaRPr b="0" i="0" sz="11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596101" y="1256940"/>
            <a:ext cx="3600600" cy="788700"/>
          </a:xfrm>
          <a:prstGeom prst="roundRect">
            <a:avLst>
              <a:gd fmla="val 695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2"/>
          <p:cNvSpPr/>
          <p:nvPr/>
        </p:nvSpPr>
        <p:spPr>
          <a:xfrm>
            <a:off x="767555" y="1366668"/>
            <a:ext cx="3189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63"/>
              <a:buFont typeface="Arial"/>
              <a:buNone/>
            </a:pPr>
            <a:r>
              <a:rPr b="1" i="0" lang="ca" sz="11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Registres</a:t>
            </a:r>
            <a:endParaRPr b="0" i="0" sz="11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767555" y="1613556"/>
            <a:ext cx="3189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60"/>
              <a:buFont typeface="Arial"/>
              <a:buNone/>
            </a:pPr>
            <a:r>
              <a:rPr b="0" i="0" lang="ca" sz="96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Són proves del que passa en un sistema.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4642429" y="1256940"/>
            <a:ext cx="3600600" cy="788700"/>
          </a:xfrm>
          <a:prstGeom prst="roundRect">
            <a:avLst>
              <a:gd fmla="val 695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2"/>
          <p:cNvSpPr/>
          <p:nvPr/>
        </p:nvSpPr>
        <p:spPr>
          <a:xfrm>
            <a:off x="4813883" y="1366668"/>
            <a:ext cx="3189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63"/>
              <a:buFont typeface="Arial"/>
              <a:buNone/>
            </a:pPr>
            <a:r>
              <a:rPr b="1" i="0" lang="ca" sz="11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Incidències</a:t>
            </a:r>
            <a:endParaRPr b="0" i="0" sz="11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4813883" y="1613556"/>
            <a:ext cx="3189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60"/>
              <a:buFont typeface="Arial"/>
              <a:buNone/>
            </a:pPr>
            <a:r>
              <a:rPr b="0" i="0" lang="ca" sz="96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Són situacions que cal revisar.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596101" y="2319930"/>
            <a:ext cx="3600600" cy="788700"/>
          </a:xfrm>
          <a:prstGeom prst="roundRect">
            <a:avLst>
              <a:gd fmla="val 695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2"/>
          <p:cNvSpPr/>
          <p:nvPr/>
        </p:nvSpPr>
        <p:spPr>
          <a:xfrm>
            <a:off x="767555" y="2429658"/>
            <a:ext cx="3189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63"/>
              <a:buFont typeface="Arial"/>
              <a:buNone/>
            </a:pPr>
            <a:r>
              <a:rPr b="1" i="0" lang="ca" sz="11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Alarmes</a:t>
            </a:r>
            <a:endParaRPr b="0" i="0" sz="11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2"/>
          <p:cNvSpPr/>
          <p:nvPr/>
        </p:nvSpPr>
        <p:spPr>
          <a:xfrm>
            <a:off x="767555" y="2676546"/>
            <a:ext cx="3189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60"/>
              <a:buFont typeface="Arial"/>
              <a:buNone/>
            </a:pPr>
            <a:r>
              <a:rPr b="0" i="0" lang="ca" sz="96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Són avisos quan passa alguna cosa important.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4642429" y="2319930"/>
            <a:ext cx="3600600" cy="788700"/>
          </a:xfrm>
          <a:prstGeom prst="roundRect">
            <a:avLst>
              <a:gd fmla="val 695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2"/>
          <p:cNvSpPr/>
          <p:nvPr/>
        </p:nvSpPr>
        <p:spPr>
          <a:xfrm>
            <a:off x="4813883" y="2429658"/>
            <a:ext cx="3189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63"/>
              <a:buFont typeface="Arial"/>
              <a:buNone/>
            </a:pPr>
            <a:r>
              <a:rPr b="1" i="0" lang="ca" sz="11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Inventari</a:t>
            </a:r>
            <a:endParaRPr b="0" i="0" sz="11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4813883" y="2676546"/>
            <a:ext cx="3189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60"/>
              <a:buFont typeface="Arial"/>
              <a:buNone/>
            </a:pPr>
            <a:r>
              <a:rPr b="0" i="0" lang="ca" sz="96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Els canvis d’usuaris i grups han de quedar documentats.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596101" y="3382920"/>
            <a:ext cx="3600600" cy="788700"/>
          </a:xfrm>
          <a:prstGeom prst="roundRect">
            <a:avLst>
              <a:gd fmla="val 695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2"/>
          <p:cNvSpPr/>
          <p:nvPr/>
        </p:nvSpPr>
        <p:spPr>
          <a:xfrm>
            <a:off x="767555" y="3492648"/>
            <a:ext cx="3189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63"/>
              <a:buFont typeface="Arial"/>
              <a:buNone/>
            </a:pPr>
            <a:r>
              <a:rPr b="1" i="0" lang="ca" sz="11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Eines</a:t>
            </a:r>
            <a:endParaRPr b="0" i="0" sz="11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2"/>
          <p:cNvSpPr/>
          <p:nvPr/>
        </p:nvSpPr>
        <p:spPr>
          <a:xfrm>
            <a:off x="767555" y="3739536"/>
            <a:ext cx="3189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100">
                <a:solidFill>
                  <a:schemeClr val="dk1"/>
                </a:solidFill>
              </a:rPr>
              <a:t>Linux: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ca" sz="1100">
                <a:solidFill>
                  <a:schemeClr val="dk1"/>
                </a:solidFill>
              </a:rPr>
              <a:t>,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less</a:t>
            </a:r>
            <a:r>
              <a:rPr lang="ca" sz="1100">
                <a:solidFill>
                  <a:schemeClr val="dk1"/>
                </a:solidFill>
              </a:rPr>
              <a:t>,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tail</a:t>
            </a:r>
            <a:r>
              <a:rPr lang="ca" sz="1100">
                <a:solidFill>
                  <a:schemeClr val="dk1"/>
                </a:solidFill>
              </a:rPr>
              <a:t>,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grep</a:t>
            </a:r>
            <a:r>
              <a:rPr lang="ca" sz="1100">
                <a:solidFill>
                  <a:schemeClr val="dk1"/>
                </a:solidFill>
              </a:rPr>
              <a:t>,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who</a:t>
            </a:r>
            <a:r>
              <a:rPr lang="ca" sz="1100">
                <a:solidFill>
                  <a:schemeClr val="dk1"/>
                </a:solidFill>
              </a:rPr>
              <a:t> i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journalctl</a:t>
            </a:r>
            <a:r>
              <a:rPr lang="ca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100">
                <a:solidFill>
                  <a:schemeClr val="dk1"/>
                </a:solidFill>
              </a:rPr>
              <a:t>Windows: Visor d'esdeveniments.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60"/>
              <a:buFont typeface="Arial"/>
              <a:buNone/>
            </a:pPr>
            <a:r>
              <a:rPr lang="ca" sz="1100">
                <a:solidFill>
                  <a:schemeClr val="dk1"/>
                </a:solidFill>
              </a:rPr>
              <a:t>Gestió d'incidències: fitxes i sistemes de tiquets, com GLPI.</a:t>
            </a:r>
            <a:endParaRPr sz="960">
              <a:solidFill>
                <a:srgbClr val="173F66"/>
              </a:solidFill>
            </a:endParaRPr>
          </a:p>
        </p:txBody>
      </p:sp>
      <p:sp>
        <p:nvSpPr>
          <p:cNvPr id="571" name="Google Shape;571;p22"/>
          <p:cNvSpPr/>
          <p:nvPr/>
        </p:nvSpPr>
        <p:spPr>
          <a:xfrm>
            <a:off x="4642429" y="3382920"/>
            <a:ext cx="3600600" cy="788700"/>
          </a:xfrm>
          <a:prstGeom prst="roundRect">
            <a:avLst>
              <a:gd fmla="val 6957" name="adj"/>
            </a:avLst>
          </a:prstGeom>
          <a:solidFill>
            <a:srgbClr val="EAF3FB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2"/>
          <p:cNvSpPr/>
          <p:nvPr/>
        </p:nvSpPr>
        <p:spPr>
          <a:xfrm>
            <a:off x="4813883" y="3492648"/>
            <a:ext cx="3189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163"/>
              <a:buFont typeface="Arial"/>
              <a:buNone/>
            </a:pPr>
            <a:r>
              <a:rPr b="1" i="0" lang="ca" sz="1163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Protecció</a:t>
            </a:r>
            <a:endParaRPr b="0" i="0" sz="116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4813883" y="3739536"/>
            <a:ext cx="3189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960"/>
              <a:buFont typeface="Arial"/>
              <a:buNone/>
            </a:pPr>
            <a:r>
              <a:rPr b="0" i="0" lang="ca" sz="96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Els registres han de tenir accés restringit, integritat i confidencialitat.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2"/>
          <p:cNvSpPr/>
          <p:nvPr/>
        </p:nvSpPr>
        <p:spPr>
          <a:xfrm>
            <a:off x="678415" y="4644910"/>
            <a:ext cx="7475400" cy="308700"/>
          </a:xfrm>
          <a:prstGeom prst="roundRect">
            <a:avLst>
              <a:gd fmla="val 17778" name="adj"/>
            </a:avLst>
          </a:prstGeom>
          <a:solidFill>
            <a:srgbClr val="EAF7EF"/>
          </a:solidFill>
          <a:ln cap="flat" cmpd="sng" w="9525">
            <a:solidFill>
              <a:srgbClr val="B9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2"/>
          <p:cNvSpPr/>
          <p:nvPr/>
        </p:nvSpPr>
        <p:spPr>
          <a:xfrm>
            <a:off x="849869" y="4734064"/>
            <a:ext cx="71325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F66"/>
              </a:buClr>
              <a:buSzPts val="1050"/>
              <a:buFont typeface="Arial"/>
              <a:buNone/>
            </a:pPr>
            <a:r>
              <a:rPr b="1" i="0" lang="ca" sz="1050" u="none" cap="none" strike="noStrike">
                <a:solidFill>
                  <a:srgbClr val="173F66"/>
                </a:solidFill>
                <a:latin typeface="Arial"/>
                <a:ea typeface="Arial"/>
                <a:cs typeface="Arial"/>
                <a:sym typeface="Arial"/>
              </a:rPr>
              <a:t>Registres fiables → millor detecció → millor resposta → millor aprenentatge.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2"/>
          <p:cNvSpPr txBox="1"/>
          <p:nvPr>
            <p:ph idx="12" type="sldNum"/>
          </p:nvPr>
        </p:nvSpPr>
        <p:spPr>
          <a:xfrm>
            <a:off x="7535095" y="4663219"/>
            <a:ext cx="1485900" cy="480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fld id="{00000000-1234-1234-1234-123412341234}" type="slidenum">
              <a:rPr lang="ca" sz="975"/>
              <a:t>‹#›</a:t>
            </a:fld>
            <a:endParaRPr sz="97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laFontanal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2026-09-28T15:07:43Z</dcterms:created>
  <dc:creator>OpenAI</dc:creator>
</cp:coreProperties>
</file>