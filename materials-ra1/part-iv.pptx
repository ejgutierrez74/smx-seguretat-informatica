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afDH8E0OEuNwtjtqx1bY3ywcj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226B47-16AA-46C8-B4FB-D1ACA0A6487C}">
  <a:tblStyle styleId="{54226B47-16AA-46C8-B4FB-D1ACA0A648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FAD4C16-06C4-4291-A565-FD531561D84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422ad8a2a2b08727_0_35:notes"/>
          <p:cNvSpPr txBox="1"/>
          <p:nvPr>
            <p:ph idx="1" type="body"/>
          </p:nvPr>
        </p:nvSpPr>
        <p:spPr>
          <a:xfrm>
            <a:off x="685756" y="5867149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h422ad8a2a2b08727_0_35:notes"/>
          <p:cNvSpPr txBox="1"/>
          <p:nvPr>
            <p:ph idx="12" type="sldNum"/>
          </p:nvPr>
        </p:nvSpPr>
        <p:spPr>
          <a:xfrm>
            <a:off x="3884515" y="11579749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7" name="Google Shape;27;h422ad8a2a2b08727_0_35:notes"/>
          <p:cNvSpPr/>
          <p:nvPr>
            <p:ph idx="2" type="sldImg"/>
          </p:nvPr>
        </p:nvSpPr>
        <p:spPr>
          <a:xfrm>
            <a:off x="1143183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422ad8a2a2b08727_0_104:notes"/>
          <p:cNvSpPr txBox="1"/>
          <p:nvPr>
            <p:ph idx="1" type="body"/>
          </p:nvPr>
        </p:nvSpPr>
        <p:spPr>
          <a:xfrm>
            <a:off x="685756" y="5867149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h422ad8a2a2b08727_0_104:notes"/>
          <p:cNvSpPr txBox="1"/>
          <p:nvPr>
            <p:ph idx="12" type="sldNum"/>
          </p:nvPr>
        </p:nvSpPr>
        <p:spPr>
          <a:xfrm>
            <a:off x="3884515" y="11579749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3" name="Google Shape;43;h422ad8a2a2b08727_0_104:notes"/>
          <p:cNvSpPr/>
          <p:nvPr>
            <p:ph idx="2" type="sldImg"/>
          </p:nvPr>
        </p:nvSpPr>
        <p:spPr>
          <a:xfrm>
            <a:off x="1143183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75a46627178c9320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h75a46627178c9320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h75a46627178c9320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5910e6d58478add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h5910e6d58478add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5910e6d58478add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910e6d58478add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h5910e6d58478add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5910e6d58478add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422ad8a2a2b08727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h422ad8a2a2b08727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h422ad8a2a2b08727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422ad8a2a2b08727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h422ad8a2a2b08727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h422ad8a2a2b08727_0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422ad8a2a2b08727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h422ad8a2a2b08727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422ad8a2a2b08727_0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422ad8a2a2b08727_0_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b="0" i="0" sz="12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EBF3F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422ad8a2a2b08727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6" name="Google Shape;16;h422ad8a2a2b08727_0_141"/>
          <p:cNvSpPr/>
          <p:nvPr/>
        </p:nvSpPr>
        <p:spPr>
          <a:xfrm>
            <a:off x="365575" y="274324"/>
            <a:ext cx="8412000" cy="6030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5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422ad8a2a2b08727_0_1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h422ad8a2a2b08727_0_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422ad8a2a2b08727_0_147"/>
          <p:cNvSpPr txBox="1"/>
          <p:nvPr>
            <p:ph idx="12" type="sldNum"/>
          </p:nvPr>
        </p:nvSpPr>
        <p:spPr>
          <a:xfrm>
            <a:off x="8229503" y="4800342"/>
            <a:ext cx="456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337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Pagina">
  <p:cSld name="_31__5f_DEFAU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422ad8a2a2b08727_0_149"/>
          <p:cNvSpPr txBox="1"/>
          <p:nvPr>
            <p:ph idx="12" type="sldNum"/>
          </p:nvPr>
        </p:nvSpPr>
        <p:spPr>
          <a:xfrm>
            <a:off x="8119175" y="4556550"/>
            <a:ext cx="9021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7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422ad8a2a2b08727_0_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088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●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9088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9088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9088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●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9088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9088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h422ad8a2a2b08727_0_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ages.nist.gov/800-63-4/sp800-63b.html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aveibeenpwned.com/" TargetMode="External"/><Relationship Id="rId4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5" Type="http://schemas.openxmlformats.org/officeDocument/2006/relationships/hyperlink" Target="https://bitwarden.com/es-la/" TargetMode="External"/><Relationship Id="rId6" Type="http://schemas.openxmlformats.org/officeDocument/2006/relationships/hyperlink" Target="https://keepass.info/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1password.com/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H0Wt-tuBepA" TargetMode="External"/><Relationship Id="rId4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36.png"/><Relationship Id="rId6" Type="http://schemas.openxmlformats.org/officeDocument/2006/relationships/image" Target="../media/image52.png"/><Relationship Id="rId7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38.png"/><Relationship Id="rId5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422ad8a2a2b08727_0_35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0" name="Google Shape;30;h422ad8a2a2b08727_0_35"/>
          <p:cNvSpPr/>
          <p:nvPr/>
        </p:nvSpPr>
        <p:spPr>
          <a:xfrm>
            <a:off x="340106" y="907519"/>
            <a:ext cx="5875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2400"/>
              <a:buFont typeface="Play"/>
              <a:buNone/>
            </a:pPr>
            <a:r>
              <a:rPr b="1" lang="ca" sz="2400">
                <a:solidFill>
                  <a:srgbClr val="123D6A"/>
                </a:solidFill>
              </a:rPr>
              <a:t>Contrasenyes, biometria</a:t>
            </a:r>
            <a:r>
              <a:rPr lang="ca" sz="2400">
                <a:solidFill>
                  <a:schemeClr val="dk1"/>
                </a:solidFill>
              </a:rPr>
              <a:t> </a:t>
            </a:r>
            <a:r>
              <a:rPr b="1" lang="ca" sz="2400">
                <a:solidFill>
                  <a:srgbClr val="123D6A"/>
                </a:solidFill>
              </a:rPr>
              <a:t>i autenticació</a:t>
            </a:r>
            <a:endParaRPr b="1" sz="2550">
              <a:solidFill>
                <a:srgbClr val="0B2E6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0B2E6D"/>
              </a:solidFill>
            </a:endParaRPr>
          </a:p>
        </p:txBody>
      </p:sp>
      <p:sp>
        <p:nvSpPr>
          <p:cNvPr id="31" name="Google Shape;31;h422ad8a2a2b08727_0_35"/>
          <p:cNvSpPr/>
          <p:nvPr/>
        </p:nvSpPr>
        <p:spPr>
          <a:xfrm>
            <a:off x="397718" y="1680214"/>
            <a:ext cx="7886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1r CFGM SMX · M0226 · Seguretat Informàtica</a:t>
            </a:r>
            <a:endParaRPr sz="1350"/>
          </a:p>
        </p:txBody>
      </p:sp>
      <p:sp>
        <p:nvSpPr>
          <p:cNvPr id="32" name="Google Shape;32;h422ad8a2a2b08727_0_35"/>
          <p:cNvSpPr/>
          <p:nvPr/>
        </p:nvSpPr>
        <p:spPr>
          <a:xfrm>
            <a:off x="397718" y="2160337"/>
            <a:ext cx="7886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3315C"/>
                </a:solidFill>
              </a:rPr>
              <a:t>RA1 · Seguretat passiva en equips informàtics - P</a:t>
            </a:r>
            <a:r>
              <a:rPr b="1" lang="ca" sz="1425">
                <a:solidFill>
                  <a:srgbClr val="13315C"/>
                </a:solidFill>
              </a:rPr>
              <a:t>art IV</a:t>
            </a:r>
            <a:endParaRPr b="1" sz="1425"/>
          </a:p>
        </p:txBody>
      </p:sp>
      <p:sp>
        <p:nvSpPr>
          <p:cNvPr id="33" name="Google Shape;33;h422ad8a2a2b08727_0_35"/>
          <p:cNvSpPr/>
          <p:nvPr/>
        </p:nvSpPr>
        <p:spPr>
          <a:xfrm>
            <a:off x="4289325" y="2543025"/>
            <a:ext cx="4363500" cy="160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" name="Google Shape;34;h422ad8a2a2b08727_0_35"/>
          <p:cNvSpPr/>
          <p:nvPr/>
        </p:nvSpPr>
        <p:spPr>
          <a:xfrm>
            <a:off x="4551577" y="2819488"/>
            <a:ext cx="2605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Autors i crèdits</a:t>
            </a:r>
            <a:endParaRPr sz="1200"/>
          </a:p>
        </p:txBody>
      </p:sp>
      <p:sp>
        <p:nvSpPr>
          <p:cNvPr id="35" name="Google Shape;35;h422ad8a2a2b08727_0_35"/>
          <p:cNvSpPr/>
          <p:nvPr/>
        </p:nvSpPr>
        <p:spPr>
          <a:xfrm>
            <a:off x="4551575" y="3163325"/>
            <a:ext cx="41013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Idea original: Ivan Basart Carrillo</a:t>
            </a:r>
            <a:r>
              <a:rPr lang="ca" sz="975">
                <a:solidFill>
                  <a:srgbClr val="13315C"/>
                </a:solidFill>
              </a:rPr>
              <a:t>. </a:t>
            </a: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Carles Caño Valls i </a:t>
            </a:r>
            <a:r>
              <a:rPr lang="ca" sz="975">
                <a:solidFill>
                  <a:srgbClr val="13315C"/>
                </a:solidFill>
              </a:rPr>
              <a:t>Carles Franquesa</a:t>
            </a:r>
            <a:endParaRPr sz="975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>
                <a:solidFill>
                  <a:srgbClr val="13315C"/>
                </a:solidFill>
              </a:rPr>
              <a:t>Modificació: Amanda Fontana</a:t>
            </a:r>
            <a:endParaRPr sz="975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Adaptació, modificaci</a:t>
            </a:r>
            <a:r>
              <a:rPr lang="ca" sz="975">
                <a:solidFill>
                  <a:srgbClr val="13315C"/>
                </a:solidFill>
              </a:rPr>
              <a:t>ó </a:t>
            </a: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 i reorganització: Eduard Gutiérrez</a:t>
            </a:r>
            <a:endParaRPr sz="975"/>
          </a:p>
        </p:txBody>
      </p:sp>
      <p:pic>
        <p:nvPicPr>
          <p:cNvPr id="36" name="Google Shape;36;h422ad8a2a2b08727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15" y="4611318"/>
            <a:ext cx="1062722" cy="37152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h422ad8a2a2b08727_0_35"/>
          <p:cNvSpPr/>
          <p:nvPr/>
        </p:nvSpPr>
        <p:spPr>
          <a:xfrm>
            <a:off x="1459607" y="4815311"/>
            <a:ext cx="5143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7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Llicència del material: Creative Commons BY-NC-SA 4.0</a:t>
            </a:r>
            <a:endParaRPr sz="1350"/>
          </a:p>
        </p:txBody>
      </p:sp>
      <p:pic>
        <p:nvPicPr>
          <p:cNvPr id="38" name="Google Shape;38;h422ad8a2a2b08727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2531" y="2514437"/>
            <a:ext cx="2947021" cy="16576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h422ad8a2a2b08727_0_35"/>
          <p:cNvSpPr txBox="1"/>
          <p:nvPr>
            <p:ph idx="12" type="sldNum"/>
          </p:nvPr>
        </p:nvSpPr>
        <p:spPr>
          <a:xfrm>
            <a:off x="8119175" y="4556550"/>
            <a:ext cx="902100" cy="5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422ad8a2a2b08727_0_104"/>
          <p:cNvSpPr/>
          <p:nvPr/>
        </p:nvSpPr>
        <p:spPr>
          <a:xfrm>
            <a:off x="305125" y="1042274"/>
            <a:ext cx="831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36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ca" sz="1050">
                <a:solidFill>
                  <a:srgbClr val="5B6B7A"/>
                </a:solidFill>
              </a:rPr>
              <a:t>Criteris d'avaluació i continguts que treballarem: contrasenyes, biometria i </a:t>
            </a:r>
            <a:r>
              <a:rPr lang="ca" sz="1050">
                <a:solidFill>
                  <a:srgbClr val="5B6B7A"/>
                </a:solidFill>
              </a:rPr>
              <a:t>autenticació.</a:t>
            </a:r>
            <a:endParaRPr sz="1050">
              <a:solidFill>
                <a:srgbClr val="5B6B7A"/>
              </a:solidFill>
            </a:endParaRPr>
          </a:p>
        </p:txBody>
      </p:sp>
      <p:sp>
        <p:nvSpPr>
          <p:cNvPr id="46" name="Google Shape;46;h422ad8a2a2b08727_0_104"/>
          <p:cNvSpPr/>
          <p:nvPr/>
        </p:nvSpPr>
        <p:spPr>
          <a:xfrm>
            <a:off x="182712" y="198301"/>
            <a:ext cx="11155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 RA1 · Seguretat passiva en equips informàtics</a:t>
            </a:r>
            <a:endParaRPr sz="1350"/>
          </a:p>
        </p:txBody>
      </p:sp>
      <p:graphicFrame>
        <p:nvGraphicFramePr>
          <p:cNvPr id="47" name="Google Shape;47;h422ad8a2a2b08727_0_104"/>
          <p:cNvGraphicFramePr/>
          <p:nvPr/>
        </p:nvGraphicFramePr>
        <p:xfrm>
          <a:off x="340523" y="15656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{54226B47-16AA-46C8-B4FB-D1ACA0A6487C}</a:tableStyleId>
              </a:tblPr>
              <a:tblGrid>
                <a:gridCol w="4044825"/>
                <a:gridCol w="4044825"/>
              </a:tblGrid>
              <a:tr h="607250">
                <a:tc gridSpan="2">
                  <a:txBody>
                    <a:bodyPr/>
                    <a:lstStyle/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 hMerge="1"/>
              </a:tr>
              <a:tr h="68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Criteris d’avaluació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Continguts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</a:t>
                      </a:r>
                      <a:r>
                        <a:rPr b="1" lang="ca" sz="1125">
                          <a:solidFill>
                            <a:srgbClr val="13315C"/>
                          </a:solidFill>
                        </a:rPr>
                        <a:t>Valora la importància d’establir una política de  </a:t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>
                          <a:solidFill>
                            <a:srgbClr val="13315C"/>
                          </a:solidFill>
                        </a:rPr>
                        <a:t>              contrasenyes.</a:t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olítiques de contrasenyes i sistemes biomètrics.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</a:t>
                      </a: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V</a:t>
                      </a: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alora la importància dels sistemes 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biomètrics.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Mecanismes de seguretat d’accés al sistema</a:t>
                      </a:r>
                      <a:endParaRPr sz="1200"/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" name="Google Shape;48;h422ad8a2a2b08727_0_104"/>
          <p:cNvSpPr/>
          <p:nvPr/>
        </p:nvSpPr>
        <p:spPr>
          <a:xfrm>
            <a:off x="466100" y="3005699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350"/>
          </a:p>
        </p:txBody>
      </p:sp>
      <p:sp>
        <p:nvSpPr>
          <p:cNvPr id="49" name="Google Shape;49;h422ad8a2a2b08727_0_104"/>
          <p:cNvSpPr/>
          <p:nvPr/>
        </p:nvSpPr>
        <p:spPr>
          <a:xfrm>
            <a:off x="466100" y="3912086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350"/>
          </a:p>
        </p:txBody>
      </p:sp>
      <p:sp>
        <p:nvSpPr>
          <p:cNvPr id="50" name="Google Shape;50;h422ad8a2a2b08727_0_104"/>
          <p:cNvSpPr/>
          <p:nvPr/>
        </p:nvSpPr>
        <p:spPr>
          <a:xfrm>
            <a:off x="340525" y="1575200"/>
            <a:ext cx="8089500" cy="6198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· Seguretat passiva en equips informàtics - Part IV</a:t>
            </a:r>
            <a:endParaRPr sz="1350"/>
          </a:p>
        </p:txBody>
      </p:sp>
      <p:sp>
        <p:nvSpPr>
          <p:cNvPr id="51" name="Google Shape;51;h422ad8a2a2b08727_0_104"/>
          <p:cNvSpPr/>
          <p:nvPr/>
        </p:nvSpPr>
        <p:spPr>
          <a:xfrm>
            <a:off x="4545959" y="3005690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50"/>
          </a:p>
        </p:txBody>
      </p:sp>
      <p:sp>
        <p:nvSpPr>
          <p:cNvPr id="52" name="Google Shape;52;h422ad8a2a2b08727_0_104"/>
          <p:cNvSpPr/>
          <p:nvPr/>
        </p:nvSpPr>
        <p:spPr>
          <a:xfrm>
            <a:off x="4545959" y="3912072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50"/>
          </a:p>
        </p:txBody>
      </p:sp>
      <p:sp>
        <p:nvSpPr>
          <p:cNvPr id="53" name="Google Shape;53;h422ad8a2a2b08727_0_104"/>
          <p:cNvSpPr txBox="1"/>
          <p:nvPr>
            <p:ph idx="12" type="sldNum"/>
          </p:nvPr>
        </p:nvSpPr>
        <p:spPr>
          <a:xfrm>
            <a:off x="8119175" y="4556550"/>
            <a:ext cx="902100" cy="5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3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8599932" y="72009"/>
            <a:ext cx="54900" cy="5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97764" y="92030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1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Per què cal protegir-les i com crear-ne de robustes.</a:t>
            </a:r>
            <a:endParaRPr b="0" i="0" sz="11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80010" y="1296145"/>
            <a:ext cx="2606100" cy="2846100"/>
          </a:xfrm>
          <a:prstGeom prst="roundRect">
            <a:avLst>
              <a:gd fmla="val 1579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4602" y="1460737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1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65" y="1556200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1131520" y="1460737"/>
            <a:ext cx="1817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Contrasenya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17200" y="2023025"/>
            <a:ext cx="2331600" cy="20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40"/>
              <a:buFont typeface="Arial"/>
              <a:buNone/>
            </a:pPr>
            <a:r>
              <a:rPr lang="ca" sz="1240">
                <a:solidFill>
                  <a:srgbClr val="1C2D3F"/>
                </a:solidFill>
              </a:rPr>
              <a:t>C</a:t>
            </a:r>
            <a: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onjunt de caràcters secrets que serveixen per verificar la identitat d'un usuari.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40"/>
              <a:buFont typeface="Arial"/>
              <a:buNone/>
            </a:pPr>
            <a: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Són el mètode més estès per impedir accessos no autoritzats.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326080" y="1296145"/>
            <a:ext cx="2606100" cy="2846100"/>
          </a:xfrm>
          <a:prstGeom prst="roundRect">
            <a:avLst>
              <a:gd fmla="val 1579" name="adj"/>
            </a:avLst>
          </a:prstGeom>
          <a:solidFill>
            <a:srgbClr val="FFF4DA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490672" y="1460737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4-1.png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6135" y="1556200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3977590" y="1460737"/>
            <a:ext cx="1817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Risc habitual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490678" y="1978450"/>
            <a:ext cx="23316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40"/>
              <a:buFont typeface="Arial"/>
              <a:buNone/>
            </a:pPr>
            <a:r>
              <a:rPr lang="ca" sz="1240">
                <a:solidFill>
                  <a:srgbClr val="1C2D3F"/>
                </a:solidFill>
              </a:rPr>
              <a:t>El mal ús és una amenaça habitual: contrasenyes fàcils d’esbrinar, repetides o enganxades en un adhesiu a la pantalla.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172150" y="1296150"/>
            <a:ext cx="2606100" cy="2846100"/>
          </a:xfrm>
          <a:prstGeom prst="roundRect">
            <a:avLst>
              <a:gd fmla="val 166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336742" y="1460737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7-2.png" id="73" name="Google Shape;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2205" y="1556200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6823660" y="1460737"/>
            <a:ext cx="1680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Política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364150" y="1978450"/>
            <a:ext cx="23316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40"/>
              <a:buFont typeface="Arial"/>
              <a:buNone/>
            </a:pPr>
            <a:r>
              <a:rPr lang="ca" sz="1240">
                <a:solidFill>
                  <a:srgbClr val="1C2D3F"/>
                </a:solidFill>
              </a:rPr>
              <a:t>Conjunt de normes que estableix com es creen, s'utilitzen, es protegeixen i quan cal canviar les contrasenyes.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45770" y="4354830"/>
            <a:ext cx="826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17220" y="4443984"/>
            <a:ext cx="78867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3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Idea clau: una contrasenya robusta però mal protegida deixa de ser segura.</a:t>
            </a:r>
            <a:endParaRPr b="0" i="0" sz="13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397775" y="254350"/>
            <a:ext cx="87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Política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contrasenyes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3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8599932" y="72009"/>
            <a:ext cx="54900" cy="5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17850" y="1737125"/>
            <a:ext cx="36318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-3087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63"/>
              <a:buFont typeface="Arial"/>
              <a:buChar char="●"/>
            </a:pPr>
            <a:r>
              <a:rPr lang="ca" sz="1263">
                <a:solidFill>
                  <a:srgbClr val="1C2D3F"/>
                </a:solidFill>
              </a:rPr>
              <a:t>Massa curtes</a:t>
            </a:r>
            <a:endParaRPr b="0" i="0" sz="12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7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63"/>
              <a:buFont typeface="Arial"/>
              <a:buChar char="●"/>
            </a:pPr>
            <a:r>
              <a:rPr lang="ca" sz="1263">
                <a:solidFill>
                  <a:srgbClr val="1C2D3F"/>
                </a:solidFill>
              </a:rPr>
              <a:t>Una sola paraula habitual</a:t>
            </a:r>
            <a:endParaRPr b="0" i="0" sz="12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7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63"/>
              <a:buFont typeface="Arial"/>
              <a:buChar char="●"/>
            </a:pPr>
            <a:r>
              <a:rPr b="0" i="0" lang="ca" sz="126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Nom de familiar, mascota o personatge famós.</a:t>
            </a:r>
            <a:endParaRPr b="0" i="0" sz="12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7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63"/>
              <a:buFont typeface="Arial"/>
              <a:buChar char="●"/>
            </a:pPr>
            <a:r>
              <a:rPr b="0" i="0" lang="ca" sz="126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Dada personal: naixement, adreça</a:t>
            </a:r>
            <a:r>
              <a:rPr lang="ca" sz="1263">
                <a:solidFill>
                  <a:srgbClr val="1C2D3F"/>
                </a:solidFill>
              </a:rPr>
              <a:t>…</a:t>
            </a:r>
            <a:endParaRPr sz="1263">
              <a:solidFill>
                <a:srgbClr val="1C2D3F"/>
              </a:solidFill>
            </a:endParaRPr>
          </a:p>
          <a:p>
            <a:pPr indent="-3087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63"/>
              <a:buChar char="●"/>
            </a:pPr>
            <a:r>
              <a:rPr lang="ca" sz="1263">
                <a:solidFill>
                  <a:srgbClr val="1C2D3F"/>
                </a:solidFill>
              </a:rPr>
              <a:t>Contrasenyes reutilitzades</a:t>
            </a:r>
            <a:endParaRPr sz="1263">
              <a:solidFill>
                <a:srgbClr val="1C2D3F"/>
              </a:solidFill>
            </a:endParaRPr>
          </a:p>
          <a:p>
            <a:pPr indent="-3087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63"/>
              <a:buChar char="●"/>
            </a:pPr>
            <a:r>
              <a:rPr lang="ca" sz="1263">
                <a:solidFill>
                  <a:srgbClr val="1C2D3F"/>
                </a:solidFill>
              </a:rPr>
              <a:t>Contrasenyes filtrades</a:t>
            </a:r>
            <a:endParaRPr sz="1263">
              <a:solidFill>
                <a:srgbClr val="1C2D3F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400"/>
              <a:buFont typeface="Arial"/>
              <a:buChar char="●"/>
            </a:pPr>
            <a:r>
              <a:rPr b="0" i="0" lang="ca" sz="126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Patrons h</a:t>
            </a:r>
            <a:r>
              <a:rPr lang="ca" sz="1263">
                <a:solidFill>
                  <a:srgbClr val="1C2D3F"/>
                </a:solidFill>
              </a:rPr>
              <a:t>abituals</a:t>
            </a:r>
            <a:r>
              <a:rPr b="0" i="0" lang="ca" sz="126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: aaabbb, 1234, qwerty...</a:t>
            </a:r>
            <a:br>
              <a:rPr b="0" i="0" lang="ca" sz="86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14340" y="3796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Contrasenyes febles i robustes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455075" y="118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{EFAD4C16-06C4-4291-A565-FD531561D84E}</a:tableStyleId>
              </a:tblPr>
              <a:tblGrid>
                <a:gridCol w="1296975"/>
                <a:gridCol w="2399200"/>
                <a:gridCol w="2166475"/>
                <a:gridCol w="2441200"/>
              </a:tblGrid>
              <a:tr h="60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Criteri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57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Contrasenya feble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57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Contrasenya robusta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57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Per què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57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</a:tr>
              <a:tr h="64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Longitud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Menys de 12 caràcters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Mínim 12, millor 15 o més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Cada caràcter extra multiplica el temps d'un atac de força bruta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Contingut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Una paraula del diccionari o l'enciclopèdia (gat, Barcelona)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Frase llarga o diverses paraules aleatòries sense relació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Els atacs proven primer diccionaris i llistes de noms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64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Dades personals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Nom, mascota, data de naixement, equip de futbol, adreça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Cap dada que algú pugui trobar sobre tu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Qui et coneix, o mira les teves xarxes, ho prova primer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Patrons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123456, qwerty, aaabbb, Contrasenya1!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Sense patrons ni trucs previsibles (a→@, o→0)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Els atacants coneixen aquests trucs i els apliquen automàticament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3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5a46627178c9320_0_40"/>
          <p:cNvSpPr/>
          <p:nvPr/>
        </p:nvSpPr>
        <p:spPr>
          <a:xfrm>
            <a:off x="8599932" y="72009"/>
            <a:ext cx="54900" cy="5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75a46627178c9320_0_40"/>
          <p:cNvSpPr/>
          <p:nvPr/>
        </p:nvSpPr>
        <p:spPr>
          <a:xfrm>
            <a:off x="514340" y="3796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Bones pràctiques per protegir les contrasenyes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75a46627178c9320_0_40"/>
          <p:cNvSpPr txBox="1"/>
          <p:nvPr/>
        </p:nvSpPr>
        <p:spPr>
          <a:xfrm>
            <a:off x="492875" y="4133425"/>
            <a:ext cx="8183400" cy="92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sng">
                <a:solidFill>
                  <a:schemeClr val="hlink"/>
                </a:solidFill>
                <a:hlinkClick r:id="rId3"/>
              </a:rPr>
              <a:t>NIST SP 800-63B-4</a:t>
            </a:r>
            <a:r>
              <a:rPr lang="ca" sz="1200"/>
              <a:t>, ( actualitzat 2025) </a:t>
            </a:r>
            <a:r>
              <a:rPr lang="ca" sz="1200"/>
              <a:t>mínim de 15 caràcters si la contrasenya és l'únic factor d'autenticació; amb MFA, el mínim pot ser de 8. No s'han d'imposar regles de composició (majúscules, símbols...) ni canvis periòdics obligatoris sense motiu.</a:t>
            </a:r>
            <a:endParaRPr sz="1200"/>
          </a:p>
        </p:txBody>
      </p:sp>
      <p:sp>
        <p:nvSpPr>
          <p:cNvPr id="98" name="Google Shape;98;h75a46627178c9320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graphicFrame>
        <p:nvGraphicFramePr>
          <p:cNvPr id="99" name="Google Shape;99;h75a46627178c9320_0_40"/>
          <p:cNvGraphicFramePr/>
          <p:nvPr/>
        </p:nvGraphicFramePr>
        <p:xfrm>
          <a:off x="492875" y="101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{EFAD4C16-06C4-4291-A565-FD531561D84E}</a:tableStyleId>
              </a:tblPr>
              <a:tblGrid>
                <a:gridCol w="1225925"/>
                <a:gridCol w="2236925"/>
                <a:gridCol w="2008900"/>
                <a:gridCol w="2802275"/>
              </a:tblGrid>
              <a:tr h="46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Criteri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Contrasenya feble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Contrasenya robusta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FFFFFF"/>
                          </a:solidFill>
                        </a:rPr>
                        <a:t>Per què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76200" marL="76200" anchor="ctr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1BF"/>
                    </a:solidFill>
                  </a:tcPr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Reutilització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La mateixa contrasenya en diversos serveis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Una de diferent per a cada servei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Si es filtra un servei, els atacants la proven a tots els altres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Filtrades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Apareix en una filtració coneguda (consulta haveibeenpwned.com)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No ha aparegut en cap filtració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Les llistes de contrasenyes filtrades són el primer que s'utilitza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63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Gestió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Escrita en un post-it, al mòbil o en un fitxer sense protegir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Guardada en un gestor de contrasenyes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Permet usar contrasenyes llargues i úniques sense memoritzar-les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434343"/>
                          </a:solidFill>
                        </a:rPr>
                        <a:t>Protecció extra</a:t>
                      </a:r>
                      <a:endParaRPr b="1"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Cap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Amb verificació en dos passos (2FA)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434343"/>
                          </a:solidFill>
                        </a:rPr>
                        <a:t>Dificulta molt l'accés encara que es robi la contrasenya, però no elimina tots els riscos.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76200" marL="76200">
                    <a:lnL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81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3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8599932" y="72009"/>
            <a:ext cx="54900" cy="5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17215" y="3838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Crear una contrasenya robusta i fàcil de recordar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14350" y="1131575"/>
            <a:ext cx="3874800" cy="966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37794" y="1276500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73794" y="1387410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81825" y="1343005"/>
            <a:ext cx="3531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Triar </a:t>
            </a:r>
            <a:r>
              <a:rPr b="1" lang="ca" sz="1438">
                <a:solidFill>
                  <a:srgbClr val="123D6A"/>
                </a:solidFill>
              </a:rPr>
              <a:t>diverses paraules sense relació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125549" y="1702450"/>
            <a:ext cx="2868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rPr b="0" i="0" lang="ca" sz="120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ca" sz="1200">
                <a:solidFill>
                  <a:srgbClr val="1C2D3F"/>
                </a:solidFill>
              </a:rPr>
              <a:t>Núvol Pedra Violí Tren”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697726" y="1131575"/>
            <a:ext cx="3874800" cy="966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821170" y="1276500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857170" y="1392160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177676" y="1342991"/>
            <a:ext cx="3531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lang="ca" sz="1438">
                <a:solidFill>
                  <a:srgbClr val="123D6A"/>
                </a:solidFill>
              </a:rPr>
              <a:t>  Combinar-les en una frase llarga.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257226" y="1743386"/>
            <a:ext cx="3531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88">
                <a:solidFill>
                  <a:srgbClr val="1C2D3F"/>
                </a:solidFill>
              </a:rPr>
              <a:t>NúvolPedraViolíTren</a:t>
            </a:r>
            <a:endParaRPr sz="1288">
              <a:solidFill>
                <a:srgbClr val="1C2D3F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t/>
            </a:r>
            <a:endParaRPr sz="1288">
              <a:solidFill>
                <a:srgbClr val="1C2D3F"/>
              </a:solidFill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14350" y="2419797"/>
            <a:ext cx="3874800" cy="966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37794" y="2564722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73794" y="2660282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81825" y="2619106"/>
            <a:ext cx="3531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lang="ca" sz="1438">
                <a:solidFill>
                  <a:srgbClr val="123D6A"/>
                </a:solidFill>
              </a:rPr>
              <a:t>Afegir separadors i números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125549" y="2957774"/>
            <a:ext cx="3223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00">
                <a:solidFill>
                  <a:srgbClr val="1C2D3F"/>
                </a:solidFill>
              </a:rPr>
              <a:t>Núvol-Pedra-Violí-Tren-52</a:t>
            </a:r>
            <a:endParaRPr sz="1200">
              <a:solidFill>
                <a:srgbClr val="1C2D3F"/>
              </a:solidFill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697726" y="2419797"/>
            <a:ext cx="3874800" cy="966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821170" y="2564722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857170" y="2680382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177676" y="2594966"/>
            <a:ext cx="3531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438">
                <a:solidFill>
                  <a:srgbClr val="123D6A"/>
                </a:solidFill>
              </a:rPr>
              <a:t>  Comprovar-ne la longitud</a:t>
            </a:r>
            <a:endParaRPr b="1" sz="1438">
              <a:solidFill>
                <a:srgbClr val="123D6A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t/>
            </a:r>
            <a:endParaRPr b="1" sz="1438">
              <a:solidFill>
                <a:srgbClr val="123D6A"/>
              </a:solidFill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257226" y="2938039"/>
            <a:ext cx="3531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88">
                <a:solidFill>
                  <a:srgbClr val="1C2D3F"/>
                </a:solidFill>
              </a:rPr>
              <a:t>25 caràcters: supera els 15 recomanats</a:t>
            </a:r>
            <a:endParaRPr sz="1288">
              <a:solidFill>
                <a:srgbClr val="1C2D3F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t/>
            </a:r>
            <a:endParaRPr sz="1288">
              <a:solidFill>
                <a:srgbClr val="1C2D3F"/>
              </a:solidFill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40100" y="3704326"/>
            <a:ext cx="8263800" cy="4002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11550" y="3812757"/>
            <a:ext cx="78867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2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Resultat final de l’exemple: </a:t>
            </a:r>
            <a:r>
              <a:rPr b="1" lang="ca" sz="1288">
                <a:solidFill>
                  <a:srgbClr val="123D6A"/>
                </a:solidFill>
              </a:rPr>
              <a:t>Núvol-Pedra-Violí-Tren-52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45775" y="4403700"/>
            <a:ext cx="82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1288">
                <a:solidFill>
                  <a:srgbClr val="123D6A"/>
                </a:solidFill>
              </a:rPr>
              <a:t>Idea clau: utilitzar una frase diferent per a cada serve</a:t>
            </a:r>
            <a:r>
              <a:rPr lang="ca"/>
              <a:t>i.</a:t>
            </a:r>
            <a:endParaRPr/>
          </a:p>
        </p:txBody>
      </p:sp>
      <p:sp>
        <p:nvSpPr>
          <p:cNvPr id="130" name="Google Shape;1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514340" y="37084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Protecció de les contrasenyes</a:t>
            </a:r>
            <a:endParaRPr b="1" i="0" sz="1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14350" y="1062990"/>
            <a:ext cx="3840600" cy="3257700"/>
          </a:xfrm>
          <a:prstGeom prst="roundRect">
            <a:avLst>
              <a:gd fmla="val 1263" name="adj"/>
            </a:avLst>
          </a:prstGeom>
          <a:solidFill>
            <a:srgbClr val="FFF4DA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78942" y="122758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8-3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05" y="132304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1165860" y="1227582"/>
            <a:ext cx="305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5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Enginyeria social</a:t>
            </a:r>
            <a:endParaRPr b="0" i="0" sz="15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34150" y="1806975"/>
            <a:ext cx="3383700" cy="25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-31273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325"/>
              <a:buFont typeface="Arial"/>
              <a:buChar char="●"/>
            </a:pPr>
            <a:r>
              <a:rPr b="0" i="0" lang="ca" sz="13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Un atacant truca fent-se passar per administrador i demana la contrasenya. </a:t>
            </a:r>
            <a:endParaRPr b="0" i="0" sz="1325" u="none" cap="none" strike="noStrike">
              <a:solidFill>
                <a:srgbClr val="1C2D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73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325"/>
              <a:buFont typeface="Arial"/>
              <a:buChar char="●"/>
            </a:pPr>
            <a:r>
              <a:rPr b="0" i="0" lang="ca" sz="13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Si l’usuari s’hi refia, la dona i el sistema queda compromès.</a:t>
            </a:r>
            <a:endParaRPr b="0" i="0" sz="13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629150" y="1062990"/>
            <a:ext cx="3909000" cy="3257700"/>
          </a:xfrm>
          <a:prstGeom prst="roundRect">
            <a:avLst>
              <a:gd fmla="val 1263" name="adj"/>
            </a:avLst>
          </a:prstGeom>
          <a:solidFill>
            <a:srgbClr val="EEF6FD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793742" y="122758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9205" y="132304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5280660" y="1227582"/>
            <a:ext cx="3120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050"/>
              <a:buFont typeface="Arial"/>
              <a:buNone/>
            </a:pPr>
            <a:r>
              <a:rPr b="1" i="0" lang="ca" sz="1450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Normes bàsiques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905725" y="1776149"/>
            <a:ext cx="3432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300"/>
              <a:buChar char="●"/>
            </a:pPr>
            <a:r>
              <a:rPr lang="ca" sz="1300">
                <a:solidFill>
                  <a:srgbClr val="1C2D3F"/>
                </a:solidFill>
              </a:rPr>
              <a:t>No escriure-la en correus ni formularis no fiables.</a:t>
            </a:r>
            <a:endParaRPr sz="1300">
              <a:solidFill>
                <a:srgbClr val="1C2D3F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300"/>
              <a:buChar char="●"/>
            </a:pPr>
            <a:r>
              <a:rPr lang="ca" sz="1300">
                <a:solidFill>
                  <a:srgbClr val="1C2D3F"/>
                </a:solidFill>
              </a:rPr>
              <a:t>No dir-la per telèfon ni compartir-la.</a:t>
            </a:r>
            <a:endParaRPr sz="1300">
              <a:solidFill>
                <a:srgbClr val="1C2D3F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300"/>
              <a:buChar char="●"/>
            </a:pPr>
            <a:r>
              <a:rPr lang="ca" sz="1300">
                <a:solidFill>
                  <a:srgbClr val="1C2D3F"/>
                </a:solidFill>
              </a:rPr>
              <a:t>No posar pistes ni parlar-ne davant d’al</a:t>
            </a:r>
            <a:r>
              <a:rPr lang="ca" sz="1300">
                <a:solidFill>
                  <a:srgbClr val="1C2D3F"/>
                </a:solidFill>
              </a:rPr>
              <a:t>t</a:t>
            </a:r>
            <a:r>
              <a:rPr lang="ca" sz="1300">
                <a:solidFill>
                  <a:srgbClr val="1C2D3F"/>
                </a:solidFill>
              </a:rPr>
              <a:t>res.</a:t>
            </a:r>
            <a:endParaRPr sz="1300">
              <a:solidFill>
                <a:srgbClr val="1C2D3F"/>
              </a:solidFill>
            </a:endParaRPr>
          </a:p>
          <a:p>
            <a:pPr indent="-3111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300"/>
              <a:buChar char="●"/>
            </a:pPr>
            <a:r>
              <a:rPr lang="ca" sz="1300">
                <a:solidFill>
                  <a:srgbClr val="1C2D3F"/>
                </a:solidFill>
              </a:rPr>
              <a:t>Canviar-la si sospitem que s'ha compromès o quan ho exigeixi una causa justificada ( p. ex: una incidència de seguretat)</a:t>
            </a:r>
            <a:br>
              <a:rPr b="0" i="0" lang="ca" sz="84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14350" y="4583400"/>
            <a:ext cx="802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80825" y="4568628"/>
            <a:ext cx="7657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488">
                <a:solidFill>
                  <a:srgbClr val="123D6A"/>
                </a:solidFill>
              </a:rPr>
              <a:t>Una contrasenya robusta deixa de ser segura si es deixa escrita a la vista</a:t>
            </a:r>
            <a:endParaRPr b="1" sz="1488">
              <a:solidFill>
                <a:srgbClr val="123D6A"/>
              </a:solidFill>
            </a:endParaRPr>
          </a:p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5910e6d58478add_1_2"/>
          <p:cNvSpPr/>
          <p:nvPr/>
        </p:nvSpPr>
        <p:spPr>
          <a:xfrm>
            <a:off x="514346" y="370850"/>
            <a:ext cx="5177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lang="ca" sz="1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meu correu ha aparegut en alguna filtració?</a:t>
            </a:r>
            <a:endParaRPr b="1" i="0" sz="1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5910e6d58478add_1_2"/>
          <p:cNvSpPr/>
          <p:nvPr/>
        </p:nvSpPr>
        <p:spPr>
          <a:xfrm>
            <a:off x="514350" y="4583400"/>
            <a:ext cx="802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5910e6d58478add_1_2"/>
          <p:cNvSpPr/>
          <p:nvPr/>
        </p:nvSpPr>
        <p:spPr>
          <a:xfrm>
            <a:off x="680818" y="4672554"/>
            <a:ext cx="76575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lang="ca" sz="1488">
                <a:solidFill>
                  <a:srgbClr val="123D6A"/>
                </a:solidFill>
              </a:rPr>
              <a:t>Web: </a:t>
            </a:r>
            <a:r>
              <a:rPr b="1" lang="ca" sz="1488" u="sng">
                <a:solidFill>
                  <a:schemeClr val="hlink"/>
                </a:solidFill>
                <a:hlinkClick r:id="rId3"/>
              </a:rPr>
              <a:t>https://haveibeenpwned.com/</a:t>
            </a:r>
            <a:endParaRPr b="0" i="0" sz="14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h5910e6d58478add_1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125" y="1362450"/>
            <a:ext cx="4244250" cy="2343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h5910e6d58478add_1_2"/>
          <p:cNvSpPr/>
          <p:nvPr/>
        </p:nvSpPr>
        <p:spPr>
          <a:xfrm>
            <a:off x="412450" y="1059350"/>
            <a:ext cx="3944700" cy="977400"/>
          </a:xfrm>
          <a:prstGeom prst="roundRect">
            <a:avLst>
              <a:gd fmla="val 5926" name="adj"/>
            </a:avLst>
          </a:prstGeom>
          <a:solidFill>
            <a:srgbClr val="EAF4FC"/>
          </a:solidFill>
          <a:ln cap="flat" cmpd="sng" w="11025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350" lIns="72350" spcFirstLastPara="1" rIns="72350" wrap="square" tIns="7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5910e6d58478add_1_2"/>
          <p:cNvSpPr/>
          <p:nvPr/>
        </p:nvSpPr>
        <p:spPr>
          <a:xfrm>
            <a:off x="611441" y="1181554"/>
            <a:ext cx="3474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“Pwned” vol dir “compromès”</a:t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5910e6d58478add_1_2"/>
          <p:cNvSpPr/>
          <p:nvPr/>
        </p:nvSpPr>
        <p:spPr>
          <a:xfrm>
            <a:off x="629600" y="1491976"/>
            <a:ext cx="3438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77"/>
              <a:buFont typeface="Arial"/>
              <a:buNone/>
            </a:pPr>
            <a:r>
              <a:rPr b="0" i="0" lang="ca" sz="1077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En seguretat, indica que un compte o sistema ha estat exposat o controlat sense autorització.</a:t>
            </a:r>
            <a:endParaRPr b="0" i="0" sz="10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h5910e6d58478add_1_2"/>
          <p:cNvSpPr/>
          <p:nvPr/>
        </p:nvSpPr>
        <p:spPr>
          <a:xfrm>
            <a:off x="394400" y="2217445"/>
            <a:ext cx="3944700" cy="977400"/>
          </a:xfrm>
          <a:prstGeom prst="roundRect">
            <a:avLst>
              <a:gd fmla="val 5926" name="adj"/>
            </a:avLst>
          </a:prstGeom>
          <a:solidFill>
            <a:srgbClr val="DFF3E8"/>
          </a:solidFill>
          <a:ln cap="flat" cmpd="sng" w="11025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350" lIns="72350" spcFirstLastPara="1" rIns="72350" wrap="square" tIns="7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h5910e6d58478add_1_2"/>
          <p:cNvSpPr/>
          <p:nvPr/>
        </p:nvSpPr>
        <p:spPr>
          <a:xfrm>
            <a:off x="593291" y="2331223"/>
            <a:ext cx="3474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Què NO vol dir?</a:t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5910e6d58478add_1_2"/>
          <p:cNvSpPr/>
          <p:nvPr/>
        </p:nvSpPr>
        <p:spPr>
          <a:xfrm>
            <a:off x="629591" y="2702379"/>
            <a:ext cx="34380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77"/>
              <a:buFont typeface="Arial"/>
              <a:buNone/>
            </a:pPr>
            <a:r>
              <a:rPr b="0" i="0" lang="ca" sz="1077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No vol dir que el compte estigui sent atacat ara mateix, sinó que les dades han aparegut en alguna filtració.</a:t>
            </a:r>
            <a:endParaRPr b="0" i="0" sz="10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5910e6d58478add_1_2"/>
          <p:cNvSpPr/>
          <p:nvPr/>
        </p:nvSpPr>
        <p:spPr>
          <a:xfrm>
            <a:off x="394400" y="3371525"/>
            <a:ext cx="3944700" cy="1030800"/>
          </a:xfrm>
          <a:prstGeom prst="roundRect">
            <a:avLst>
              <a:gd fmla="val 6957" name="adj"/>
            </a:avLst>
          </a:prstGeom>
          <a:solidFill>
            <a:srgbClr val="FFF2CC"/>
          </a:solidFill>
          <a:ln cap="flat" cmpd="sng" w="11025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350" lIns="72350" spcFirstLastPara="1" rIns="72350" wrap="square" tIns="7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5910e6d58478add_1_2"/>
          <p:cNvSpPr/>
          <p:nvPr/>
        </p:nvSpPr>
        <p:spPr>
          <a:xfrm>
            <a:off x="611441" y="3457316"/>
            <a:ext cx="3474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Idea clau </a:t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5910e6d58478add_1_2"/>
          <p:cNvSpPr/>
          <p:nvPr/>
        </p:nvSpPr>
        <p:spPr>
          <a:xfrm>
            <a:off x="629600" y="3773175"/>
            <a:ext cx="370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77"/>
              <a:buFont typeface="Arial"/>
              <a:buNone/>
            </a:pPr>
            <a:r>
              <a:rPr b="0" i="0" lang="ca" sz="1077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Si el correu apareix en una filtració, cal comprovar quines dades s'han exposat, revisar la seguretat del compte i canviar les contrasenyes afectades.</a:t>
            </a:r>
            <a:endParaRPr b="0" i="0" sz="10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5910e6d58478add_1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5910e6d58478add_1_24"/>
          <p:cNvSpPr/>
          <p:nvPr/>
        </p:nvSpPr>
        <p:spPr>
          <a:xfrm>
            <a:off x="514340" y="37084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lang="ca" sz="1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M'han filtrat les contrasenyes?</a:t>
            </a:r>
            <a:endParaRPr b="1" i="0" sz="1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5910e6d58478add_1_24"/>
          <p:cNvSpPr/>
          <p:nvPr/>
        </p:nvSpPr>
        <p:spPr>
          <a:xfrm>
            <a:off x="393100" y="1009498"/>
            <a:ext cx="4179000" cy="3789600"/>
          </a:xfrm>
          <a:prstGeom prst="roundRect">
            <a:avLst>
              <a:gd fmla="val 1495" name="adj"/>
            </a:avLst>
          </a:prstGeom>
          <a:solidFill>
            <a:srgbClr val="F7FBFF"/>
          </a:solidFill>
          <a:ln cap="flat" cmpd="sng" w="10800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5910e6d58478add_1_24"/>
          <p:cNvSpPr/>
          <p:nvPr/>
        </p:nvSpPr>
        <p:spPr>
          <a:xfrm>
            <a:off x="605591" y="1221988"/>
            <a:ext cx="2124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549"/>
              <a:buFont typeface="Arial"/>
              <a:buNone/>
            </a:pPr>
            <a:r>
              <a:rPr b="1" i="0" lang="ca" sz="1549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r>
              <a:rPr b="1" lang="ca" sz="1549">
                <a:solidFill>
                  <a:srgbClr val="0F4C93"/>
                </a:solidFill>
              </a:rPr>
              <a:t> pràctic: </a:t>
            </a:r>
            <a:endParaRPr b="0" i="0" sz="15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5910e6d58478add_1_24"/>
          <p:cNvSpPr/>
          <p:nvPr/>
        </p:nvSpPr>
        <p:spPr>
          <a:xfrm>
            <a:off x="605591" y="1540723"/>
            <a:ext cx="3683400" cy="481800"/>
          </a:xfrm>
          <a:prstGeom prst="roundRect">
            <a:avLst>
              <a:gd fmla="val 7353" name="adj"/>
            </a:avLst>
          </a:prstGeom>
          <a:solidFill>
            <a:srgbClr val="F1F7FE"/>
          </a:solidFill>
          <a:ln cap="flat" cmpd="sng" w="9850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5910e6d58478add_1_24"/>
          <p:cNvSpPr/>
          <p:nvPr/>
        </p:nvSpPr>
        <p:spPr>
          <a:xfrm>
            <a:off x="733085" y="1646967"/>
            <a:ext cx="3428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84"/>
              <a:buFont typeface="Arial"/>
              <a:buNone/>
            </a:pPr>
            <a:r>
              <a:rPr b="0" i="0" lang="ca" sz="1084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alumne.exemple@</a:t>
            </a:r>
            <a:r>
              <a:rPr lang="ca" sz="1084">
                <a:solidFill>
                  <a:srgbClr val="123B63"/>
                </a:solidFill>
              </a:rPr>
              <a:t>example.com</a:t>
            </a:r>
            <a:endParaRPr b="0" i="0" sz="10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5910e6d58478add_1_24"/>
          <p:cNvSpPr/>
          <p:nvPr/>
        </p:nvSpPr>
        <p:spPr>
          <a:xfrm>
            <a:off x="1703459" y="2149860"/>
            <a:ext cx="779100" cy="22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4C93"/>
          </a:solidFill>
          <a:ln cap="flat" cmpd="sng" w="9850">
            <a:solidFill>
              <a:srgbClr val="0F4C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5910e6d58478add_1_24"/>
          <p:cNvSpPr/>
          <p:nvPr/>
        </p:nvSpPr>
        <p:spPr>
          <a:xfrm>
            <a:off x="605591" y="2567757"/>
            <a:ext cx="3683400" cy="850200"/>
          </a:xfrm>
          <a:prstGeom prst="roundRect">
            <a:avLst>
              <a:gd fmla="val 6667" name="adj"/>
            </a:avLst>
          </a:prstGeom>
          <a:solidFill>
            <a:srgbClr val="FDEDEC"/>
          </a:solidFill>
          <a:ln cap="flat" cmpd="sng" w="10800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h5910e6d58478add_1_24"/>
          <p:cNvSpPr/>
          <p:nvPr/>
        </p:nvSpPr>
        <p:spPr>
          <a:xfrm>
            <a:off x="747201" y="2663791"/>
            <a:ext cx="18417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162"/>
              <a:buFont typeface="Arial"/>
              <a:buNone/>
            </a:pPr>
            <a:r>
              <a:rPr b="1" i="0" lang="ca" sz="1162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Resultat possible</a:t>
            </a:r>
            <a:endParaRPr b="0" i="0" sz="11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5910e6d58478add_1_24"/>
          <p:cNvSpPr/>
          <p:nvPr/>
        </p:nvSpPr>
        <p:spPr>
          <a:xfrm>
            <a:off x="747250" y="2957326"/>
            <a:ext cx="3364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22"/>
              <a:buFont typeface="Arial"/>
              <a:buNone/>
            </a:pPr>
            <a:r>
              <a:rPr b="0" i="0" lang="ca" sz="1022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Aquest correu apareix en 2 filtracions: una botiga online i una xarxa social antiga.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5910e6d58478add_1_24"/>
          <p:cNvSpPr/>
          <p:nvPr/>
        </p:nvSpPr>
        <p:spPr>
          <a:xfrm>
            <a:off x="605591" y="3630207"/>
            <a:ext cx="19833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317"/>
              <a:buFont typeface="Arial"/>
              <a:buNone/>
            </a:pPr>
            <a:r>
              <a:rPr b="1" i="0" lang="ca" sz="1317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Resposta correcta</a:t>
            </a:r>
            <a:endParaRPr b="0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5910e6d58478add_1_24"/>
          <p:cNvSpPr/>
          <p:nvPr/>
        </p:nvSpPr>
        <p:spPr>
          <a:xfrm>
            <a:off x="641006" y="3899361"/>
            <a:ext cx="3541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046"/>
              <a:buFont typeface="Arial"/>
              <a:buNone/>
            </a:pPr>
            <a:r>
              <a:rPr b="1" i="0" lang="ca" sz="1046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ca" sz="1046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Canviar la contrasenya del servei afectat.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5910e6d58478add_1_24"/>
          <p:cNvSpPr/>
          <p:nvPr/>
        </p:nvSpPr>
        <p:spPr>
          <a:xfrm>
            <a:off x="641006" y="4147266"/>
            <a:ext cx="3541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046"/>
              <a:buFont typeface="Arial"/>
              <a:buNone/>
            </a:pPr>
            <a:r>
              <a:rPr b="1" i="0" lang="ca" sz="1046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ca" sz="1046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Si es reutilitzava, canviar-la també en altres serveis.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h5910e6d58478add_1_24"/>
          <p:cNvSpPr/>
          <p:nvPr/>
        </p:nvSpPr>
        <p:spPr>
          <a:xfrm>
            <a:off x="641006" y="4395170"/>
            <a:ext cx="3541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046"/>
              <a:buFont typeface="Arial"/>
              <a:buNone/>
            </a:pPr>
            <a:r>
              <a:rPr b="1" i="0" lang="ca" sz="1046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ca" sz="1046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Activar 2FA i revisar activitat del compte.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5910e6d58478add_1_24"/>
          <p:cNvSpPr/>
          <p:nvPr/>
        </p:nvSpPr>
        <p:spPr>
          <a:xfrm>
            <a:off x="4822465" y="1009498"/>
            <a:ext cx="3930900" cy="3789600"/>
          </a:xfrm>
          <a:prstGeom prst="roundRect">
            <a:avLst>
              <a:gd fmla="val 1495" name="adj"/>
            </a:avLst>
          </a:prstGeom>
          <a:solidFill>
            <a:srgbClr val="F7FBFF"/>
          </a:solidFill>
          <a:ln cap="flat" cmpd="sng" w="10800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5910e6d58478add_1_24"/>
          <p:cNvSpPr/>
          <p:nvPr/>
        </p:nvSpPr>
        <p:spPr>
          <a:xfrm>
            <a:off x="5032481" y="1155088"/>
            <a:ext cx="25500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549"/>
              <a:buFont typeface="Arial"/>
              <a:buNone/>
            </a:pPr>
            <a:r>
              <a:rPr b="1" i="0" lang="ca" sz="1549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I les contrasenyes?</a:t>
            </a:r>
            <a:endParaRPr b="0" i="0" sz="15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5910e6d58478add_1_24"/>
          <p:cNvSpPr/>
          <p:nvPr/>
        </p:nvSpPr>
        <p:spPr>
          <a:xfrm>
            <a:off x="5032481" y="1526557"/>
            <a:ext cx="347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69"/>
              <a:buFont typeface="Arial"/>
              <a:buNone/>
            </a:pPr>
            <a:r>
              <a:rPr b="0" i="0" lang="ca" sz="1069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HIBP també té “Pwned Passwords”: permet saber si una contrasenya ja ha aparegut en filtracions.</a:t>
            </a:r>
            <a:endParaRPr b="0" i="0" sz="10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5910e6d58478add_1_24"/>
          <p:cNvSpPr/>
          <p:nvPr/>
        </p:nvSpPr>
        <p:spPr>
          <a:xfrm>
            <a:off x="5032481" y="2071947"/>
            <a:ext cx="3435300" cy="850200"/>
          </a:xfrm>
          <a:prstGeom prst="roundRect">
            <a:avLst>
              <a:gd fmla="val 6667" name="adj"/>
            </a:avLst>
          </a:prstGeom>
          <a:solidFill>
            <a:srgbClr val="EAF4FC"/>
          </a:solidFill>
          <a:ln cap="flat" cmpd="sng" w="10800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h5910e6d58478add_1_24"/>
          <p:cNvSpPr/>
          <p:nvPr/>
        </p:nvSpPr>
        <p:spPr>
          <a:xfrm>
            <a:off x="5159981" y="2154760"/>
            <a:ext cx="14166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93"/>
              </a:buClr>
              <a:buSzPts val="1162"/>
              <a:buFont typeface="Arial"/>
              <a:buNone/>
            </a:pPr>
            <a:r>
              <a:rPr b="1" i="0" lang="ca" sz="1162" u="none" cap="none" strike="noStrike">
                <a:solidFill>
                  <a:srgbClr val="0F4C93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 b="0" i="0" sz="11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5910e6d58478add_1_24"/>
          <p:cNvSpPr/>
          <p:nvPr/>
        </p:nvSpPr>
        <p:spPr>
          <a:xfrm>
            <a:off x="5209556" y="2475678"/>
            <a:ext cx="3010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30"/>
              <a:buFont typeface="Arial"/>
              <a:buNone/>
            </a:pPr>
            <a:r>
              <a:rPr b="0" i="0" lang="ca" sz="103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A classe no provem contrasenyes reals. Fem servir exemples inventats.</a:t>
            </a:r>
            <a:endParaRPr b="0" i="0" sz="10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5910e6d58478add_1_24"/>
          <p:cNvSpPr/>
          <p:nvPr/>
        </p:nvSpPr>
        <p:spPr>
          <a:xfrm>
            <a:off x="5032481" y="3134397"/>
            <a:ext cx="1487400" cy="389400"/>
          </a:xfrm>
          <a:prstGeom prst="roundRect">
            <a:avLst>
              <a:gd fmla="val 9091" name="adj"/>
            </a:avLst>
          </a:prstGeom>
          <a:solidFill>
            <a:srgbClr val="FDEDEC"/>
          </a:solidFill>
          <a:ln cap="flat" cmpd="sng" w="9850">
            <a:solidFill>
              <a:srgbClr val="F4B6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5910e6d58478add_1_24"/>
          <p:cNvSpPr/>
          <p:nvPr/>
        </p:nvSpPr>
        <p:spPr>
          <a:xfrm>
            <a:off x="5152892" y="3254808"/>
            <a:ext cx="12396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84"/>
              <a:buFont typeface="Arial"/>
              <a:buNone/>
            </a:pPr>
            <a:r>
              <a:rPr b="1" i="0" lang="ca" sz="1084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123456</a:t>
            </a:r>
            <a:endParaRPr b="0" i="0" sz="10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5910e6d58478add_1_24"/>
          <p:cNvSpPr/>
          <p:nvPr/>
        </p:nvSpPr>
        <p:spPr>
          <a:xfrm>
            <a:off x="6661576" y="3183978"/>
            <a:ext cx="18060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992"/>
              <a:buFont typeface="Arial"/>
              <a:buNone/>
            </a:pPr>
            <a:r>
              <a:rPr b="0" i="0" lang="ca" sz="992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Molt dolenta: ja ha aparegut moltes vegades en filtracions.</a:t>
            </a:r>
            <a:endParaRPr b="0" i="0" sz="9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5910e6d58478add_1_24"/>
          <p:cNvSpPr/>
          <p:nvPr/>
        </p:nvSpPr>
        <p:spPr>
          <a:xfrm>
            <a:off x="5032481" y="3771867"/>
            <a:ext cx="1487400" cy="389400"/>
          </a:xfrm>
          <a:prstGeom prst="roundRect">
            <a:avLst>
              <a:gd fmla="val 9091" name="adj"/>
            </a:avLst>
          </a:prstGeom>
          <a:solidFill>
            <a:srgbClr val="DFF3E8"/>
          </a:solidFill>
          <a:ln cap="flat" cmpd="sng" w="9850">
            <a:solidFill>
              <a:srgbClr val="BDE5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h5910e6d58478add_1_24"/>
          <p:cNvSpPr/>
          <p:nvPr/>
        </p:nvSpPr>
        <p:spPr>
          <a:xfrm>
            <a:off x="5152892" y="3892278"/>
            <a:ext cx="12396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007"/>
              <a:buFont typeface="Arial"/>
              <a:buNone/>
            </a:pPr>
            <a:r>
              <a:rPr b="1" i="0" lang="ca" sz="1007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frase llarga</a:t>
            </a:r>
            <a:endParaRPr b="0" i="0" sz="10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5910e6d58478add_1_24"/>
          <p:cNvSpPr/>
          <p:nvPr/>
        </p:nvSpPr>
        <p:spPr>
          <a:xfrm>
            <a:off x="6661576" y="3821448"/>
            <a:ext cx="18060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992"/>
              <a:buFont typeface="Arial"/>
              <a:buNone/>
            </a:pPr>
            <a:r>
              <a:rPr b="0" i="0" lang="ca" sz="992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Millor si és única, llarga i guardada en un gestor de contrasenyes.</a:t>
            </a:r>
            <a:endParaRPr b="0" i="0" sz="9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h5910e6d58478add_1_24"/>
          <p:cNvSpPr/>
          <p:nvPr/>
        </p:nvSpPr>
        <p:spPr>
          <a:xfrm>
            <a:off x="5032475" y="4267275"/>
            <a:ext cx="3510900" cy="425700"/>
          </a:xfrm>
          <a:prstGeom prst="roundRect">
            <a:avLst>
              <a:gd fmla="val 11111" name="adj"/>
            </a:avLst>
          </a:prstGeom>
          <a:solidFill>
            <a:srgbClr val="EAF4FC"/>
          </a:solidFill>
          <a:ln cap="flat" cmpd="sng" w="9850">
            <a:solidFill>
              <a:srgbClr val="9C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5910e6d58478add_1_24"/>
          <p:cNvSpPr/>
          <p:nvPr/>
        </p:nvSpPr>
        <p:spPr>
          <a:xfrm>
            <a:off x="5159975" y="4473083"/>
            <a:ext cx="31875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914"/>
              <a:buFont typeface="Arial"/>
              <a:buNone/>
            </a:pPr>
            <a:r>
              <a:rPr b="1" i="0" lang="ca" sz="914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Missatge: filtració ≠ culpa de l’usuari; reutilitzar contrasenyes </a:t>
            </a:r>
            <a:r>
              <a:rPr b="1" lang="ca" sz="1614">
                <a:solidFill>
                  <a:srgbClr val="FF0000"/>
                </a:solidFill>
              </a:rPr>
              <a:t>SÍ</a:t>
            </a:r>
            <a:r>
              <a:rPr b="1" i="0" lang="ca" sz="914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 augmenta el risc.</a:t>
            </a:r>
            <a:endParaRPr b="0" i="0" sz="9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5910e6d58478add_1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617220" y="383975"/>
            <a:ext cx="439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Gestors de contrasenyes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91039" y="948322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Per què són útils quan tenim molts serveis.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91050" y="1210988"/>
            <a:ext cx="3251400" cy="3188100"/>
          </a:xfrm>
          <a:prstGeom prst="roundRect">
            <a:avLst>
              <a:gd fmla="val 127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55642" y="1375570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2.png"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05" y="1471033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1042560" y="1375570"/>
            <a:ext cx="2777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Què és un gestor?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51100" y="1985813"/>
            <a:ext cx="2889600" cy="18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33"/>
              <a:buFont typeface="Arial"/>
              <a:buNone/>
            </a:pPr>
            <a:r>
              <a:rPr b="0" i="0" lang="ca" sz="123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Programa que guarda les contrasenyes xifrades i pot omplir formularis automàticament.</a:t>
            </a:r>
            <a:endParaRPr b="0" i="0" sz="12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3"/>
              <a:buFont typeface="Arial"/>
              <a:buNone/>
            </a:pPr>
            <a:r>
              <a:t/>
            </a:r>
            <a:endParaRPr b="0" i="0" sz="12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33"/>
              <a:buFont typeface="Arial"/>
              <a:buNone/>
            </a:pPr>
            <a:r>
              <a:rPr b="0" i="0" lang="ca" sz="123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Permet tenir una contrasenya diferent i robusta per a cada servei.</a:t>
            </a:r>
            <a:endParaRPr b="0" i="0" sz="12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814525" y="1210988"/>
            <a:ext cx="4819200" cy="1116600"/>
          </a:xfrm>
          <a:prstGeom prst="roundRect">
            <a:avLst>
              <a:gd fmla="val 3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3945107" y="1375557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8-2.png" id="216" name="Google Shape;2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0630" y="1471020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4431601" y="1375563"/>
            <a:ext cx="1031400" cy="1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Bitwarden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462808" y="1375563"/>
            <a:ext cx="3171300" cy="3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     </a:t>
            </a: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Codi obert, versió gratuïta i núvol propi </a:t>
            </a:r>
            <a:endParaRPr b="0" i="0" sz="1235" u="none" cap="none" strike="noStrike">
              <a:solidFill>
                <a:srgbClr val="1C2D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     </a:t>
            </a: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opcional.</a:t>
            </a:r>
            <a:b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     Url: </a:t>
            </a:r>
            <a:r>
              <a:rPr b="0" i="0" lang="ca" sz="1235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https://bitwarden.com/es-la/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22995" y="4533680"/>
            <a:ext cx="826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11545" y="4594959"/>
            <a:ext cx="78867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4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Són exemples il·lustratius: n’hi ha molts altres i cadascun té particularitats.</a:t>
            </a:r>
            <a:endParaRPr b="0" i="0" sz="14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814525" y="2414988"/>
            <a:ext cx="4819200" cy="896100"/>
          </a:xfrm>
          <a:prstGeom prst="roundRect">
            <a:avLst>
              <a:gd fmla="val 3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8-2.png" id="222" name="Google Shape;2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0505" y="28296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4431476" y="2604675"/>
            <a:ext cx="1031400" cy="1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lang="ca" sz="1438">
                <a:solidFill>
                  <a:srgbClr val="123D6A"/>
                </a:solidFill>
              </a:rPr>
              <a:t>KeePass</a:t>
            </a:r>
            <a:endParaRPr sz="143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t/>
            </a:r>
            <a:endParaRPr b="1" sz="1438">
              <a:solidFill>
                <a:srgbClr val="123D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t/>
            </a:r>
            <a:endParaRPr b="1" sz="1438">
              <a:solidFill>
                <a:srgbClr val="123D6A"/>
              </a:solidFill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462683" y="2604675"/>
            <a:ext cx="3171300" cy="3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    </a:t>
            </a:r>
            <a:r>
              <a:rPr lang="ca" sz="1235">
                <a:solidFill>
                  <a:srgbClr val="1C2D3F"/>
                </a:solidFill>
              </a:rPr>
              <a:t>Magatzem en un fitxer local, sense núvol.</a:t>
            </a:r>
            <a:endParaRPr sz="1235">
              <a:solidFill>
                <a:srgbClr val="1C2D3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    Url: </a:t>
            </a:r>
            <a:r>
              <a:rPr lang="ca" sz="1235" u="sng">
                <a:solidFill>
                  <a:schemeClr val="hlink"/>
                </a:solidFill>
                <a:hlinkClick r:id="rId6"/>
              </a:rPr>
              <a:t>https://keepass.info/</a:t>
            </a:r>
            <a:endParaRPr sz="1235">
              <a:solidFill>
                <a:srgbClr val="1C2D3F"/>
              </a:solidFill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945107" y="2582157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8-1.png" id="226" name="Google Shape;22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40495" y="2677620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"/>
          <p:cNvSpPr/>
          <p:nvPr/>
        </p:nvSpPr>
        <p:spPr>
          <a:xfrm>
            <a:off x="3804025" y="3398500"/>
            <a:ext cx="4840200" cy="1000500"/>
          </a:xfrm>
          <a:prstGeom prst="roundRect">
            <a:avLst>
              <a:gd fmla="val 30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8-2.png" id="228" name="Google Shape;2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130" y="3884233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4378101" y="3589625"/>
            <a:ext cx="1031400" cy="1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lang="ca" sz="1438">
                <a:solidFill>
                  <a:srgbClr val="123D6A"/>
                </a:solidFill>
              </a:rPr>
              <a:t>1Password</a:t>
            </a:r>
            <a:endParaRPr b="1" sz="1438">
              <a:solidFill>
                <a:srgbClr val="123D6A"/>
              </a:solidFill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09308" y="3589625"/>
            <a:ext cx="3171300" cy="3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      </a:t>
            </a:r>
            <a:r>
              <a:rPr lang="ca" sz="1235">
                <a:solidFill>
                  <a:srgbClr val="1C2D3F"/>
                </a:solidFill>
              </a:rPr>
              <a:t>Gestor comercial molt usat en empreses.</a:t>
            </a:r>
            <a:endParaRPr sz="1235">
              <a:solidFill>
                <a:srgbClr val="1C2D3F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      Url: </a:t>
            </a:r>
            <a:r>
              <a:rPr lang="ca" sz="1235" u="sng">
                <a:solidFill>
                  <a:schemeClr val="hlink"/>
                </a:solidFill>
                <a:hlinkClick r:id="rId8"/>
              </a:rPr>
              <a:t>https://1password.com/es</a:t>
            </a:r>
            <a:endParaRPr sz="1235">
              <a:solidFill>
                <a:srgbClr val="1C2D3F"/>
              </a:solidFill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945107" y="3586207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1.png" id="232" name="Google Shape;23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40588" y="3700807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617640" y="3840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funciona un gestor de contrasenyes?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60764" y="104695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Una única contrasenya mestra desbloqueja totes les altres.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97975" y="1655950"/>
            <a:ext cx="3806100" cy="1304700"/>
          </a:xfrm>
          <a:prstGeom prst="roundRect">
            <a:avLst>
              <a:gd fmla="val 48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62567" y="1848930"/>
            <a:ext cx="397800" cy="46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1.png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30" y="1960858"/>
            <a:ext cx="206837" cy="24251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1149486" y="1848930"/>
            <a:ext cx="3017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Contrasenya mestra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49486" y="2186645"/>
            <a:ext cx="3017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rPr b="0" i="0" lang="ca" sz="128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Només cal recordar-ne una, però ha de ser molt robusta.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647074" y="1655950"/>
            <a:ext cx="3806100" cy="1304700"/>
          </a:xfrm>
          <a:prstGeom prst="roundRect">
            <a:avLst>
              <a:gd fmla="val 48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4811665" y="1848930"/>
            <a:ext cx="397800" cy="46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2.png" id="248" name="Google Shape;2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7128" y="1960858"/>
            <a:ext cx="206837" cy="24251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5298584" y="1848930"/>
            <a:ext cx="3017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Magatzem xifrat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298584" y="2186645"/>
            <a:ext cx="3017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rPr b="0" i="0" lang="ca" sz="128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La resta de contrasenyes es guarden xifrades en un “vault”.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97975" y="3184224"/>
            <a:ext cx="3806100" cy="1304700"/>
          </a:xfrm>
          <a:prstGeom prst="roundRect">
            <a:avLst>
              <a:gd fmla="val 48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69442" y="3416251"/>
            <a:ext cx="397800" cy="46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3.png"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905" y="3528179"/>
            <a:ext cx="206837" cy="24251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1156361" y="3416251"/>
            <a:ext cx="3017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Generador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156361" y="3753966"/>
            <a:ext cx="3017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rPr b="0" i="0" lang="ca" sz="128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Crea contrasenyes llargues i aleatòries per a cada servei.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647074" y="3184224"/>
            <a:ext cx="3806100" cy="1304700"/>
          </a:xfrm>
          <a:prstGeom prst="roundRect">
            <a:avLst>
              <a:gd fmla="val 4800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777392" y="3376042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18540" y="3368001"/>
            <a:ext cx="397800" cy="46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4.png" id="259" name="Google Shape;25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4003" y="3479929"/>
            <a:ext cx="206837" cy="24251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/>
          <p:nvPr/>
        </p:nvSpPr>
        <p:spPr>
          <a:xfrm>
            <a:off x="5305459" y="3368001"/>
            <a:ext cx="3017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Sincronització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305459" y="3705716"/>
            <a:ext cx="3017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88"/>
              <a:buFont typeface="Arial"/>
              <a:buNone/>
            </a:pPr>
            <a:r>
              <a:rPr b="0" i="0" lang="ca" sz="128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El magatzem xifrat es pot sincronitzar entre dispositius.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422ad8a2a2b08727_0_176"/>
          <p:cNvSpPr/>
          <p:nvPr/>
        </p:nvSpPr>
        <p:spPr>
          <a:xfrm>
            <a:off x="617640" y="3840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funciona un gestor de contrasenyes?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oce cómo funciona Bitwarden, qué opciones de seguridad ofrece y cuánto cuesta proteger todas tus cuentas. Ideal para uso personal y profesional. 👍&#10;&#10;&#10;&#10;📩 Correo de contacto para marcas: contact@1clicktutorial.com 📧&#10;&#10;Optimiza tu tiempo con la IA, accede a tu audio privado y a un pequeño regalo.&#10;https://1clicktutorial.com/es" id="269" name="Google Shape;269;h422ad8a2a2b08727_0_176" title="BITWARDEN : CÓMO FUNCIONA, PROTEGE y CUÁNTO CUESTA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9925" y="1685237"/>
            <a:ext cx="4384150" cy="2466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0" name="Google Shape;270;h422ad8a2a2b08727_0_176"/>
          <p:cNvSpPr txBox="1"/>
          <p:nvPr/>
        </p:nvSpPr>
        <p:spPr>
          <a:xfrm>
            <a:off x="455400" y="1057900"/>
            <a:ext cx="82332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238">
                <a:solidFill>
                  <a:srgbClr val="008DD2"/>
                </a:solidFill>
              </a:rPr>
              <a:t>Aquí</a:t>
            </a:r>
            <a:r>
              <a:rPr lang="ca" sz="1238">
                <a:solidFill>
                  <a:srgbClr val="008DD2"/>
                </a:solidFill>
              </a:rPr>
              <a:t> podem veure un </a:t>
            </a:r>
            <a:r>
              <a:rPr lang="ca" sz="1238">
                <a:solidFill>
                  <a:srgbClr val="008DD2"/>
                </a:solidFill>
              </a:rPr>
              <a:t>vídeo</a:t>
            </a:r>
            <a:r>
              <a:rPr lang="ca" sz="1238">
                <a:solidFill>
                  <a:srgbClr val="008DD2"/>
                </a:solidFill>
              </a:rPr>
              <a:t> interessant explicatiu sobre el gestor de contrasenyes Bitwarden:</a:t>
            </a:r>
            <a:endParaRPr sz="1238">
              <a:solidFill>
                <a:schemeClr val="dk1"/>
              </a:solidFill>
            </a:endParaRPr>
          </a:p>
        </p:txBody>
      </p:sp>
      <p:sp>
        <p:nvSpPr>
          <p:cNvPr id="271" name="Google Shape;271;h422ad8a2a2b08727_0_1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626865" y="37084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Gestors: avantatges i precaucions</a:t>
            </a:r>
            <a:endParaRPr b="1" i="0" sz="1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14350" y="1062990"/>
            <a:ext cx="3909000" cy="3223200"/>
          </a:xfrm>
          <a:prstGeom prst="roundRect">
            <a:avLst>
              <a:gd fmla="val 1277" name="adj"/>
            </a:avLst>
          </a:prstGeom>
          <a:solidFill>
            <a:srgbClr val="EAF7EF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78942" y="122758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280" name="Google Shape;2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05" y="132304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/>
          <p:nvPr/>
        </p:nvSpPr>
        <p:spPr>
          <a:xfrm>
            <a:off x="1165860" y="1227582"/>
            <a:ext cx="3120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125"/>
              <a:buFont typeface="Arial"/>
              <a:buNone/>
            </a:pPr>
            <a:r>
              <a:rPr b="1" i="0" lang="ca" sz="1425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Avantatges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26875" y="1894450"/>
            <a:ext cx="37965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Font typeface="Arial"/>
              <a:buChar char="●"/>
            </a:pPr>
            <a: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Contrasenya diferent i robusta per servei.</a:t>
            </a:r>
            <a:b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Font typeface="Arial"/>
              <a:buChar char="●"/>
            </a:pPr>
            <a: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Detecta contrasenyes repetides o filtrades.</a:t>
            </a:r>
            <a:b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Font typeface="Arial"/>
              <a:buChar char="●"/>
            </a:pPr>
            <a: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Omple formularis automàticament.</a:t>
            </a:r>
            <a:b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Font typeface="Arial"/>
              <a:buChar char="●"/>
            </a:pPr>
            <a: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Permet compartir accessos sense revelar contrasenyes.</a:t>
            </a:r>
            <a:br>
              <a:rPr b="0" i="0" lang="ca" sz="12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697730" y="1062990"/>
            <a:ext cx="3909000" cy="3223200"/>
          </a:xfrm>
          <a:prstGeom prst="roundRect">
            <a:avLst>
              <a:gd fmla="val 1277" name="adj"/>
            </a:avLst>
          </a:prstGeom>
          <a:solidFill>
            <a:srgbClr val="FFF4DA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862322" y="122758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4-1.png" id="285" name="Google Shape;2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785" y="132304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/>
          <p:nvPr/>
        </p:nvSpPr>
        <p:spPr>
          <a:xfrm>
            <a:off x="5349240" y="1227582"/>
            <a:ext cx="3120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125"/>
              <a:buFont typeface="Arial"/>
              <a:buNone/>
            </a:pPr>
            <a:r>
              <a:rPr b="1" i="0" lang="ca" sz="1425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Precaucions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804748" y="1817350"/>
            <a:ext cx="3621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Char char="●"/>
            </a:pPr>
            <a:r>
              <a:rPr lang="ca" sz="1240">
                <a:solidFill>
                  <a:srgbClr val="1C2D3F"/>
                </a:solidFill>
              </a:rPr>
              <a:t>La contrasenya mestra és un punt crític.</a:t>
            </a:r>
            <a:br>
              <a:rPr lang="ca" sz="1240">
                <a:solidFill>
                  <a:srgbClr val="1C2D3F"/>
                </a:solidFill>
              </a:rPr>
            </a:br>
            <a:endParaRPr sz="1240">
              <a:solidFill>
                <a:srgbClr val="1C2D3F"/>
              </a:solidFill>
            </a:endParaRPr>
          </a:p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Char char="●"/>
            </a:pPr>
            <a:r>
              <a:rPr lang="ca" sz="1240">
                <a:solidFill>
                  <a:srgbClr val="1C2D3F"/>
                </a:solidFill>
              </a:rPr>
              <a:t>Cal activar autenticació multifactor al gestor.</a:t>
            </a:r>
            <a:br>
              <a:rPr lang="ca" sz="1240">
                <a:solidFill>
                  <a:srgbClr val="1C2D3F"/>
                </a:solidFill>
              </a:rPr>
            </a:br>
            <a:endParaRPr sz="1240">
              <a:solidFill>
                <a:srgbClr val="1C2D3F"/>
              </a:solidFill>
            </a:endParaRPr>
          </a:p>
          <a:p>
            <a:pPr indent="-3073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40"/>
              <a:buChar char="●"/>
            </a:pPr>
            <a:r>
              <a:rPr lang="ca" sz="1240">
                <a:solidFill>
                  <a:srgbClr val="1C2D3F"/>
                </a:solidFill>
              </a:rPr>
              <a:t>Cal fer còpia de seguretat o exportació segura.</a:t>
            </a:r>
            <a:br>
              <a:rPr b="0" i="0" lang="ca" sz="84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>
            <a:off x="617215" y="383954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Sistemes biomètrics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25189" y="94460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Autenticar amb el propi cos o comportament.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66300" y="1368150"/>
            <a:ext cx="2811900" cy="2763900"/>
          </a:xfrm>
          <a:prstGeom prst="roundRect">
            <a:avLst>
              <a:gd fmla="val 1463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630892" y="153273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2-1.png" id="298" name="Google Shape;2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355" y="16281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1117810" y="1532732"/>
            <a:ext cx="20232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Què són?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66300" y="2118750"/>
            <a:ext cx="27333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-30686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33"/>
              <a:buFont typeface="Arial"/>
              <a:buChar char="●"/>
            </a:pPr>
            <a:r>
              <a:rPr b="0" i="0" lang="ca" sz="123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Verifiquen la identitat mitjançant l’anàlisi d’atributs físics o del comportament. </a:t>
            </a:r>
            <a:endParaRPr b="0" i="0" sz="1233" u="none" cap="none" strike="noStrike">
              <a:solidFill>
                <a:srgbClr val="1C2D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86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1233"/>
              <a:buChar char="●"/>
            </a:pPr>
            <a:r>
              <a:rPr lang="ca" sz="1233">
                <a:solidFill>
                  <a:srgbClr val="1C2D3F"/>
                </a:solidFill>
              </a:rPr>
              <a:t>Poden complementar altres sistemes d'autenticació o facilitar l'accés als dispositius.</a:t>
            </a:r>
            <a:endParaRPr sz="1233">
              <a:solidFill>
                <a:srgbClr val="1C2D3F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33"/>
              <a:buFont typeface="Arial"/>
              <a:buNone/>
            </a:pPr>
            <a:r>
              <a:t/>
            </a:r>
            <a:endParaRPr sz="1233">
              <a:solidFill>
                <a:srgbClr val="1C2D3F"/>
              </a:solidFill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483815" y="1368150"/>
            <a:ext cx="2400300" cy="2763900"/>
          </a:xfrm>
          <a:prstGeom prst="roundRect">
            <a:avLst>
              <a:gd fmla="val 171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3648412" y="153273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3-3.png" id="303" name="Google Shape;3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3875" y="16281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4135330" y="1532732"/>
            <a:ext cx="1611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Atribut físic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648400" y="2142975"/>
            <a:ext cx="19443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33"/>
              <a:buFont typeface="Arial"/>
              <a:buNone/>
            </a:pPr>
            <a:r>
              <a:rPr b="0" i="0" lang="ca" sz="123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Alguna cosa que l’usuari és: empremta dactilar, retina, iris o cara.</a:t>
            </a:r>
            <a:endParaRPr b="0" i="0" sz="12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089851" y="1368150"/>
            <a:ext cx="2469000" cy="2763900"/>
          </a:xfrm>
          <a:prstGeom prst="roundRect">
            <a:avLst>
              <a:gd fmla="val 166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254452" y="153273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2-2.png" id="308" name="Google Shape;30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9915" y="16281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/>
          <p:nvPr/>
        </p:nvSpPr>
        <p:spPr>
          <a:xfrm>
            <a:off x="6741370" y="1532732"/>
            <a:ext cx="1680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Comportament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254450" y="2170125"/>
            <a:ext cx="22494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33"/>
              <a:buFont typeface="Arial"/>
              <a:buNone/>
            </a:pPr>
            <a:r>
              <a:rPr lang="ca" sz="1233">
                <a:solidFill>
                  <a:srgbClr val="1C2D3F"/>
                </a:solidFill>
              </a:rPr>
              <a:t>Identifica patrons com la manera d'escriure amb el teclat, utilitzar el ratolí o caminar.</a:t>
            </a:r>
            <a:endParaRPr b="0" i="0" sz="1233" u="none" cap="none" strike="noStrike">
              <a:solidFill>
                <a:srgbClr val="1C2D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33"/>
              <a:buFont typeface="Arial"/>
              <a:buNone/>
            </a:pPr>
            <a:r>
              <a:rPr b="0" i="0" lang="ca" sz="123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Pot canviar amb el temps.</a:t>
            </a:r>
            <a:endParaRPr b="0" i="0" sz="12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45770" y="4354830"/>
            <a:ext cx="826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617220" y="4443984"/>
            <a:ext cx="78867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2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Funcionament: s’escaneja el patró i es compara amb una mostra model enregistrada prèviament.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/>
          <p:nvPr/>
        </p:nvSpPr>
        <p:spPr>
          <a:xfrm>
            <a:off x="617215" y="361616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Tipus de sistemes biomètrics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45750" y="1150400"/>
            <a:ext cx="2618400" cy="13197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08987" y="1445793"/>
            <a:ext cx="394500" cy="438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2-1.png"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664" y="1551015"/>
            <a:ext cx="205134" cy="22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1"/>
          <p:cNvSpPr/>
          <p:nvPr/>
        </p:nvSpPr>
        <p:spPr>
          <a:xfrm>
            <a:off x="1091896" y="1445793"/>
            <a:ext cx="18363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Empremta dactilar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091896" y="1763274"/>
            <a:ext cx="18363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Relleu dels dits de la mà. Característica única.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268387" y="1150400"/>
            <a:ext cx="2618400" cy="13197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3431623" y="1445793"/>
            <a:ext cx="394500" cy="438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3-2.png" id="327" name="Google Shape;3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300" y="1551015"/>
            <a:ext cx="205134" cy="22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/>
          <p:nvPr/>
        </p:nvSpPr>
        <p:spPr>
          <a:xfrm>
            <a:off x="3914531" y="1445793"/>
            <a:ext cx="18363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Palmell de la mà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914531" y="1763274"/>
            <a:ext cx="18363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Forma de la mà, línies del palmell o patrons de les venes.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091025" y="1150400"/>
            <a:ext cx="2618400" cy="13197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t/>
            </a:r>
            <a:endParaRPr sz="1235">
              <a:solidFill>
                <a:srgbClr val="1C2D3F"/>
              </a:solidFill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254258" y="1445793"/>
            <a:ext cx="394500" cy="438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3-3.png" id="332" name="Google Shape;3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8935" y="1551015"/>
            <a:ext cx="205134" cy="22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6737171" y="1357322"/>
            <a:ext cx="1836300" cy="23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Retina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737167" y="1763274"/>
            <a:ext cx="18363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lang="ca" sz="1235">
                <a:solidFill>
                  <a:srgbClr val="1C2D3F"/>
                </a:solidFill>
              </a:rPr>
              <a:t>Patró dels vasos sanguinis, capturat amb llum.</a:t>
            </a:r>
            <a:endParaRPr sz="1235">
              <a:solidFill>
                <a:srgbClr val="1C2D3F"/>
              </a:solidFill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704034" y="2659204"/>
            <a:ext cx="2618400" cy="11637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1867270" y="2768632"/>
            <a:ext cx="394500" cy="438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3-3.png" id="337" name="Google Shape;33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1947" y="2873854"/>
            <a:ext cx="205134" cy="22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1"/>
          <p:cNvSpPr/>
          <p:nvPr/>
        </p:nvSpPr>
        <p:spPr>
          <a:xfrm>
            <a:off x="2350179" y="2768632"/>
            <a:ext cx="18363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Iris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2350179" y="3086113"/>
            <a:ext cx="18363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Porció acolorida de l’ull: anells i colors.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628703" y="2659217"/>
            <a:ext cx="2910000" cy="11637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791929" y="2768632"/>
            <a:ext cx="394500" cy="438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3-5.png" id="342" name="Google Shape;34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6606" y="2873854"/>
            <a:ext cx="205134" cy="22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/>
          <p:nvPr/>
        </p:nvSpPr>
        <p:spPr>
          <a:xfrm>
            <a:off x="5274854" y="2768626"/>
            <a:ext cx="244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Reconeixement facial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274838" y="3086113"/>
            <a:ext cx="18363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Estructura òssia i distàncies de la cara.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45770" y="4011930"/>
            <a:ext cx="826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617220" y="4101084"/>
            <a:ext cx="78867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2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Els sistemes basats en comportament poden variar amb el temps o ser falsificats.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/>
          <p:nvPr/>
        </p:nvSpPr>
        <p:spPr>
          <a:xfrm>
            <a:off x="514340" y="4170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Errors dels sistemes biomètrics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377189" y="101375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No són infal·libles.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97275" y="1473325"/>
            <a:ext cx="3566100" cy="2376600"/>
          </a:xfrm>
          <a:prstGeom prst="roundRect">
            <a:avLst>
              <a:gd fmla="val 1818" name="adj"/>
            </a:avLst>
          </a:prstGeom>
          <a:solidFill>
            <a:srgbClr val="FCE9EC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861867" y="1646157"/>
            <a:ext cx="397800" cy="417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1.png" id="357" name="Google Shape;3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330" y="1746400"/>
            <a:ext cx="206837" cy="21719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348785" y="1646157"/>
            <a:ext cx="2777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200"/>
              <a:buFont typeface="Arial"/>
              <a:buNone/>
            </a:pPr>
            <a:r>
              <a:rPr b="1" i="0" lang="ca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Fals positiu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302550" y="2063761"/>
            <a:ext cx="2777400" cy="17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900"/>
              <a:buFont typeface="Arial"/>
              <a:buNone/>
            </a:pPr>
            <a:r>
              <a:rPr b="0" i="0" lang="ca" sz="120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El sistema accepta un impostor que hauria d’haver estat denegat. És l’error més perillós per a la seguretat.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880652" y="1473325"/>
            <a:ext cx="3566100" cy="2376600"/>
          </a:xfrm>
          <a:prstGeom prst="roundRect">
            <a:avLst>
              <a:gd fmla="val 1818" name="adj"/>
            </a:avLst>
          </a:prstGeom>
          <a:solidFill>
            <a:srgbClr val="FFF4DA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5045244" y="1646157"/>
            <a:ext cx="397800" cy="4176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362" name="Google Shape;3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707" y="1746400"/>
            <a:ext cx="206837" cy="217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2"/>
          <p:cNvSpPr/>
          <p:nvPr/>
        </p:nvSpPr>
        <p:spPr>
          <a:xfrm>
            <a:off x="5532162" y="1646157"/>
            <a:ext cx="2777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200"/>
              <a:buFont typeface="Arial"/>
              <a:buNone/>
            </a:pPr>
            <a:r>
              <a:rPr b="1" i="0" lang="ca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Fals negatiu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485937" y="2063764"/>
            <a:ext cx="2777400" cy="19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900"/>
              <a:buFont typeface="Arial"/>
              <a:buNone/>
            </a:pPr>
            <a:r>
              <a:rPr b="0" i="0" lang="ca" sz="120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El sistema denega l’accés a un usuari legítim. Genera problemes d’ús i pot bloquejar persones autoritzades.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422ad8a2a2b08727_0_209"/>
          <p:cNvSpPr/>
          <p:nvPr/>
        </p:nvSpPr>
        <p:spPr>
          <a:xfrm>
            <a:off x="514340" y="4170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Errors dels sistemes biomètrics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h422ad8a2a2b08727_0_209"/>
          <p:cNvSpPr/>
          <p:nvPr/>
        </p:nvSpPr>
        <p:spPr>
          <a:xfrm>
            <a:off x="377189" y="101375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No són infal·libles.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h422ad8a2a2b08727_0_209"/>
          <p:cNvSpPr txBox="1"/>
          <p:nvPr/>
        </p:nvSpPr>
        <p:spPr>
          <a:xfrm>
            <a:off x="439750" y="1553625"/>
            <a:ext cx="8104500" cy="27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Els sistemes comparen amb un </a:t>
            </a:r>
            <a:r>
              <a:rPr b="1" lang="ca">
                <a:solidFill>
                  <a:schemeClr val="dk1"/>
                </a:solidFill>
              </a:rPr>
              <a:t>llindar de similitud</a:t>
            </a:r>
            <a:r>
              <a:rPr lang="ca">
                <a:solidFill>
                  <a:schemeClr val="dk1"/>
                </a:solidFill>
              </a:rPr>
              <a:t>: si el baixes, augmentes els fals positius; si el puges, augmentes els fals negatius.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La </a:t>
            </a:r>
            <a:r>
              <a:rPr b="1" lang="ca">
                <a:solidFill>
                  <a:schemeClr val="dk1"/>
                </a:solidFill>
              </a:rPr>
              <a:t>qualitat de la captura</a:t>
            </a:r>
            <a:r>
              <a:rPr lang="ca">
                <a:solidFill>
                  <a:schemeClr val="dk1"/>
                </a:solidFill>
              </a:rPr>
              <a:t> (llum, angle, sensor brut) empitjora el resultat.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Alguns algorismes funcionen pitjor amb certs grups de població, </a:t>
            </a:r>
            <a:r>
              <a:rPr b="1" lang="ca">
                <a:solidFill>
                  <a:schemeClr val="dk1"/>
                </a:solidFill>
              </a:rPr>
              <a:t>perquè s'han entrenat amb dades poc diverses.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En </a:t>
            </a:r>
            <a:r>
              <a:rPr b="1" lang="ca">
                <a:solidFill>
                  <a:schemeClr val="dk1"/>
                </a:solidFill>
              </a:rPr>
              <a:t>identificació 1:N</a:t>
            </a:r>
            <a:r>
              <a:rPr lang="ca">
                <a:solidFill>
                  <a:schemeClr val="dk1"/>
                </a:solidFill>
              </a:rPr>
              <a:t> (buscar una persona en una base de dades molt gran) hi ha més oportunitats de coincidències falses que en una verificació 1:1 (com desbloquejar el teu mòbil).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4" name="Google Shape;374;h422ad8a2a2b08727_0_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422ad8a2a2b08727_0_229"/>
          <p:cNvSpPr/>
          <p:nvPr/>
        </p:nvSpPr>
        <p:spPr>
          <a:xfrm>
            <a:off x="514340" y="4170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Errors dels sistemes biomètrics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h422ad8a2a2b08727_0_229"/>
          <p:cNvSpPr/>
          <p:nvPr/>
        </p:nvSpPr>
        <p:spPr>
          <a:xfrm>
            <a:off x="377189" y="101375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No són infal·libles.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h422ad8a2a2b08727_0_229"/>
          <p:cNvSpPr txBox="1"/>
          <p:nvPr/>
        </p:nvSpPr>
        <p:spPr>
          <a:xfrm>
            <a:off x="439750" y="1307600"/>
            <a:ext cx="8104500" cy="323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FAR · Taxa de falsos acceptaments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200">
                <a:solidFill>
                  <a:schemeClr val="dk1"/>
                </a:solidFill>
              </a:rPr>
              <a:t>Proporció d'intents d'accés d'impostors que el sistema accepta incorrectament.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ca" sz="1200">
                <a:solidFill>
                  <a:schemeClr val="dk1"/>
                </a:solidFill>
              </a:rPr>
              <a:t>FRR · Taxa de falsos rebutjos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200">
                <a:solidFill>
                  <a:schemeClr val="dk1"/>
                </a:solidFill>
              </a:rPr>
              <a:t>Proporció d'intents d'accés d'usuaris legítims que el sistema rebutja incorrectament.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200">
                <a:solidFill>
                  <a:schemeClr val="dk1"/>
                </a:solidFill>
              </a:rPr>
              <a:t>Exemples quotidians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200">
                <a:solidFill>
                  <a:schemeClr val="dk1"/>
                </a:solidFill>
              </a:rPr>
              <a:t>Fals positiu: un sistema de reconeixement facial poc robust accepta una altra persona.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200">
                <a:solidFill>
                  <a:schemeClr val="dk1"/>
                </a:solidFill>
              </a:rPr>
              <a:t>Fals negatiu: un lector d'empremtes no reconeix el propietari perquè té el dit mullat o el sensor brut.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83" name="Google Shape;383;h422ad8a2a2b08727_0_2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/>
          <p:nvPr/>
        </p:nvSpPr>
        <p:spPr>
          <a:xfrm>
            <a:off x="514340" y="383954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Autenticació d’usuaris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425189" y="954934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Demostrar que ets qui dius que ets abans d’accedir a un recurs.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514300" y="1388800"/>
            <a:ext cx="2469000" cy="2684400"/>
          </a:xfrm>
          <a:prstGeom prst="roundRect">
            <a:avLst>
              <a:gd fmla="val 166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637744" y="1496331"/>
            <a:ext cx="288000" cy="2508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637744" y="1538145"/>
            <a:ext cx="288000" cy="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78892" y="1532171"/>
            <a:ext cx="397800" cy="34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6-1.png" id="395" name="Google Shape;3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355" y="1615322"/>
            <a:ext cx="206837" cy="1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65810" y="1532171"/>
            <a:ext cx="1680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Identificació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165825" y="2003728"/>
            <a:ext cx="1680300" cy="14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L’usuari diu qui és.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Exemple: nom d’usuari o número de compte.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3326075" y="1388800"/>
            <a:ext cx="2469000" cy="2684400"/>
          </a:xfrm>
          <a:prstGeom prst="roundRect">
            <a:avLst>
              <a:gd fmla="val 166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3449523" y="1496331"/>
            <a:ext cx="288000" cy="2508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3449523" y="1538145"/>
            <a:ext cx="288000" cy="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3490671" y="1532171"/>
            <a:ext cx="397800" cy="34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2.png"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6134" y="1615322"/>
            <a:ext cx="206837" cy="1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/>
          <p:nvPr/>
        </p:nvSpPr>
        <p:spPr>
          <a:xfrm>
            <a:off x="3977589" y="1532171"/>
            <a:ext cx="1680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5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Autenticació</a:t>
            </a:r>
            <a:endParaRPr b="0" i="0" sz="15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3977600" y="2003725"/>
            <a:ext cx="1797900" cy="1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El sistema comprova que realment és aquesta persona.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Exemple: contrasenya, atribut físic o una altra prova.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6137850" y="1388800"/>
            <a:ext cx="2469000" cy="2684400"/>
          </a:xfrm>
          <a:prstGeom prst="roundRect">
            <a:avLst>
              <a:gd fmla="val 166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6261302" y="1496331"/>
            <a:ext cx="288000" cy="2508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6261302" y="1538145"/>
            <a:ext cx="288000" cy="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302450" y="1532171"/>
            <a:ext cx="397800" cy="3465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409" name="Google Shape;4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7913" y="1615322"/>
            <a:ext cx="206837" cy="1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3"/>
          <p:cNvSpPr/>
          <p:nvPr/>
        </p:nvSpPr>
        <p:spPr>
          <a:xfrm>
            <a:off x="6789368" y="1532171"/>
            <a:ext cx="1680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Autorització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6789375" y="2003726"/>
            <a:ext cx="1680300" cy="19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Un cop validat l’usuari, el sistema comprova què pot fer sobre cada recurs.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45770" y="4354830"/>
            <a:ext cx="826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617220" y="4443984"/>
            <a:ext cx="78867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2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Seqüència: primer identificar-se, després autenticar-se i finalment comprovar els drets d’accés.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"/>
          <p:cNvSpPr/>
          <p:nvPr/>
        </p:nvSpPr>
        <p:spPr>
          <a:xfrm>
            <a:off x="599990" y="39859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Identificació: tres aspectes clau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14350" y="1200150"/>
            <a:ext cx="2537400" cy="2606100"/>
          </a:xfrm>
          <a:prstGeom prst="roundRect">
            <a:avLst>
              <a:gd fmla="val 1622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637794" y="1323594"/>
            <a:ext cx="288000" cy="288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637794" y="1371600"/>
            <a:ext cx="288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678942" y="136474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6-1.png" id="425" name="Google Shape;4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05" y="14602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4"/>
          <p:cNvSpPr/>
          <p:nvPr/>
        </p:nvSpPr>
        <p:spPr>
          <a:xfrm>
            <a:off x="1165860" y="136474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Unicitat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1165850" y="1861997"/>
            <a:ext cx="17487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lang="ca" sz="1225">
                <a:solidFill>
                  <a:srgbClr val="1C2D3F"/>
                </a:solidFill>
              </a:rPr>
              <a:t>Cada usuari ha de tenir un identificador diferent dins del sistema.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3291840" y="1200150"/>
            <a:ext cx="2537400" cy="2606100"/>
          </a:xfrm>
          <a:prstGeom prst="roundRect">
            <a:avLst>
              <a:gd fmla="val 1622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3415284" y="1323594"/>
            <a:ext cx="288000" cy="288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3415284" y="1371600"/>
            <a:ext cx="288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3456432" y="136474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7-2.png" id="432" name="Google Shape;4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1895" y="14602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/>
          <p:nvPr/>
        </p:nvSpPr>
        <p:spPr>
          <a:xfrm>
            <a:off x="3943350" y="136474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No descriptiva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3854225" y="1862000"/>
            <a:ext cx="1926300" cy="18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lang="ca" sz="1225">
                <a:solidFill>
                  <a:srgbClr val="1C2D3F"/>
                </a:solidFill>
              </a:rPr>
              <a:t>El nom d'usuari no hauria de revelar privilegis o funcions sensibles del compte. Evitem identificadors previsibles com «admin» o «webadmin»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069325" y="1200150"/>
            <a:ext cx="2640300" cy="2606100"/>
          </a:xfrm>
          <a:prstGeom prst="roundRect">
            <a:avLst>
              <a:gd fmla="val 1622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6192774" y="1323594"/>
            <a:ext cx="288000" cy="288000"/>
          </a:xfrm>
          <a:prstGeom prst="ellipse">
            <a:avLst/>
          </a:prstGeom>
          <a:solidFill>
            <a:srgbClr val="008DD2"/>
          </a:solidFill>
          <a:ln cap="flat" cmpd="sng" w="952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6192774" y="1371600"/>
            <a:ext cx="288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6233922" y="136474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439" name="Google Shape;43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385" y="14602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4"/>
          <p:cNvSpPr/>
          <p:nvPr/>
        </p:nvSpPr>
        <p:spPr>
          <a:xfrm>
            <a:off x="6720851" y="1364750"/>
            <a:ext cx="188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lang="ca" sz="1438">
                <a:solidFill>
                  <a:srgbClr val="123D6A"/>
                </a:solidFill>
              </a:rPr>
              <a:t>Gestió dels comptes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6720845" y="1861997"/>
            <a:ext cx="17487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lang="ca" sz="1225">
                <a:solidFill>
                  <a:srgbClr val="1C2D3F"/>
                </a:solidFill>
              </a:rPr>
              <a:t>Cal crear, modificar i desactivar els comptes segons les necessitats.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45775" y="3939231"/>
            <a:ext cx="8263800" cy="7446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617225" y="4089559"/>
            <a:ext cx="788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lang="ca" sz="1388">
                <a:solidFill>
                  <a:srgbClr val="123D6A"/>
                </a:solidFill>
              </a:rPr>
              <a:t>Exemple de convenció pràctica </a:t>
            </a:r>
            <a:r>
              <a:rPr b="1" i="0" lang="ca" sz="13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: nom d’usuari = nom + punt + primer cognom, sense accents ni caràcters especials.</a:t>
            </a:r>
            <a:endParaRPr b="0" i="0" sz="13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15"/>
          <p:cNvCxnSpPr/>
          <p:nvPr/>
        </p:nvCxnSpPr>
        <p:spPr>
          <a:xfrm>
            <a:off x="720090" y="4882896"/>
            <a:ext cx="6789300" cy="0"/>
          </a:xfrm>
          <a:prstGeom prst="straightConnector1">
            <a:avLst/>
          </a:prstGeom>
          <a:noFill/>
          <a:ln cap="flat" cmpd="sng" w="95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5"/>
          <p:cNvSpPr/>
          <p:nvPr/>
        </p:nvSpPr>
        <p:spPr>
          <a:xfrm>
            <a:off x="562340" y="389366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Els tres factors d’autenticació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14350" y="1200150"/>
            <a:ext cx="2537400" cy="2281800"/>
          </a:xfrm>
          <a:prstGeom prst="roundRect">
            <a:avLst>
              <a:gd fmla="val 16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678942" y="136474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1.png" id="454" name="Google Shape;4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05" y="14602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5"/>
          <p:cNvSpPr/>
          <p:nvPr/>
        </p:nvSpPr>
        <p:spPr>
          <a:xfrm>
            <a:off x="1165860" y="136474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5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Alguna cosa que saps</a:t>
            </a:r>
            <a:endParaRPr b="0" i="0" sz="15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165850" y="2038176"/>
            <a:ext cx="1748700" cy="1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Coneixement: una contrasenya o </a:t>
            </a:r>
            <a:r>
              <a:rPr lang="ca" sz="1225">
                <a:solidFill>
                  <a:srgbClr val="1C2D3F"/>
                </a:solidFill>
              </a:rPr>
              <a:t>PIN</a:t>
            </a: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. Econòmic, però algú pot esbrinar-la.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3291838" y="1200150"/>
            <a:ext cx="2537400" cy="2281800"/>
          </a:xfrm>
          <a:prstGeom prst="roundRect">
            <a:avLst>
              <a:gd fmla="val 16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3456432" y="136474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6-1.png" id="459" name="Google Shape;4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1895" y="14602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5"/>
          <p:cNvSpPr/>
          <p:nvPr/>
        </p:nvSpPr>
        <p:spPr>
          <a:xfrm>
            <a:off x="3943350" y="136474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Alguna cosa que tens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3854225" y="2019646"/>
            <a:ext cx="174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Possessió: una clau, targeta o dispositiu. Es pot perdre o robar.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6069327" y="1200150"/>
            <a:ext cx="2537400" cy="2281800"/>
          </a:xfrm>
          <a:prstGeom prst="roundRect">
            <a:avLst>
              <a:gd fmla="val 16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6233922" y="136474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2-1.png" id="464" name="Google Shape;4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385" y="14602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5"/>
          <p:cNvSpPr/>
          <p:nvPr/>
        </p:nvSpPr>
        <p:spPr>
          <a:xfrm>
            <a:off x="6720840" y="136474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Alguna cosa que ets o fas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631725" y="2029851"/>
            <a:ext cx="17487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Característica: empremta digital, retina, veu o comportament.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445775" y="3627528"/>
            <a:ext cx="8263800" cy="10563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617225" y="3668825"/>
            <a:ext cx="80424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1388">
                <a:solidFill>
                  <a:srgbClr val="123D6A"/>
                </a:solidFill>
              </a:rPr>
              <a:t>L'autenticació multifactor combina factors de categories diferents, per exemple, una contrasenya i una targeta. Dues contrasenyes no constitueixen dos factors diferents.</a:t>
            </a:r>
            <a:endParaRPr b="1" sz="1388">
              <a:solidFill>
                <a:srgbClr val="123D6A"/>
              </a:solidFill>
            </a:endParaRPr>
          </a:p>
        </p:txBody>
      </p:sp>
      <p:sp>
        <p:nvSpPr>
          <p:cNvPr id="469" name="Google Shape;4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"/>
          <p:cNvSpPr/>
          <p:nvPr/>
        </p:nvSpPr>
        <p:spPr>
          <a:xfrm>
            <a:off x="608390" y="389366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Autorització: què pot fer cada usuari?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514350" y="1131570"/>
            <a:ext cx="3977700" cy="3086100"/>
          </a:xfrm>
          <a:prstGeom prst="roundRect">
            <a:avLst>
              <a:gd fmla="val 1333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678942" y="129616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2.png" id="478" name="Google Shape;4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05" y="139162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6"/>
          <p:cNvSpPr/>
          <p:nvPr/>
        </p:nvSpPr>
        <p:spPr>
          <a:xfrm>
            <a:off x="1165860" y="1296162"/>
            <a:ext cx="3189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Definició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1119625" y="1907850"/>
            <a:ext cx="31890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L’autorització és la concessió d’un dret o permís perquè un usuari </a:t>
            </a:r>
            <a:endParaRPr sz="1225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accedeixi a un recurs del sistema.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L’administrador restringeix l’accés i limita què pot fer cada tipus d’usuari.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4732020" y="1131570"/>
            <a:ext cx="3771900" cy="3086100"/>
          </a:xfrm>
          <a:prstGeom prst="roundRect">
            <a:avLst>
              <a:gd fmla="val 1333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4896612" y="129616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7-1.png" id="483" name="Google Shape;4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2075" y="139162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6"/>
          <p:cNvSpPr/>
          <p:nvPr/>
        </p:nvSpPr>
        <p:spPr>
          <a:xfrm>
            <a:off x="5383530" y="1296162"/>
            <a:ext cx="29832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5383525" y="1907849"/>
            <a:ext cx="29832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Joan s’ha identificat i autenticat correctament i vol obrir un fitxer.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El sistema comprova si Joan té autorització: si sí, el veu; si no, rep un missatge d’error.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"/>
          <p:cNvSpPr/>
          <p:nvPr/>
        </p:nvSpPr>
        <p:spPr>
          <a:xfrm>
            <a:off x="617640" y="383954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Criteris d’accés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05764" y="91750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Condicions que poden determinar l’accés a un recurs.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05775" y="1414400"/>
            <a:ext cx="2640300" cy="12282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570367" y="1604143"/>
            <a:ext cx="397800" cy="4587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7-1.png" id="496" name="Google Shape;4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830" y="1714192"/>
            <a:ext cx="206837" cy="23844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7"/>
          <p:cNvSpPr/>
          <p:nvPr/>
        </p:nvSpPr>
        <p:spPr>
          <a:xfrm>
            <a:off x="1057286" y="1604143"/>
            <a:ext cx="185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Rols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1057286" y="1936190"/>
            <a:ext cx="185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Segons la tasca o funció: ex: auditor només lectura.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3251849" y="1414400"/>
            <a:ext cx="2640300" cy="12282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3416441" y="1604143"/>
            <a:ext cx="397800" cy="4587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2.png" id="501" name="Google Shape;5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1904" y="1714192"/>
            <a:ext cx="206837" cy="238442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7"/>
          <p:cNvSpPr/>
          <p:nvPr/>
        </p:nvSpPr>
        <p:spPr>
          <a:xfrm>
            <a:off x="3903359" y="1604143"/>
            <a:ext cx="185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Grups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3903359" y="1936190"/>
            <a:ext cx="185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Usuaris semblants: “alumnat” o “professorat”.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6097924" y="1414400"/>
            <a:ext cx="2640300" cy="12282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6262514" y="1604143"/>
            <a:ext cx="397800" cy="4587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3.png" id="506" name="Google Shape;5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977" y="1714192"/>
            <a:ext cx="206837" cy="238442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7"/>
          <p:cNvSpPr/>
          <p:nvPr/>
        </p:nvSpPr>
        <p:spPr>
          <a:xfrm>
            <a:off x="6749433" y="1604143"/>
            <a:ext cx="185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Localització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749433" y="1936190"/>
            <a:ext cx="185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Física o lògica: des d’on o des de quina IP.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1674500" y="2797924"/>
            <a:ext cx="2640300" cy="11442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1839099" y="2987673"/>
            <a:ext cx="397800" cy="4587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4.png" id="511" name="Google Shape;51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4562" y="3097723"/>
            <a:ext cx="206837" cy="238442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7"/>
          <p:cNvSpPr/>
          <p:nvPr/>
        </p:nvSpPr>
        <p:spPr>
          <a:xfrm>
            <a:off x="2326017" y="2987673"/>
            <a:ext cx="185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Hora d’accés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2326017" y="3319721"/>
            <a:ext cx="185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Franges horàries permeses.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623447" y="2797924"/>
            <a:ext cx="2640300" cy="11442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4788042" y="2987673"/>
            <a:ext cx="397800" cy="4587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5.png" id="516" name="Google Shape;51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83505" y="3097723"/>
            <a:ext cx="206837" cy="238442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7"/>
          <p:cNvSpPr/>
          <p:nvPr/>
        </p:nvSpPr>
        <p:spPr>
          <a:xfrm>
            <a:off x="5274961" y="2987673"/>
            <a:ext cx="185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Tipus de transacció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5274961" y="3319721"/>
            <a:ext cx="185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35"/>
              <a:buFont typeface="Arial"/>
              <a:buNone/>
            </a:pPr>
            <a:r>
              <a:rPr b="0" i="0" lang="ca" sz="123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Veure saldo, però no fer transferències.</a:t>
            </a:r>
            <a:endParaRPr b="0" i="0" sz="12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"/>
          <p:cNvSpPr/>
          <p:nvPr/>
        </p:nvSpPr>
        <p:spPr>
          <a:xfrm>
            <a:off x="617215" y="383954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Què són els rols?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354389" y="995759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Una manera d’organitzar permisos segons la feina que fa cada usuari.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440175" y="1357350"/>
            <a:ext cx="2606100" cy="1920000"/>
          </a:xfrm>
          <a:prstGeom prst="roundRect">
            <a:avLst>
              <a:gd fmla="val 2667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604767" y="152193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7-1.png" id="529" name="Google Shape;5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230" y="16173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8"/>
          <p:cNvSpPr/>
          <p:nvPr/>
        </p:nvSpPr>
        <p:spPr>
          <a:xfrm>
            <a:off x="1091685" y="1521932"/>
            <a:ext cx="1817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Rol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580750" y="2037650"/>
            <a:ext cx="2434500" cy="1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03"/>
              <a:buFont typeface="Arial"/>
              <a:buNone/>
            </a:pPr>
            <a:r>
              <a:rPr b="0" i="0" lang="ca" sz="120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Conjunt de permisos associat a una funció o responsabilitat. Ex.: “auditor”, “administrador”, “professorat”, “alumnat”.</a:t>
            </a:r>
            <a:endParaRPr b="0" i="0" sz="120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3251950" y="1357350"/>
            <a:ext cx="2606100" cy="1920000"/>
          </a:xfrm>
          <a:prstGeom prst="roundRect">
            <a:avLst>
              <a:gd fmla="val 2667" name="adj"/>
            </a:avLst>
          </a:prstGeom>
          <a:solidFill>
            <a:srgbClr val="EAF7EF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3416547" y="152193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2.png" id="534" name="Google Shape;5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2010" y="16173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8"/>
          <p:cNvSpPr/>
          <p:nvPr/>
        </p:nvSpPr>
        <p:spPr>
          <a:xfrm>
            <a:off x="3903465" y="1521932"/>
            <a:ext cx="1817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Per què serveixen?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3416550" y="2037650"/>
            <a:ext cx="2304300" cy="1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03"/>
              <a:buFont typeface="Arial"/>
              <a:buNone/>
            </a:pPr>
            <a:r>
              <a:rPr b="0" i="0" lang="ca" sz="120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Eviten donar permisos usuari per usuari. Si una persona canvia de funció, canviem el rol i canvien els seus permisos.</a:t>
            </a:r>
            <a:endParaRPr b="0" i="0" sz="120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6063726" y="1357350"/>
            <a:ext cx="2434500" cy="1920000"/>
          </a:xfrm>
          <a:prstGeom prst="roundRect">
            <a:avLst>
              <a:gd fmla="val 2667" name="adj"/>
            </a:avLst>
          </a:prstGeom>
          <a:solidFill>
            <a:srgbClr val="FFF4DA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6228327" y="152193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539" name="Google Shape;5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3790" y="161739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18"/>
          <p:cNvSpPr/>
          <p:nvPr/>
        </p:nvSpPr>
        <p:spPr>
          <a:xfrm>
            <a:off x="6715245" y="152193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Exemple pràctic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6228325" y="2037650"/>
            <a:ext cx="2194500" cy="1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03"/>
              <a:buFont typeface="Arial"/>
              <a:buNone/>
            </a:pPr>
            <a:r>
              <a:rPr b="0" i="0" lang="ca" sz="1203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Un auditor pot llegir registres, però no modificar-los. Un administrador pot crear usuaris i canviar configuracions.</a:t>
            </a:r>
            <a:endParaRPr b="0" i="0" sz="120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525900" y="348607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75"/>
              <a:buFont typeface="Arial"/>
              <a:buNone/>
            </a:pPr>
            <a:r>
              <a:rPr b="1" i="0" lang="ca" sz="1275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Exemple d’assignació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525913" y="3739827"/>
            <a:ext cx="2194500" cy="741600"/>
          </a:xfrm>
          <a:prstGeom prst="roundRect">
            <a:avLst>
              <a:gd fmla="val 5882" name="adj"/>
            </a:avLst>
          </a:prstGeom>
          <a:solidFill>
            <a:schemeClr val="lt1"/>
          </a:solidFill>
          <a:ln cap="flat" cmpd="sng" w="95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663075" y="3849548"/>
            <a:ext cx="19203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900"/>
              <a:buFont typeface="Arial"/>
              <a:buNone/>
            </a:pPr>
            <a:r>
              <a:rPr b="1" i="0" lang="ca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Usuari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900"/>
              <a:buFont typeface="Arial"/>
              <a:buNone/>
            </a:pPr>
            <a:r>
              <a:rPr b="1" i="0" lang="ca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Anna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2837046" y="3842686"/>
            <a:ext cx="240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3131951" y="3739827"/>
            <a:ext cx="2194500" cy="741600"/>
          </a:xfrm>
          <a:prstGeom prst="roundRect">
            <a:avLst>
              <a:gd fmla="val 5882" name="adj"/>
            </a:avLst>
          </a:prstGeom>
          <a:solidFill>
            <a:srgbClr val="EAF7EF"/>
          </a:solidFill>
          <a:ln cap="flat" cmpd="sng" w="95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3269100" y="3849558"/>
            <a:ext cx="192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900"/>
              <a:buFont typeface="Arial"/>
              <a:buNone/>
            </a:pPr>
            <a:r>
              <a:rPr b="1" i="0" lang="ca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Rol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900"/>
              <a:buFont typeface="Arial"/>
              <a:buNone/>
            </a:pPr>
            <a:r>
              <a:rPr b="1" i="0" lang="ca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Professorat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5443086" y="3842686"/>
            <a:ext cx="240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5737989" y="3739827"/>
            <a:ext cx="2846100" cy="741600"/>
          </a:xfrm>
          <a:prstGeom prst="roundRect">
            <a:avLst>
              <a:gd fmla="val 5882" name="adj"/>
            </a:avLst>
          </a:prstGeom>
          <a:solidFill>
            <a:srgbClr val="FFF4DA"/>
          </a:solidFill>
          <a:ln cap="flat" cmpd="sng" w="95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5875150" y="3828974"/>
            <a:ext cx="25719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48"/>
              <a:buFont typeface="Arial"/>
              <a:buNone/>
            </a:pPr>
            <a:r>
              <a:rPr b="1" i="0" lang="ca" sz="144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Permisos</a:t>
            </a:r>
            <a:endParaRPr b="0" i="0" sz="14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48"/>
              <a:buFont typeface="Arial"/>
              <a:buNone/>
            </a:pPr>
            <a:r>
              <a:rPr b="1" i="0" lang="ca" sz="1448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Llegir, crear i editar materials</a:t>
            </a:r>
            <a:endParaRPr b="0" i="0" sz="14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625350" y="4592752"/>
            <a:ext cx="788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2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Idea clau: rol = determina què pot fer segons la seva funció dins del sistema.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9"/>
          <p:cNvSpPr/>
          <p:nvPr/>
        </p:nvSpPr>
        <p:spPr>
          <a:xfrm>
            <a:off x="562340" y="389341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Rols, grups i permisos: no és el mateix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514350" y="1131570"/>
            <a:ext cx="2537400" cy="2949000"/>
          </a:xfrm>
          <a:prstGeom prst="roundRect">
            <a:avLst>
              <a:gd fmla="val 1622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9"/>
          <p:cNvSpPr/>
          <p:nvPr/>
        </p:nvSpPr>
        <p:spPr>
          <a:xfrm>
            <a:off x="678942" y="129616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2.png" id="561" name="Google Shape;5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05" y="139162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9"/>
          <p:cNvSpPr/>
          <p:nvPr/>
        </p:nvSpPr>
        <p:spPr>
          <a:xfrm>
            <a:off x="1165860" y="129616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Grup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1076750" y="1868037"/>
            <a:ext cx="17487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Agrupa usuaris amb alguna característica comuna.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Exemple: grup “Professorat” o “Alumnat”.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3291840" y="1131570"/>
            <a:ext cx="2537400" cy="2949000"/>
          </a:xfrm>
          <a:prstGeom prst="roundRect">
            <a:avLst>
              <a:gd fmla="val 1622" name="adj"/>
            </a:avLst>
          </a:prstGeom>
          <a:solidFill>
            <a:srgbClr val="EAF7EF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3456432" y="129616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7-1.png" id="566" name="Google Shape;5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1895" y="139162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9"/>
          <p:cNvSpPr/>
          <p:nvPr/>
        </p:nvSpPr>
        <p:spPr>
          <a:xfrm>
            <a:off x="3943350" y="129616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Rol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3898800" y="1888924"/>
            <a:ext cx="17487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Defineix una funció i el paquet de permisos associat.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Exemple: “editor”, “lector”, “administrador”.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6069330" y="1131570"/>
            <a:ext cx="2537400" cy="2949000"/>
          </a:xfrm>
          <a:prstGeom prst="roundRect">
            <a:avLst>
              <a:gd fmla="val 1622" name="adj"/>
            </a:avLst>
          </a:prstGeom>
          <a:solidFill>
            <a:srgbClr val="FFF4DA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6233922" y="1296162"/>
            <a:ext cx="397800" cy="3978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4-2.png" id="571" name="Google Shape;5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385" y="139162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9"/>
          <p:cNvSpPr/>
          <p:nvPr/>
        </p:nvSpPr>
        <p:spPr>
          <a:xfrm>
            <a:off x="6720840" y="1296162"/>
            <a:ext cx="1748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Permís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6631725" y="1868025"/>
            <a:ext cx="1748700" cy="19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Acció concreta sobre un recurs.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825"/>
              <a:buFont typeface="Arial"/>
              <a:buNone/>
            </a:pPr>
            <a:r>
              <a:rPr b="0" i="0" lang="ca" sz="1225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Exemple: llegir, escriure, modificar, executar o eliminar.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445770" y="4354830"/>
            <a:ext cx="8263800" cy="3291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9"/>
          <p:cNvSpPr/>
          <p:nvPr/>
        </p:nvSpPr>
        <p:spPr>
          <a:xfrm>
            <a:off x="617225" y="4443962"/>
            <a:ext cx="7886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788"/>
              <a:buFont typeface="Arial"/>
              <a:buNone/>
            </a:pPr>
            <a:r>
              <a:rPr b="1" i="0" lang="ca" sz="128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Exemple: una persona pot tenir rol “editor” en una carpeta i només “lector” en una altra.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0"/>
          <p:cNvSpPr/>
          <p:nvPr/>
        </p:nvSpPr>
        <p:spPr>
          <a:xfrm>
            <a:off x="571390" y="383954"/>
            <a:ext cx="843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195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Resum final: </a:t>
            </a: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Idees clau 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445764" y="1058847"/>
            <a:ext cx="8229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DD2"/>
              </a:buClr>
              <a:buSzPts val="938"/>
              <a:buFont typeface="Arial"/>
              <a:buNone/>
            </a:pPr>
            <a:r>
              <a:rPr b="0" i="0" lang="ca" sz="1238" u="none" cap="none" strike="noStrike">
                <a:solidFill>
                  <a:srgbClr val="008DD2"/>
                </a:solidFill>
                <a:latin typeface="Arial"/>
                <a:ea typeface="Arial"/>
                <a:cs typeface="Arial"/>
                <a:sym typeface="Arial"/>
              </a:rPr>
              <a:t>Resum final</a:t>
            </a:r>
            <a:endParaRPr b="0" i="0" sz="12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582875" y="1521525"/>
            <a:ext cx="3840600" cy="1142700"/>
          </a:xfrm>
          <a:prstGeom prst="roundRect">
            <a:avLst>
              <a:gd fmla="val 571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747467" y="1706098"/>
            <a:ext cx="397800" cy="4461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1.png" id="586" name="Google Shape;5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930" y="1813151"/>
            <a:ext cx="206837" cy="23194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0"/>
          <p:cNvSpPr/>
          <p:nvPr/>
        </p:nvSpPr>
        <p:spPr>
          <a:xfrm>
            <a:off x="1234385" y="1706098"/>
            <a:ext cx="3051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Contrasenyes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1234385" y="2029103"/>
            <a:ext cx="30519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20"/>
              <a:buFont typeface="Arial"/>
              <a:buNone/>
            </a:pPr>
            <a:r>
              <a:rPr b="0" i="0" lang="ca" sz="122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Robustes, ben protegides i diferents per a cada servei. Un gestor en facilita l’ús segur.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4697675" y="1521525"/>
            <a:ext cx="3840600" cy="1142700"/>
          </a:xfrm>
          <a:prstGeom prst="roundRect">
            <a:avLst>
              <a:gd fmla="val 571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4862267" y="1706098"/>
            <a:ext cx="397800" cy="4461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12-1.png" id="591" name="Google Shape;5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730" y="1813151"/>
            <a:ext cx="206837" cy="231948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0"/>
          <p:cNvSpPr/>
          <p:nvPr/>
        </p:nvSpPr>
        <p:spPr>
          <a:xfrm>
            <a:off x="5349185" y="1706098"/>
            <a:ext cx="3051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Biometria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5349185" y="2029103"/>
            <a:ext cx="30519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20"/>
              <a:buFont typeface="Arial"/>
              <a:buNone/>
            </a:pPr>
            <a:r>
              <a:rPr b="0" i="0" lang="ca" sz="122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Autentica per atributs físics o de comportament, però pot fallar.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594300" y="2781700"/>
            <a:ext cx="3840600" cy="1212600"/>
          </a:xfrm>
          <a:prstGeom prst="roundRect">
            <a:avLst>
              <a:gd fmla="val 571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758892" y="2966279"/>
            <a:ext cx="397800" cy="4461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9-2.png" id="596" name="Google Shape;5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355" y="3073331"/>
            <a:ext cx="206837" cy="23194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0"/>
          <p:cNvSpPr/>
          <p:nvPr/>
        </p:nvSpPr>
        <p:spPr>
          <a:xfrm>
            <a:off x="1245810" y="2966279"/>
            <a:ext cx="3051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Autenticació i autorització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1245810" y="3289284"/>
            <a:ext cx="30519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20"/>
              <a:buFont typeface="Arial"/>
              <a:buNone/>
            </a:pPr>
            <a:r>
              <a:rPr b="0" i="0" lang="ca" sz="122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Primer identificar-se i autenticar-se; després comprovar drets sobre el recurs.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4709100" y="2781700"/>
            <a:ext cx="3840600" cy="1212600"/>
          </a:xfrm>
          <a:prstGeom prst="roundRect">
            <a:avLst>
              <a:gd fmla="val 5714" name="adj"/>
            </a:avLst>
          </a:prstGeom>
          <a:solidFill>
            <a:schemeClr val="lt1"/>
          </a:solidFill>
          <a:ln cap="flat" cmpd="sng" w="857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0"/>
          <p:cNvSpPr/>
          <p:nvPr/>
        </p:nvSpPr>
        <p:spPr>
          <a:xfrm>
            <a:off x="4873692" y="2966279"/>
            <a:ext cx="397800" cy="446100"/>
          </a:xfrm>
          <a:prstGeom prst="ellipse">
            <a:avLst/>
          </a:prstGeom>
          <a:solidFill>
            <a:srgbClr val="DCECF9"/>
          </a:solidFill>
          <a:ln cap="flat" cmpd="sng" w="9525">
            <a:solidFill>
              <a:srgbClr val="D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uth_assets/image-21-2.png" id="601" name="Google Shape;6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9155" y="3073331"/>
            <a:ext cx="206837" cy="23194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0"/>
          <p:cNvSpPr/>
          <p:nvPr/>
        </p:nvSpPr>
        <p:spPr>
          <a:xfrm>
            <a:off x="5360610" y="2966279"/>
            <a:ext cx="3051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D6A"/>
              </a:buClr>
              <a:buSzPts val="938"/>
              <a:buFont typeface="Arial"/>
              <a:buNone/>
            </a:pPr>
            <a:r>
              <a:rPr b="1" i="0" lang="ca" sz="1438" u="none" cap="none" strike="noStrike">
                <a:solidFill>
                  <a:srgbClr val="123D6A"/>
                </a:solidFill>
                <a:latin typeface="Arial"/>
                <a:ea typeface="Arial"/>
                <a:cs typeface="Arial"/>
                <a:sym typeface="Arial"/>
              </a:rPr>
              <a:t>Criteris d’accés</a:t>
            </a:r>
            <a:endParaRPr b="0" i="0" sz="14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5360610" y="3289284"/>
            <a:ext cx="30519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D3F"/>
              </a:buClr>
              <a:buSzPts val="720"/>
              <a:buFont typeface="Arial"/>
              <a:buNone/>
            </a:pPr>
            <a:r>
              <a:rPr b="0" i="0" lang="ca" sz="1220" u="none" cap="none" strike="noStrike">
                <a:solidFill>
                  <a:srgbClr val="1C2D3F"/>
                </a:solidFill>
                <a:latin typeface="Arial"/>
                <a:ea typeface="Arial"/>
                <a:cs typeface="Arial"/>
                <a:sym typeface="Arial"/>
              </a:rPr>
              <a:t>Rols, grups, localització, hora i tipus de transacció determinen qui pot fer què.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529000" y="4317227"/>
            <a:ext cx="8263800" cy="403500"/>
          </a:xfrm>
          <a:prstGeom prst="roundRect">
            <a:avLst>
              <a:gd fmla="val 10417" name="adj"/>
            </a:avLst>
          </a:prstGeom>
          <a:solidFill>
            <a:srgbClr val="DCECF9"/>
          </a:solidFill>
          <a:ln cap="flat" cmpd="sng" w="7625">
            <a:solidFill>
              <a:srgbClr val="C6D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717550" y="4266593"/>
            <a:ext cx="7886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288">
                <a:solidFill>
                  <a:srgbClr val="123D6A"/>
                </a:solidFill>
              </a:rPr>
              <a:t>El control d'accés és una part essencial de la seguretat lògica</a:t>
            </a:r>
            <a:endParaRPr b="1" sz="1288">
              <a:solidFill>
                <a:srgbClr val="123D6A"/>
              </a:solidFill>
            </a:endParaRPr>
          </a:p>
        </p:txBody>
      </p:sp>
      <p:sp>
        <p:nvSpPr>
          <p:cNvPr id="606" name="Google Shape;6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laFontanal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2026-09-27T19:13:10Z</dcterms:created>
  <dc:creator>OpenAI</dc:creator>
</cp:coreProperties>
</file>