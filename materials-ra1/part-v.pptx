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5143500" cx="9144000"/>
  <p:notesSz cx="6858000" cy="12191675"/>
  <p:embeddedFontLst>
    <p:embeddedFont>
      <p:font typeface="Cascadia Mono"/>
      <p:regular r:id="rId58"/>
      <p:bold r:id="rId59"/>
      <p:italic r:id="rId60"/>
      <p:boldItalic r:id="rId61"/>
    </p:embeddedFont>
    <p:embeddedFont>
      <p:font typeface="Quattrocento Sans"/>
      <p:regular r:id="rId62"/>
      <p:bold r:id="rId63"/>
      <p:italic r:id="rId64"/>
      <p:boldItalic r:id="rId65"/>
    </p:embeddedFont>
    <p:embeddedFont>
      <p:font typeface="Roboto Mono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0" roundtripDataSignature="AMtx7mirqvHzP/Bd7YkA4J4vnXWCfAzf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414474-64EE-4AC7-AA3F-ED3A47359A2E}">
  <a:tblStyle styleId="{AA414474-64EE-4AC7-AA3F-ED3A47359A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customschemas.google.com/relationships/presentationmetadata" Target="meta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QuattrocentoSans-regular.fntdata"/><Relationship Id="rId61" Type="http://schemas.openxmlformats.org/officeDocument/2006/relationships/font" Target="fonts/CascadiaMono-boldItalic.fntdata"/><Relationship Id="rId20" Type="http://schemas.openxmlformats.org/officeDocument/2006/relationships/slide" Target="slides/slide15.xml"/><Relationship Id="rId64" Type="http://schemas.openxmlformats.org/officeDocument/2006/relationships/font" Target="fonts/QuattrocentoSans-italic.fntdata"/><Relationship Id="rId63" Type="http://schemas.openxmlformats.org/officeDocument/2006/relationships/font" Target="fonts/QuattrocentoSans-bold.fntdata"/><Relationship Id="rId22" Type="http://schemas.openxmlformats.org/officeDocument/2006/relationships/slide" Target="slides/slide17.xml"/><Relationship Id="rId66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65" Type="http://schemas.openxmlformats.org/officeDocument/2006/relationships/font" Target="fonts/QuattrocentoSans-boldItalic.fntdata"/><Relationship Id="rId24" Type="http://schemas.openxmlformats.org/officeDocument/2006/relationships/slide" Target="slides/slide19.xml"/><Relationship Id="rId68" Type="http://schemas.openxmlformats.org/officeDocument/2006/relationships/font" Target="fonts/RobotoMono-italic.fntdata"/><Relationship Id="rId23" Type="http://schemas.openxmlformats.org/officeDocument/2006/relationships/slide" Target="slides/slide18.xml"/><Relationship Id="rId67" Type="http://schemas.openxmlformats.org/officeDocument/2006/relationships/font" Target="fonts/RobotoMono-bold.fntdata"/><Relationship Id="rId60" Type="http://schemas.openxmlformats.org/officeDocument/2006/relationships/font" Target="fonts/CascadiaMon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Mon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CascadiaMono-bold.fntdata"/><Relationship Id="rId14" Type="http://schemas.openxmlformats.org/officeDocument/2006/relationships/slide" Target="slides/slide9.xml"/><Relationship Id="rId58" Type="http://schemas.openxmlformats.org/officeDocument/2006/relationships/font" Target="fonts/CascadiaMon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67a477ec9a2001da_0_32:notes"/>
          <p:cNvSpPr txBox="1"/>
          <p:nvPr>
            <p:ph idx="1" type="body"/>
          </p:nvPr>
        </p:nvSpPr>
        <p:spPr>
          <a:xfrm>
            <a:off x="685756" y="5866993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h67a477ec9a2001da_0_32:notes"/>
          <p:cNvSpPr txBox="1"/>
          <p:nvPr>
            <p:ph idx="12" type="sldNum"/>
          </p:nvPr>
        </p:nvSpPr>
        <p:spPr>
          <a:xfrm>
            <a:off x="3884515" y="11579441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7" name="Google Shape;27;h67a477ec9a2001da_0_32:notes"/>
          <p:cNvSpPr/>
          <p:nvPr>
            <p:ph idx="2" type="sldImg"/>
          </p:nvPr>
        </p:nvSpPr>
        <p:spPr>
          <a:xfrm>
            <a:off x="1143152" y="914376"/>
            <a:ext cx="4572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67a477ec9a2001da_0_80:notes"/>
          <p:cNvSpPr txBox="1"/>
          <p:nvPr>
            <p:ph idx="1" type="body"/>
          </p:nvPr>
        </p:nvSpPr>
        <p:spPr>
          <a:xfrm>
            <a:off x="685756" y="5866993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h67a477ec9a2001da_0_80:notes"/>
          <p:cNvSpPr txBox="1"/>
          <p:nvPr>
            <p:ph idx="12" type="sldNum"/>
          </p:nvPr>
        </p:nvSpPr>
        <p:spPr>
          <a:xfrm>
            <a:off x="3884515" y="11579441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3" name="Google Shape;43;h67a477ec9a2001da_0_80:notes"/>
          <p:cNvSpPr/>
          <p:nvPr>
            <p:ph idx="2" type="sldImg"/>
          </p:nvPr>
        </p:nvSpPr>
        <p:spPr>
          <a:xfrm>
            <a:off x="1143152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67a477ec9a2001da_0_209:notes"/>
          <p:cNvSpPr/>
          <p:nvPr>
            <p:ph idx="2" type="sldImg"/>
          </p:nvPr>
        </p:nvSpPr>
        <p:spPr>
          <a:xfrm>
            <a:off x="685800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h67a477ec9a2001da_0_209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h67a477ec9a2001da_0_209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67a477ec9a2001da_0_254:notes"/>
          <p:cNvSpPr/>
          <p:nvPr>
            <p:ph idx="2" type="sldImg"/>
          </p:nvPr>
        </p:nvSpPr>
        <p:spPr>
          <a:xfrm>
            <a:off x="685800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h67a477ec9a2001da_0_25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67a477ec9a2001da_0_25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7a477ec9a2001da_0_299:notes"/>
          <p:cNvSpPr/>
          <p:nvPr>
            <p:ph idx="2" type="sldImg"/>
          </p:nvPr>
        </p:nvSpPr>
        <p:spPr>
          <a:xfrm>
            <a:off x="685800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h67a477ec9a2001da_0_299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67a477ec9a2001da_0_299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67a477ec9a2001da_0_348:notes"/>
          <p:cNvSpPr/>
          <p:nvPr>
            <p:ph idx="2" type="sldImg"/>
          </p:nvPr>
        </p:nvSpPr>
        <p:spPr>
          <a:xfrm>
            <a:off x="685800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h67a477ec9a2001da_0_348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67a477ec9a2001da_0_348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67a477ec9a2001da_0_431:notes"/>
          <p:cNvSpPr/>
          <p:nvPr>
            <p:ph idx="2" type="sldImg"/>
          </p:nvPr>
        </p:nvSpPr>
        <p:spPr>
          <a:xfrm>
            <a:off x="685800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h67a477ec9a2001da_0_431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h67a477ec9a2001da_0_431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44c9de1ed0dc9dad_0_78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h44c9de1ed0dc9dad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h44c9de1ed0dc9dad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44c9de1ed0dc9dad_0_115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h44c9de1ed0dc9dad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h44c9de1ed0dc9dad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44c9de1ed0dc9dad_0_156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h44c9de1ed0dc9dad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h44c9de1ed0dc9dad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9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h44c9de1ed0dc9dad_0_177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h44c9de1ed0dc9dad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h44c9de1ed0dc9dad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2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3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5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6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7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8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1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h71b1cc9d41bba454_0_10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h71b1cc9d41bba454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h71b1cc9d41bba454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2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5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hc3dfbce1ed3d8fc_0_89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hc3dfbce1ed3d8fc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hc3dfbce1ed3d8fc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hc3dfbce1ed3d8fc_0_6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hc3dfbce1ed3d8fc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hc3dfbce1ed3d8fc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hc3dfbce1ed3d8fc_0_13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hc3dfbce1ed3d8fc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hc3dfbce1ed3d8fc_0_1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7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8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9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" name="Google Shape;10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31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h71b1cc9d41bba454_0_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h71b1cc9d41bba45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h71b1cc9d41bba45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h1cd135fc38cd46f6_0_1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1" name="Google Shape;1101;h1cd135fc38cd46f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h1cd135fc38cd46f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2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h71b1cc9d41bba454_0_35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0" name="Google Shape;1150;h71b1cc9d41bba454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h71b1cc9d41bba454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33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h71b1cc9d41bba454_0_62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h71b1cc9d41bba454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h71b1cc9d41bba454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h71b1cc9d41bba454_1_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h71b1cc9d41bba45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h71b1cc9d41bba45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hc3dfbce1ed3d8fc_0_188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7" name="Google Shape;1257;hc3dfbce1ed3d8fc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hc3dfbce1ed3d8fc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2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8" name="Google Shape;13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hc3dfbce1ed3d8fc_0_24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0" name="Google Shape;1320;hc3dfbce1ed3d8fc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hc3dfbce1ed3d8fc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hc3dfbce1ed3d8fc_0_168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1" name="Google Shape;1331;hc3dfbce1ed3d8fc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hc3dfbce1ed3d8fc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9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0" name="Google Shape;13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23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6" name="Google Shape;13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hc3dfbce1ed3d8fc_0_12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9" name="Google Shape;1379;hc3dfbce1ed3d8fc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hc3dfbce1ed3d8fc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3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h67a477ec9a2001da_0_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EBF3F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67a477ec9a2001da_0_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6" name="Google Shape;16;h67a477ec9a2001da_0_67"/>
          <p:cNvSpPr/>
          <p:nvPr/>
        </p:nvSpPr>
        <p:spPr>
          <a:xfrm>
            <a:off x="365575" y="274324"/>
            <a:ext cx="8412000" cy="6030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5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67a477ec9a2001da_0_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h67a477ec9a2001da_0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67a477ec9a2001da_0_73"/>
          <p:cNvSpPr txBox="1"/>
          <p:nvPr>
            <p:ph idx="12" type="sldNum"/>
          </p:nvPr>
        </p:nvSpPr>
        <p:spPr>
          <a:xfrm>
            <a:off x="8229503" y="4800342"/>
            <a:ext cx="456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337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31__5f_DEFAULT">
  <p:cSld name="_31__5f_DEFAU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h67a477ec9a2001da_0_75"/>
          <p:cNvSpPr txBox="1"/>
          <p:nvPr>
            <p:ph idx="12" type="sldNum"/>
          </p:nvPr>
        </p:nvSpPr>
        <p:spPr>
          <a:xfrm>
            <a:off x="8534025" y="4749850"/>
            <a:ext cx="57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CF7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67a477ec9a2001da_0_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088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●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9088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9088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9088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●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9088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9088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h67a477ec9a2001da_0_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67a477ec9a2001da_0_32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0" name="Google Shape;30;h67a477ec9a2001da_0_32"/>
          <p:cNvSpPr/>
          <p:nvPr/>
        </p:nvSpPr>
        <p:spPr>
          <a:xfrm>
            <a:off x="340131" y="539044"/>
            <a:ext cx="5875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850"/>
              <a:buFont typeface="Play"/>
              <a:buNone/>
            </a:pPr>
            <a:r>
              <a:rPr b="1" lang="ca" sz="2850">
                <a:solidFill>
                  <a:srgbClr val="0B2E54"/>
                </a:solidFill>
              </a:rPr>
              <a:t>Permisos a Linux i Windows</a:t>
            </a:r>
            <a:endParaRPr sz="2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2400"/>
              <a:buFont typeface="Play"/>
              <a:buNone/>
            </a:pPr>
            <a:r>
              <a:t/>
            </a:r>
            <a:endParaRPr b="1" sz="2400">
              <a:solidFill>
                <a:srgbClr val="123D6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0B2E6D"/>
              </a:solidFill>
            </a:endParaRPr>
          </a:p>
        </p:txBody>
      </p:sp>
      <p:sp>
        <p:nvSpPr>
          <p:cNvPr id="31" name="Google Shape;31;h67a477ec9a2001da_0_32"/>
          <p:cNvSpPr/>
          <p:nvPr/>
        </p:nvSpPr>
        <p:spPr>
          <a:xfrm>
            <a:off x="397743" y="1311739"/>
            <a:ext cx="7886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1r CFGM SMX · M0226 · Seguretat Informàtica</a:t>
            </a:r>
            <a:endParaRPr sz="1350"/>
          </a:p>
        </p:txBody>
      </p:sp>
      <p:sp>
        <p:nvSpPr>
          <p:cNvPr id="32" name="Google Shape;32;h67a477ec9a2001da_0_32"/>
          <p:cNvSpPr/>
          <p:nvPr/>
        </p:nvSpPr>
        <p:spPr>
          <a:xfrm>
            <a:off x="397743" y="1791862"/>
            <a:ext cx="7886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3315C"/>
                </a:solidFill>
              </a:rPr>
              <a:t>RA1 · Seguretat passiva en equips informàtics - P</a:t>
            </a:r>
            <a:r>
              <a:rPr b="1" lang="ca" sz="1425">
                <a:solidFill>
                  <a:srgbClr val="13315C"/>
                </a:solidFill>
              </a:rPr>
              <a:t>art V</a:t>
            </a:r>
            <a:endParaRPr b="1" sz="1425"/>
          </a:p>
        </p:txBody>
      </p:sp>
      <p:sp>
        <p:nvSpPr>
          <p:cNvPr id="33" name="Google Shape;33;h67a477ec9a2001da_0_32"/>
          <p:cNvSpPr/>
          <p:nvPr/>
        </p:nvSpPr>
        <p:spPr>
          <a:xfrm>
            <a:off x="4289325" y="2543025"/>
            <a:ext cx="4363500" cy="1600500"/>
          </a:xfrm>
          <a:prstGeom prst="roundRect">
            <a:avLst>
              <a:gd fmla="val 16667" name="adj"/>
            </a:avLst>
          </a:prstGeom>
          <a:solidFill>
            <a:srgbClr val="F2F8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4" name="Google Shape;34;h67a477ec9a2001da_0_32"/>
          <p:cNvSpPr/>
          <p:nvPr/>
        </p:nvSpPr>
        <p:spPr>
          <a:xfrm>
            <a:off x="4551577" y="2819488"/>
            <a:ext cx="2605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Autors i crèdits</a:t>
            </a:r>
            <a:endParaRPr sz="1200"/>
          </a:p>
        </p:txBody>
      </p:sp>
      <p:sp>
        <p:nvSpPr>
          <p:cNvPr id="35" name="Google Shape;35;h67a477ec9a2001da_0_32"/>
          <p:cNvSpPr/>
          <p:nvPr/>
        </p:nvSpPr>
        <p:spPr>
          <a:xfrm>
            <a:off x="4551575" y="3163325"/>
            <a:ext cx="41013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Idea original: Ivan Basart Carrillo</a:t>
            </a:r>
            <a:r>
              <a:rPr lang="ca" sz="975">
                <a:solidFill>
                  <a:srgbClr val="13315C"/>
                </a:solidFill>
              </a:rPr>
              <a:t>. </a:t>
            </a: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Carles Caño Valls i </a:t>
            </a:r>
            <a:r>
              <a:rPr lang="ca" sz="975">
                <a:solidFill>
                  <a:srgbClr val="13315C"/>
                </a:solidFill>
              </a:rPr>
              <a:t>Carles Franquesa</a:t>
            </a:r>
            <a:endParaRPr sz="975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>
                <a:solidFill>
                  <a:srgbClr val="13315C"/>
                </a:solidFill>
              </a:rPr>
              <a:t>Modificació: Amanda Fontana</a:t>
            </a:r>
            <a:endParaRPr sz="975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Adaptació, modificaci</a:t>
            </a:r>
            <a:r>
              <a:rPr lang="ca" sz="975">
                <a:solidFill>
                  <a:srgbClr val="13315C"/>
                </a:solidFill>
              </a:rPr>
              <a:t>ó </a:t>
            </a: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 i reorganització: Eduard Gutiérrez</a:t>
            </a:r>
            <a:endParaRPr sz="975"/>
          </a:p>
        </p:txBody>
      </p:sp>
      <p:pic>
        <p:nvPicPr>
          <p:cNvPr id="36" name="Google Shape;36;h67a477ec9a2001da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15" y="4611318"/>
            <a:ext cx="1062694" cy="37151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h67a477ec9a2001da_0_32"/>
          <p:cNvSpPr/>
          <p:nvPr/>
        </p:nvSpPr>
        <p:spPr>
          <a:xfrm>
            <a:off x="1459607" y="4815311"/>
            <a:ext cx="5143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7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Llicència del material: Creative Commons BY-NC-SA 4.0</a:t>
            </a:r>
            <a:endParaRPr sz="1350"/>
          </a:p>
        </p:txBody>
      </p:sp>
      <p:pic>
        <p:nvPicPr>
          <p:cNvPr id="38" name="Google Shape;38;h67a477ec9a2001da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725" y="2284306"/>
            <a:ext cx="3891601" cy="225799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h67a477ec9a2001da_0_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h67a477ec9a2001da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746" y="861941"/>
            <a:ext cx="455499" cy="6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h67a477ec9a2001da_0_80"/>
          <p:cNvSpPr/>
          <p:nvPr/>
        </p:nvSpPr>
        <p:spPr>
          <a:xfrm>
            <a:off x="416556" y="861952"/>
            <a:ext cx="8310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5B6B7A"/>
                </a:solidFill>
              </a:rPr>
              <a:t>Criteris d'avaluació i continguts que treballarem: permisos a Linux i Windows</a:t>
            </a:r>
            <a:endParaRPr sz="1350"/>
          </a:p>
        </p:txBody>
      </p:sp>
      <p:sp>
        <p:nvSpPr>
          <p:cNvPr id="47" name="Google Shape;47;h67a477ec9a2001da_0_80"/>
          <p:cNvSpPr/>
          <p:nvPr/>
        </p:nvSpPr>
        <p:spPr>
          <a:xfrm>
            <a:off x="182712" y="198301"/>
            <a:ext cx="11155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 RA1 · Seguretat passiva en equips informàtics</a:t>
            </a:r>
            <a:endParaRPr sz="1350"/>
          </a:p>
        </p:txBody>
      </p:sp>
      <p:graphicFrame>
        <p:nvGraphicFramePr>
          <p:cNvPr id="48" name="Google Shape;48;h67a477ec9a2001da_0_80"/>
          <p:cNvGraphicFramePr/>
          <p:nvPr/>
        </p:nvGraphicFramePr>
        <p:xfrm>
          <a:off x="396623" y="1542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{AA414474-64EE-4AC7-AA3F-ED3A47359A2E}</a:tableStyleId>
              </a:tblPr>
              <a:tblGrid>
                <a:gridCol w="4044825"/>
                <a:gridCol w="4044825"/>
              </a:tblGrid>
              <a:tr h="607250">
                <a:tc gridSpan="2">
                  <a:txBody>
                    <a:bodyPr/>
                    <a:lstStyle/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 hMerge="1"/>
              </a:tr>
              <a:tr h="68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Criteris d’avaluació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Continguts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Permisos i drets d’usuaris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" name="Google Shape;49;h67a477ec9a2001da_0_80"/>
          <p:cNvSpPr/>
          <p:nvPr/>
        </p:nvSpPr>
        <p:spPr>
          <a:xfrm>
            <a:off x="396625" y="1551975"/>
            <a:ext cx="8089500" cy="6198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· Seguretat passiva en equips informàtics - Part V</a:t>
            </a:r>
            <a:endParaRPr sz="1350"/>
          </a:p>
        </p:txBody>
      </p:sp>
      <p:sp>
        <p:nvSpPr>
          <p:cNvPr id="50" name="Google Shape;50;h67a477ec9a2001da_0_80"/>
          <p:cNvSpPr/>
          <p:nvPr/>
        </p:nvSpPr>
        <p:spPr>
          <a:xfrm>
            <a:off x="4602059" y="2982465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50"/>
          </a:p>
        </p:txBody>
      </p:sp>
      <p:sp>
        <p:nvSpPr>
          <p:cNvPr id="51" name="Google Shape;51;h67a477ec9a2001da_0_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03525" y="338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Què veurem?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71300" y="1440175"/>
            <a:ext cx="2650200" cy="3209400"/>
          </a:xfrm>
          <a:prstGeom prst="roundRect">
            <a:avLst>
              <a:gd fmla="val 4528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52963" y="1611634"/>
            <a:ext cx="508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151698" y="1563628"/>
            <a:ext cx="4503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195300" y="1618492"/>
            <a:ext cx="363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🐧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52963" y="2125984"/>
            <a:ext cx="21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Permisos a Linux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52784" y="2646954"/>
            <a:ext cx="23619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Objectiu: entendre com controlar qui pot llegir, modificar o executar fitxers i carpetes.</a:t>
            </a:r>
            <a:endParaRPr sz="1200">
              <a:solidFill>
                <a:srgbClr val="1A2836"/>
              </a:solidFill>
            </a:endParaRPr>
          </a:p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200"/>
              <a:buFont typeface="Arial"/>
              <a:buChar char="●"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Propietari, grup i altres.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200"/>
              <a:buFont typeface="Arial"/>
              <a:buChar char="●"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chmod, chown, chgrp i umask.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189050" y="1440175"/>
            <a:ext cx="2650200" cy="3184800"/>
          </a:xfrm>
          <a:prstGeom prst="roundRect">
            <a:avLst>
              <a:gd fmla="val 4528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378359" y="1611634"/>
            <a:ext cx="53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044227" y="1563628"/>
            <a:ext cx="4695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089660" y="1618492"/>
            <a:ext cx="378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🪟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378359" y="2125984"/>
            <a:ext cx="22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Permisos a Windows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035175" y="1452475"/>
            <a:ext cx="2607900" cy="3184800"/>
          </a:xfrm>
          <a:prstGeom prst="roundRect">
            <a:avLst>
              <a:gd fmla="val 4528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206626" y="1623930"/>
            <a:ext cx="48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715426" y="1575924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756575" y="1630788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📝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206626" y="2138280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Activitats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206625" y="2632050"/>
            <a:ext cx="2218800" cy="14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Sessió pràctica: identificar i configurar permisos en els  sistemes operatius, Windows i Linux.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83616" y="2646954"/>
            <a:ext cx="24609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Objectiu: entendre com controlar qui pot llegir, modificar o executar fitxers i carpetes.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Windows </a:t>
            </a:r>
            <a:r>
              <a:rPr lang="ca" sz="1200">
                <a:solidFill>
                  <a:schemeClr val="dk1"/>
                </a:solidFill>
              </a:rPr>
              <a:t>: </a:t>
            </a:r>
            <a:r>
              <a:rPr lang="ca" sz="1200">
                <a:solidFill>
                  <a:schemeClr val="dk1"/>
                </a:solidFill>
              </a:rPr>
              <a:t>Permisos NTFS, herència, pestanya Seguretat.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67a477ec9a2001da_0_2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83" name="Google Shape;83;h67a477ec9a2001da_0_209"/>
          <p:cNvSpPr/>
          <p:nvPr/>
        </p:nvSpPr>
        <p:spPr>
          <a:xfrm>
            <a:off x="445770" y="308610"/>
            <a:ext cx="819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2100"/>
              <a:buFont typeface="Arial"/>
              <a:buNone/>
            </a:pPr>
            <a:r>
              <a:rPr b="1" i="0" lang="ca" sz="2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Linux des de zero: usuari, grup i carpeta personal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h67a477ec9a2001da_0_209"/>
          <p:cNvSpPr/>
          <p:nvPr/>
        </p:nvSpPr>
        <p:spPr>
          <a:xfrm>
            <a:off x="560111" y="439010"/>
            <a:ext cx="802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Conceptes bàsics Linux: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h67a477ec9a2001da_0_209"/>
          <p:cNvCxnSpPr/>
          <p:nvPr/>
        </p:nvCxnSpPr>
        <p:spPr>
          <a:xfrm>
            <a:off x="651510" y="4800600"/>
            <a:ext cx="6926700" cy="0"/>
          </a:xfrm>
          <a:prstGeom prst="straightConnector1">
            <a:avLst/>
          </a:prstGeom>
          <a:noFill/>
          <a:ln cap="flat" cmpd="sng" w="952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h67a477ec9a2001da_0_209"/>
          <p:cNvSpPr/>
          <p:nvPr/>
        </p:nvSpPr>
        <p:spPr>
          <a:xfrm>
            <a:off x="480060" y="994410"/>
            <a:ext cx="408060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h67a477ec9a2001da_0_209"/>
          <p:cNvSpPr/>
          <p:nvPr/>
        </p:nvSpPr>
        <p:spPr>
          <a:xfrm>
            <a:off x="651510" y="1165860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67a477ec9a2001da_0_209"/>
          <p:cNvSpPr/>
          <p:nvPr/>
        </p:nvSpPr>
        <p:spPr>
          <a:xfrm>
            <a:off x="672084" y="122072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67a477ec9a2001da_0_209"/>
          <p:cNvSpPr/>
          <p:nvPr/>
        </p:nvSpPr>
        <p:spPr>
          <a:xfrm>
            <a:off x="1131570" y="1200150"/>
            <a:ext cx="192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Usuari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67a477ec9a2001da_0_209"/>
          <p:cNvSpPr/>
          <p:nvPr/>
        </p:nvSpPr>
        <p:spPr>
          <a:xfrm>
            <a:off x="1131570" y="1529334"/>
            <a:ext cx="3189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És el compte amb què entres al sistema.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Té nom d’usuari, contrasenya i permisos.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h67a477ec9a2001da_0_209"/>
          <p:cNvSpPr/>
          <p:nvPr/>
        </p:nvSpPr>
        <p:spPr>
          <a:xfrm>
            <a:off x="1131570" y="2194560"/>
            <a:ext cx="3086100" cy="288000"/>
          </a:xfrm>
          <a:prstGeom prst="roundRect">
            <a:avLst>
              <a:gd fmla="val 28571" name="adj"/>
            </a:avLst>
          </a:prstGeom>
          <a:solidFill>
            <a:srgbClr val="EDF6FF"/>
          </a:solidFill>
          <a:ln cap="flat" cmpd="sng" w="10475">
            <a:solidFill>
              <a:srgbClr val="F2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h67a477ec9a2001da_0_209"/>
          <p:cNvSpPr/>
          <p:nvPr/>
        </p:nvSpPr>
        <p:spPr>
          <a:xfrm>
            <a:off x="1213866" y="2249424"/>
            <a:ext cx="2921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Arial"/>
              <a:buNone/>
            </a:pPr>
            <a:r>
              <a:rPr b="1" i="0" lang="ca" sz="1000" u="none" cap="none" strike="noStrike">
                <a:solidFill>
                  <a:srgbClr val="0C2F62"/>
                </a:solidFill>
                <a:latin typeface="Arial"/>
                <a:ea typeface="Arial"/>
                <a:cs typeface="Arial"/>
                <a:sym typeface="Arial"/>
              </a:rPr>
              <a:t>Exemple: alumne, joan, anna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h67a477ec9a2001da_0_209"/>
          <p:cNvSpPr/>
          <p:nvPr/>
        </p:nvSpPr>
        <p:spPr>
          <a:xfrm>
            <a:off x="4697730" y="994410"/>
            <a:ext cx="396390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67a477ec9a2001da_0_209"/>
          <p:cNvSpPr/>
          <p:nvPr/>
        </p:nvSpPr>
        <p:spPr>
          <a:xfrm>
            <a:off x="4869180" y="1165860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h67a477ec9a2001da_0_209"/>
          <p:cNvSpPr/>
          <p:nvPr/>
        </p:nvSpPr>
        <p:spPr>
          <a:xfrm>
            <a:off x="4889754" y="122072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h67a477ec9a2001da_0_209"/>
          <p:cNvSpPr/>
          <p:nvPr/>
        </p:nvSpPr>
        <p:spPr>
          <a:xfrm>
            <a:off x="5349240" y="1200150"/>
            <a:ext cx="192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Grup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h67a477ec9a2001da_0_209"/>
          <p:cNvSpPr/>
          <p:nvPr/>
        </p:nvSpPr>
        <p:spPr>
          <a:xfrm>
            <a:off x="5349240" y="1529334"/>
            <a:ext cx="29832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Conjunt d’usuaris que comparteixen permisos o una funció.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h67a477ec9a2001da_0_209"/>
          <p:cNvSpPr/>
          <p:nvPr/>
        </p:nvSpPr>
        <p:spPr>
          <a:xfrm>
            <a:off x="5349240" y="2194560"/>
            <a:ext cx="2949000" cy="288000"/>
          </a:xfrm>
          <a:prstGeom prst="roundRect">
            <a:avLst>
              <a:gd fmla="val 28571" name="adj"/>
            </a:avLst>
          </a:prstGeom>
          <a:solidFill>
            <a:srgbClr val="EDF6FF"/>
          </a:solidFill>
          <a:ln cap="flat" cmpd="sng" w="10475">
            <a:solidFill>
              <a:srgbClr val="F2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h67a477ec9a2001da_0_209"/>
          <p:cNvSpPr/>
          <p:nvPr/>
        </p:nvSpPr>
        <p:spPr>
          <a:xfrm>
            <a:off x="5431536" y="2249424"/>
            <a:ext cx="2784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Arial"/>
              <a:buNone/>
            </a:pPr>
            <a:r>
              <a:rPr b="1" i="0" lang="ca" sz="1000" u="none" cap="none" strike="noStrike">
                <a:solidFill>
                  <a:srgbClr val="0C2F62"/>
                </a:solidFill>
                <a:latin typeface="Arial"/>
                <a:ea typeface="Arial"/>
                <a:cs typeface="Arial"/>
                <a:sym typeface="Arial"/>
              </a:rPr>
              <a:t>Exemple: alumnes, profes, administradors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h67a477ec9a2001da_0_209"/>
          <p:cNvSpPr/>
          <p:nvPr/>
        </p:nvSpPr>
        <p:spPr>
          <a:xfrm>
            <a:off x="480060" y="2640330"/>
            <a:ext cx="4080600" cy="12003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h67a477ec9a2001da_0_209"/>
          <p:cNvSpPr/>
          <p:nvPr/>
        </p:nvSpPr>
        <p:spPr>
          <a:xfrm>
            <a:off x="651510" y="2811780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67a477ec9a2001da_0_209"/>
          <p:cNvSpPr/>
          <p:nvPr/>
        </p:nvSpPr>
        <p:spPr>
          <a:xfrm>
            <a:off x="672084" y="286664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📁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h67a477ec9a2001da_0_209"/>
          <p:cNvSpPr/>
          <p:nvPr/>
        </p:nvSpPr>
        <p:spPr>
          <a:xfrm>
            <a:off x="1131570" y="2846070"/>
            <a:ext cx="21948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Carpeta personal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67a477ec9a2001da_0_209"/>
          <p:cNvSpPr/>
          <p:nvPr/>
        </p:nvSpPr>
        <p:spPr>
          <a:xfrm>
            <a:off x="1131570" y="3120390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Cada usuari té el seu espai de treball.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Normalment és: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67a477ec9a2001da_0_209"/>
          <p:cNvSpPr/>
          <p:nvPr/>
        </p:nvSpPr>
        <p:spPr>
          <a:xfrm>
            <a:off x="1131570" y="3456432"/>
            <a:ext cx="2126100" cy="288000"/>
          </a:xfrm>
          <a:prstGeom prst="roundRect">
            <a:avLst>
              <a:gd fmla="val 28571" name="adj"/>
            </a:avLst>
          </a:prstGeom>
          <a:solidFill>
            <a:srgbClr val="F2F7FD"/>
          </a:solidFill>
          <a:ln cap="flat" cmpd="sng" w="10475">
            <a:solidFill>
              <a:srgbClr val="F2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h67a477ec9a2001da_0_209"/>
          <p:cNvSpPr/>
          <p:nvPr/>
        </p:nvSpPr>
        <p:spPr>
          <a:xfrm>
            <a:off x="1213866" y="3511296"/>
            <a:ext cx="1961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100"/>
              <a:buFont typeface="Consolas"/>
              <a:buNone/>
            </a:pPr>
            <a:r>
              <a:rPr b="0" i="0" lang="ca" sz="11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/home/alumne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67a477ec9a2001da_0_209"/>
          <p:cNvSpPr/>
          <p:nvPr/>
        </p:nvSpPr>
        <p:spPr>
          <a:xfrm>
            <a:off x="4697730" y="2640330"/>
            <a:ext cx="3963900" cy="12003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67a477ec9a2001da_0_209"/>
          <p:cNvSpPr/>
          <p:nvPr/>
        </p:nvSpPr>
        <p:spPr>
          <a:xfrm>
            <a:off x="4869180" y="2811780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h67a477ec9a2001da_0_209"/>
          <p:cNvSpPr/>
          <p:nvPr/>
        </p:nvSpPr>
        <p:spPr>
          <a:xfrm>
            <a:off x="4889754" y="286664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🪟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67a477ec9a2001da_0_209"/>
          <p:cNvSpPr/>
          <p:nvPr/>
        </p:nvSpPr>
        <p:spPr>
          <a:xfrm>
            <a:off x="5349240" y="2846070"/>
            <a:ext cx="2606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Comparació amb Windows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67a477ec9a2001da_0_209"/>
          <p:cNvSpPr/>
          <p:nvPr/>
        </p:nvSpPr>
        <p:spPr>
          <a:xfrm>
            <a:off x="5349240" y="3120390"/>
            <a:ext cx="2880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A Windows també tens una carpeta personal, per exemple: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67a477ec9a2001da_0_209"/>
          <p:cNvSpPr/>
          <p:nvPr/>
        </p:nvSpPr>
        <p:spPr>
          <a:xfrm>
            <a:off x="5349240" y="3456432"/>
            <a:ext cx="2537700" cy="288000"/>
          </a:xfrm>
          <a:prstGeom prst="roundRect">
            <a:avLst>
              <a:gd fmla="val 28571" name="adj"/>
            </a:avLst>
          </a:prstGeom>
          <a:solidFill>
            <a:srgbClr val="F2F7FD"/>
          </a:solidFill>
          <a:ln cap="flat" cmpd="sng" w="10475">
            <a:solidFill>
              <a:srgbClr val="F2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h67a477ec9a2001da_0_209"/>
          <p:cNvSpPr/>
          <p:nvPr/>
        </p:nvSpPr>
        <p:spPr>
          <a:xfrm>
            <a:off x="5431536" y="3511296"/>
            <a:ext cx="2373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100"/>
              <a:buFont typeface="Consolas"/>
              <a:buNone/>
            </a:pPr>
            <a:r>
              <a:rPr b="0" i="0" lang="ca" sz="11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C:\Users\alumne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67a477ec9a2001da_0_209"/>
          <p:cNvSpPr/>
          <p:nvPr/>
        </p:nvSpPr>
        <p:spPr>
          <a:xfrm>
            <a:off x="491550" y="4114947"/>
            <a:ext cx="8160900" cy="651600"/>
          </a:xfrm>
          <a:prstGeom prst="roundRect">
            <a:avLst>
              <a:gd fmla="val 20000" name="adj"/>
            </a:avLst>
          </a:prstGeom>
          <a:solidFill>
            <a:srgbClr val="E4F1FC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67a477ec9a2001da_0_209"/>
          <p:cNvSpPr/>
          <p:nvPr/>
        </p:nvSpPr>
        <p:spPr>
          <a:xfrm>
            <a:off x="491549" y="4265749"/>
            <a:ext cx="495900" cy="4458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h67a477ec9a2001da_0_209"/>
          <p:cNvSpPr/>
          <p:nvPr/>
        </p:nvSpPr>
        <p:spPr>
          <a:xfrm>
            <a:off x="471075" y="4327550"/>
            <a:ext cx="5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67a477ec9a2001da_0_209"/>
          <p:cNvSpPr/>
          <p:nvPr/>
        </p:nvSpPr>
        <p:spPr>
          <a:xfrm>
            <a:off x="1063000" y="4286275"/>
            <a:ext cx="7399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Idea clau: </a:t>
            </a: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a Linux treballes com a usuari dins la teva carpeta personal, però</a:t>
            </a:r>
            <a:r>
              <a:rPr lang="ca" sz="1200">
                <a:solidFill>
                  <a:srgbClr val="143D6B"/>
                </a:solidFill>
              </a:rPr>
              <a:t> pots accedir a altres carpetes sempre que tinguis els permisos necessaris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9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7a477ec9a2001da_0_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24" name="Google Shape;124;h67a477ec9a2001da_0_254"/>
          <p:cNvSpPr/>
          <p:nvPr/>
        </p:nvSpPr>
        <p:spPr>
          <a:xfrm>
            <a:off x="445770" y="308610"/>
            <a:ext cx="819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2100"/>
              <a:buFont typeface="Arial"/>
              <a:buNone/>
            </a:pPr>
            <a:r>
              <a:rPr b="1" i="0" lang="ca" sz="2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Primeres comandes per orientar-te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67a477ec9a2001da_0_254"/>
          <p:cNvSpPr/>
          <p:nvPr/>
        </p:nvSpPr>
        <p:spPr>
          <a:xfrm>
            <a:off x="560111" y="421785"/>
            <a:ext cx="802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Conceptes bàsics Linux :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h67a477ec9a2001da_0_254"/>
          <p:cNvCxnSpPr/>
          <p:nvPr/>
        </p:nvCxnSpPr>
        <p:spPr>
          <a:xfrm>
            <a:off x="634485" y="4855475"/>
            <a:ext cx="6926700" cy="0"/>
          </a:xfrm>
          <a:prstGeom prst="straightConnector1">
            <a:avLst/>
          </a:prstGeom>
          <a:noFill/>
          <a:ln cap="flat" cmpd="sng" w="952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h67a477ec9a2001da_0_254"/>
          <p:cNvSpPr/>
          <p:nvPr/>
        </p:nvSpPr>
        <p:spPr>
          <a:xfrm>
            <a:off x="480060" y="994410"/>
            <a:ext cx="408060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67a477ec9a2001da_0_254"/>
          <p:cNvSpPr/>
          <p:nvPr/>
        </p:nvSpPr>
        <p:spPr>
          <a:xfrm>
            <a:off x="651510" y="1179576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h67a477ec9a2001da_0_254"/>
          <p:cNvSpPr/>
          <p:nvPr/>
        </p:nvSpPr>
        <p:spPr>
          <a:xfrm>
            <a:off x="672084" y="1234440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📍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67a477ec9a2001da_0_254"/>
          <p:cNvSpPr/>
          <p:nvPr/>
        </p:nvSpPr>
        <p:spPr>
          <a:xfrm>
            <a:off x="1131570" y="1220724"/>
            <a:ext cx="1509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ca">
                <a:solidFill>
                  <a:srgbClr val="143D6B"/>
                </a:solidFill>
              </a:rPr>
              <a:t>sóc</a:t>
            </a: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h67a477ec9a2001da_0_254"/>
          <p:cNvSpPr/>
          <p:nvPr/>
        </p:nvSpPr>
        <p:spPr>
          <a:xfrm>
            <a:off x="1131570" y="1536192"/>
            <a:ext cx="315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lang="ca" sz="1200">
                <a:solidFill>
                  <a:srgbClr val="143D6B"/>
                </a:solidFill>
              </a:rPr>
              <a:t>Abans de treballar amb permisos, cal saber on som...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h67a477ec9a2001da_0_254"/>
          <p:cNvSpPr/>
          <p:nvPr/>
        </p:nvSpPr>
        <p:spPr>
          <a:xfrm>
            <a:off x="1131570" y="2023110"/>
            <a:ext cx="3120300" cy="534900"/>
          </a:xfrm>
          <a:prstGeom prst="roundRect">
            <a:avLst>
              <a:gd fmla="val 15385" name="adj"/>
            </a:avLst>
          </a:prstGeom>
          <a:solidFill>
            <a:schemeClr val="dk1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h67a477ec9a2001da_0_254"/>
          <p:cNvSpPr/>
          <p:nvPr/>
        </p:nvSpPr>
        <p:spPr>
          <a:xfrm>
            <a:off x="1255014" y="2105406"/>
            <a:ext cx="2873400" cy="41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pwd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/home/alumne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67a477ec9a2001da_0_254"/>
          <p:cNvSpPr/>
          <p:nvPr/>
        </p:nvSpPr>
        <p:spPr>
          <a:xfrm>
            <a:off x="4697730" y="994410"/>
            <a:ext cx="396390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67a477ec9a2001da_0_254"/>
          <p:cNvSpPr/>
          <p:nvPr/>
        </p:nvSpPr>
        <p:spPr>
          <a:xfrm>
            <a:off x="4869180" y="1179576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67a477ec9a2001da_0_254"/>
          <p:cNvSpPr/>
          <p:nvPr/>
        </p:nvSpPr>
        <p:spPr>
          <a:xfrm>
            <a:off x="4889754" y="1234440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📂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h67a477ec9a2001da_0_254"/>
          <p:cNvSpPr/>
          <p:nvPr/>
        </p:nvSpPr>
        <p:spPr>
          <a:xfrm>
            <a:off x="5349240" y="1220724"/>
            <a:ext cx="2057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Què hi ha dins?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67a477ec9a2001da_0_254"/>
          <p:cNvSpPr/>
          <p:nvPr/>
        </p:nvSpPr>
        <p:spPr>
          <a:xfrm>
            <a:off x="5349240" y="1536192"/>
            <a:ext cx="30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La comanda ls mostra fitxers i carpetes del directori actual.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67a477ec9a2001da_0_254"/>
          <p:cNvSpPr/>
          <p:nvPr/>
        </p:nvSpPr>
        <p:spPr>
          <a:xfrm>
            <a:off x="5349240" y="2023110"/>
            <a:ext cx="3017400" cy="534900"/>
          </a:xfrm>
          <a:prstGeom prst="roundRect">
            <a:avLst>
              <a:gd fmla="val 15385" name="adj"/>
            </a:avLst>
          </a:prstGeom>
          <a:solidFill>
            <a:schemeClr val="dk1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h67a477ec9a2001da_0_254"/>
          <p:cNvSpPr/>
          <p:nvPr/>
        </p:nvSpPr>
        <p:spPr>
          <a:xfrm>
            <a:off x="5472684" y="2105406"/>
            <a:ext cx="277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100"/>
              <a:buFont typeface="Consolas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ls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100"/>
              <a:buFont typeface="Consolas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Documents   Descar</a:t>
            </a: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regues</a:t>
            </a: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Imatges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" name="Google Shape;141;h67a477ec9a2001da_0_254"/>
          <p:cNvSpPr/>
          <p:nvPr/>
        </p:nvSpPr>
        <p:spPr>
          <a:xfrm>
            <a:off x="480060" y="2743200"/>
            <a:ext cx="4080600" cy="12003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h67a477ec9a2001da_0_254"/>
          <p:cNvSpPr/>
          <p:nvPr/>
        </p:nvSpPr>
        <p:spPr>
          <a:xfrm>
            <a:off x="651510" y="2894076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67a477ec9a2001da_0_254"/>
          <p:cNvSpPr/>
          <p:nvPr/>
        </p:nvSpPr>
        <p:spPr>
          <a:xfrm>
            <a:off x="672084" y="2948940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➡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h67a477ec9a2001da_0_254"/>
          <p:cNvSpPr/>
          <p:nvPr/>
        </p:nvSpPr>
        <p:spPr>
          <a:xfrm>
            <a:off x="1131570" y="2914650"/>
            <a:ext cx="192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Moure’m amb cd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h67a477ec9a2001da_0_254"/>
          <p:cNvSpPr/>
          <p:nvPr/>
        </p:nvSpPr>
        <p:spPr>
          <a:xfrm>
            <a:off x="1131570" y="3209544"/>
            <a:ext cx="3120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cd serveix per entrar en una carpeta o anar a una ruta concreta.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h67a477ec9a2001da_0_254"/>
          <p:cNvSpPr/>
          <p:nvPr/>
        </p:nvSpPr>
        <p:spPr>
          <a:xfrm>
            <a:off x="1131575" y="3617525"/>
            <a:ext cx="3120300" cy="679200"/>
          </a:xfrm>
          <a:prstGeom prst="roundRect">
            <a:avLst>
              <a:gd fmla="val 1538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h67a477ec9a2001da_0_254"/>
          <p:cNvSpPr/>
          <p:nvPr/>
        </p:nvSpPr>
        <p:spPr>
          <a:xfrm>
            <a:off x="1255025" y="3658629"/>
            <a:ext cx="2873400" cy="59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cd Descarregues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cd ..        # puja un nivell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cd /home     # ruta concreta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h67a477ec9a2001da_0_254"/>
          <p:cNvSpPr/>
          <p:nvPr/>
        </p:nvSpPr>
        <p:spPr>
          <a:xfrm>
            <a:off x="4697730" y="2743200"/>
            <a:ext cx="3963900" cy="12003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h67a477ec9a2001da_0_254"/>
          <p:cNvSpPr/>
          <p:nvPr/>
        </p:nvSpPr>
        <p:spPr>
          <a:xfrm>
            <a:off x="4869180" y="2894076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67a477ec9a2001da_0_254"/>
          <p:cNvSpPr/>
          <p:nvPr/>
        </p:nvSpPr>
        <p:spPr>
          <a:xfrm>
            <a:off x="4889754" y="2948940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67a477ec9a2001da_0_254"/>
          <p:cNvSpPr/>
          <p:nvPr/>
        </p:nvSpPr>
        <p:spPr>
          <a:xfrm>
            <a:off x="5349240" y="2914650"/>
            <a:ext cx="2469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Crear carpeta i fitxer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67a477ec9a2001da_0_254"/>
          <p:cNvSpPr/>
          <p:nvPr/>
        </p:nvSpPr>
        <p:spPr>
          <a:xfrm>
            <a:off x="5349240" y="3209544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mkdir crea una carpeta i touch crea un fitxer buit.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67a477ec9a2001da_0_254"/>
          <p:cNvSpPr/>
          <p:nvPr/>
        </p:nvSpPr>
        <p:spPr>
          <a:xfrm>
            <a:off x="5366350" y="3672426"/>
            <a:ext cx="2983200" cy="679200"/>
          </a:xfrm>
          <a:prstGeom prst="roundRect">
            <a:avLst>
              <a:gd fmla="val 15385" name="adj"/>
            </a:avLst>
          </a:prstGeom>
          <a:solidFill>
            <a:schemeClr val="dk1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67a477ec9a2001da_0_254"/>
          <p:cNvSpPr/>
          <p:nvPr/>
        </p:nvSpPr>
        <p:spPr>
          <a:xfrm>
            <a:off x="5489775" y="3754725"/>
            <a:ext cx="27366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mkdir proves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cd proves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touch hola.txt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h67a477ec9a2001da_0_254"/>
          <p:cNvSpPr/>
          <p:nvPr/>
        </p:nvSpPr>
        <p:spPr>
          <a:xfrm>
            <a:off x="463035" y="4395989"/>
            <a:ext cx="8160900" cy="411600"/>
          </a:xfrm>
          <a:prstGeom prst="roundRect">
            <a:avLst>
              <a:gd fmla="val 20000" name="adj"/>
            </a:avLst>
          </a:prstGeom>
          <a:solidFill>
            <a:srgbClr val="E4F1FC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67a477ec9a2001da_0_254"/>
          <p:cNvSpPr/>
          <p:nvPr/>
        </p:nvSpPr>
        <p:spPr>
          <a:xfrm>
            <a:off x="586479" y="4437137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67a477ec9a2001da_0_254"/>
          <p:cNvSpPr/>
          <p:nvPr/>
        </p:nvSpPr>
        <p:spPr>
          <a:xfrm>
            <a:off x="607053" y="4492001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h67a477ec9a2001da_0_254"/>
          <p:cNvSpPr/>
          <p:nvPr/>
        </p:nvSpPr>
        <p:spPr>
          <a:xfrm>
            <a:off x="1045965" y="4519433"/>
            <a:ext cx="7303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Idea clau: </a:t>
            </a: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amb pwd, ls i cd ja et pots orientar i començar a moure’t per Linux.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9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67a477ec9a2001da_0_2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65" name="Google Shape;165;h67a477ec9a2001da_0_299"/>
          <p:cNvSpPr/>
          <p:nvPr/>
        </p:nvSpPr>
        <p:spPr>
          <a:xfrm>
            <a:off x="600175" y="399700"/>
            <a:ext cx="5058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Exemple </a:t>
            </a:r>
            <a:endParaRPr b="1" sz="2100">
              <a:solidFill>
                <a:srgbClr val="143D6B"/>
              </a:solidFill>
            </a:endParaRPr>
          </a:p>
        </p:txBody>
      </p:sp>
      <p:sp>
        <p:nvSpPr>
          <p:cNvPr id="166" name="Google Shape;166;h67a477ec9a2001da_0_299"/>
          <p:cNvSpPr/>
          <p:nvPr/>
        </p:nvSpPr>
        <p:spPr>
          <a:xfrm>
            <a:off x="445786" y="1028660"/>
            <a:ext cx="802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Exemple pas a pas: de /home cap a Descar</a:t>
            </a:r>
            <a:r>
              <a:rPr lang="ca" sz="1200">
                <a:solidFill>
                  <a:srgbClr val="143D6B"/>
                </a:solidFill>
              </a:rPr>
              <a:t>regues</a:t>
            </a: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 i tornar enrere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67a477ec9a2001da_0_299"/>
          <p:cNvSpPr/>
          <p:nvPr/>
        </p:nvSpPr>
        <p:spPr>
          <a:xfrm>
            <a:off x="569230" y="1371560"/>
            <a:ext cx="7955400" cy="823200"/>
          </a:xfrm>
          <a:prstGeom prst="roundRect">
            <a:avLst>
              <a:gd fmla="val 10000" name="adj"/>
            </a:avLst>
          </a:prstGeom>
          <a:solidFill>
            <a:srgbClr val="F7FB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h67a477ec9a2001da_0_299"/>
          <p:cNvSpPr/>
          <p:nvPr/>
        </p:nvSpPr>
        <p:spPr>
          <a:xfrm>
            <a:off x="774970" y="1639022"/>
            <a:ext cx="925800" cy="260700"/>
          </a:xfrm>
          <a:prstGeom prst="roundRect">
            <a:avLst>
              <a:gd fmla="val 31579" name="adj"/>
            </a:avLst>
          </a:prstGeom>
          <a:solidFill>
            <a:srgbClr val="F2F7FD"/>
          </a:solidFill>
          <a:ln cap="flat" cmpd="sng" w="10475">
            <a:solidFill>
              <a:srgbClr val="F2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67a477ec9a2001da_0_299"/>
          <p:cNvSpPr/>
          <p:nvPr/>
        </p:nvSpPr>
        <p:spPr>
          <a:xfrm>
            <a:off x="857266" y="1693886"/>
            <a:ext cx="761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100"/>
              <a:buFont typeface="Consolas"/>
              <a:buNone/>
            </a:pPr>
            <a:r>
              <a:rPr b="0" i="0" lang="ca" sz="11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/home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67a477ec9a2001da_0_299"/>
          <p:cNvSpPr/>
          <p:nvPr/>
        </p:nvSpPr>
        <p:spPr>
          <a:xfrm>
            <a:off x="1851676" y="1673312"/>
            <a:ext cx="20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300"/>
              <a:buFont typeface="Arial"/>
              <a:buNone/>
            </a:pPr>
            <a:r>
              <a:rPr b="1" i="0" lang="ca" sz="13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67a477ec9a2001da_0_299"/>
          <p:cNvSpPr/>
          <p:nvPr/>
        </p:nvSpPr>
        <p:spPr>
          <a:xfrm>
            <a:off x="2153428" y="1639022"/>
            <a:ext cx="1131600" cy="260700"/>
          </a:xfrm>
          <a:prstGeom prst="roundRect">
            <a:avLst>
              <a:gd fmla="val 31579" name="adj"/>
            </a:avLst>
          </a:prstGeom>
          <a:solidFill>
            <a:srgbClr val="F2F7FD"/>
          </a:solidFill>
          <a:ln cap="flat" cmpd="sng" w="10475">
            <a:solidFill>
              <a:srgbClr val="F2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67a477ec9a2001da_0_299"/>
          <p:cNvSpPr/>
          <p:nvPr/>
        </p:nvSpPr>
        <p:spPr>
          <a:xfrm>
            <a:off x="2235724" y="1693886"/>
            <a:ext cx="967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100"/>
              <a:buFont typeface="Consolas"/>
              <a:buNone/>
            </a:pPr>
            <a:r>
              <a:rPr b="0" i="0" lang="ca" sz="11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alumne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67a477ec9a2001da_0_299"/>
          <p:cNvSpPr/>
          <p:nvPr/>
        </p:nvSpPr>
        <p:spPr>
          <a:xfrm>
            <a:off x="3449590" y="1673312"/>
            <a:ext cx="20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300"/>
              <a:buFont typeface="Arial"/>
              <a:buNone/>
            </a:pPr>
            <a:r>
              <a:rPr b="1" i="0" lang="ca" sz="13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h67a477ec9a2001da_0_299"/>
          <p:cNvSpPr/>
          <p:nvPr/>
        </p:nvSpPr>
        <p:spPr>
          <a:xfrm>
            <a:off x="3758200" y="1639022"/>
            <a:ext cx="1371600" cy="260700"/>
          </a:xfrm>
          <a:prstGeom prst="roundRect">
            <a:avLst>
              <a:gd fmla="val 31579" name="adj"/>
            </a:avLst>
          </a:prstGeom>
          <a:solidFill>
            <a:srgbClr val="F2F7FD"/>
          </a:solidFill>
          <a:ln cap="flat" cmpd="sng" w="10475">
            <a:solidFill>
              <a:srgbClr val="F2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h67a477ec9a2001da_0_299"/>
          <p:cNvSpPr/>
          <p:nvPr/>
        </p:nvSpPr>
        <p:spPr>
          <a:xfrm>
            <a:off x="3840496" y="1693886"/>
            <a:ext cx="1206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100"/>
              <a:buFont typeface="Consolas"/>
              <a:buNone/>
            </a:pPr>
            <a:r>
              <a:rPr b="0" i="0" lang="ca" sz="11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Descar</a:t>
            </a:r>
            <a:r>
              <a:rPr lang="ca" sz="1100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regues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67a477ec9a2001da_0_299"/>
          <p:cNvSpPr/>
          <p:nvPr/>
        </p:nvSpPr>
        <p:spPr>
          <a:xfrm>
            <a:off x="5472700" y="1680175"/>
            <a:ext cx="2924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00"/>
              <a:buFont typeface="Consolas"/>
              <a:buNone/>
            </a:pPr>
            <a:r>
              <a:rPr b="0" i="0" lang="ca" sz="1000" u="none" cap="none" strike="noStrike">
                <a:solidFill>
                  <a:srgbClr val="143D6B"/>
                </a:solidFill>
                <a:latin typeface="Consolas"/>
                <a:ea typeface="Consolas"/>
                <a:cs typeface="Consolas"/>
                <a:sym typeface="Consolas"/>
              </a:rPr>
              <a:t>Ruta completa: /home/alumne/Descar</a:t>
            </a:r>
            <a:r>
              <a:rPr lang="ca" sz="1000">
                <a:solidFill>
                  <a:srgbClr val="143D6B"/>
                </a:solidFill>
                <a:latin typeface="Consolas"/>
                <a:ea typeface="Consolas"/>
                <a:cs typeface="Consolas"/>
                <a:sym typeface="Consolas"/>
              </a:rPr>
              <a:t>regues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67a477ec9a2001da_0_299"/>
          <p:cNvSpPr/>
          <p:nvPr/>
        </p:nvSpPr>
        <p:spPr>
          <a:xfrm>
            <a:off x="569225" y="2434550"/>
            <a:ext cx="2469000" cy="189810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67a477ec9a2001da_0_299"/>
          <p:cNvSpPr/>
          <p:nvPr/>
        </p:nvSpPr>
        <p:spPr>
          <a:xfrm>
            <a:off x="740680" y="2592284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h67a477ec9a2001da_0_299"/>
          <p:cNvSpPr/>
          <p:nvPr/>
        </p:nvSpPr>
        <p:spPr>
          <a:xfrm>
            <a:off x="761254" y="2647148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67a477ec9a2001da_0_299"/>
          <p:cNvSpPr/>
          <p:nvPr/>
        </p:nvSpPr>
        <p:spPr>
          <a:xfrm>
            <a:off x="1220740" y="2612858"/>
            <a:ext cx="144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Surto de /home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67a477ec9a2001da_0_299"/>
          <p:cNvSpPr/>
          <p:nvPr/>
        </p:nvSpPr>
        <p:spPr>
          <a:xfrm>
            <a:off x="1220740" y="2948900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Puc veure on soc: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67a477ec9a2001da_0_299"/>
          <p:cNvSpPr/>
          <p:nvPr/>
        </p:nvSpPr>
        <p:spPr>
          <a:xfrm>
            <a:off x="1220750" y="3243801"/>
            <a:ext cx="1440300" cy="501600"/>
          </a:xfrm>
          <a:prstGeom prst="roundRect">
            <a:avLst>
              <a:gd fmla="val 19355" name="adj"/>
            </a:avLst>
          </a:prstGeom>
          <a:solidFill>
            <a:schemeClr val="dk1"/>
          </a:solidFill>
          <a:ln cap="flat" cmpd="sng" w="104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67a477ec9a2001da_0_299"/>
          <p:cNvSpPr/>
          <p:nvPr/>
        </p:nvSpPr>
        <p:spPr>
          <a:xfrm>
            <a:off x="1344184" y="3326090"/>
            <a:ext cx="1193400" cy="30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pwd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/home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h67a477ec9a2001da_0_299"/>
          <p:cNvSpPr/>
          <p:nvPr/>
        </p:nvSpPr>
        <p:spPr>
          <a:xfrm>
            <a:off x="1220740" y="3834511"/>
            <a:ext cx="15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00"/>
              <a:buFont typeface="Arial"/>
              <a:buNone/>
            </a:pPr>
            <a:r>
              <a:rPr b="0" i="0" lang="ca" sz="10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Encara no soc dins la carpeta Descar</a:t>
            </a:r>
            <a:r>
              <a:rPr lang="ca" sz="1000">
                <a:solidFill>
                  <a:srgbClr val="143D6B"/>
                </a:solidFill>
              </a:rPr>
              <a:t>regues</a:t>
            </a:r>
            <a:r>
              <a:rPr b="0" i="0" lang="ca" sz="10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67a477ec9a2001da_0_299"/>
          <p:cNvSpPr/>
          <p:nvPr/>
        </p:nvSpPr>
        <p:spPr>
          <a:xfrm>
            <a:off x="3333002" y="2434550"/>
            <a:ext cx="2469000" cy="189810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67a477ec9a2001da_0_299"/>
          <p:cNvSpPr/>
          <p:nvPr/>
        </p:nvSpPr>
        <p:spPr>
          <a:xfrm>
            <a:off x="3504454" y="2592284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h67a477ec9a2001da_0_299"/>
          <p:cNvSpPr/>
          <p:nvPr/>
        </p:nvSpPr>
        <p:spPr>
          <a:xfrm>
            <a:off x="3525028" y="2647148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67a477ec9a2001da_0_299"/>
          <p:cNvSpPr/>
          <p:nvPr/>
        </p:nvSpPr>
        <p:spPr>
          <a:xfrm>
            <a:off x="3984514" y="2612858"/>
            <a:ext cx="1509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Entro a Descar</a:t>
            </a:r>
            <a:r>
              <a:rPr b="1" lang="ca">
                <a:solidFill>
                  <a:srgbClr val="143D6B"/>
                </a:solidFill>
              </a:rPr>
              <a:t>regues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67a477ec9a2001da_0_299"/>
          <p:cNvSpPr/>
          <p:nvPr/>
        </p:nvSpPr>
        <p:spPr>
          <a:xfrm>
            <a:off x="3984514" y="2948900"/>
            <a:ext cx="154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Des de /home puc escriure: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67a477ec9a2001da_0_299"/>
          <p:cNvSpPr/>
          <p:nvPr/>
        </p:nvSpPr>
        <p:spPr>
          <a:xfrm>
            <a:off x="3655400" y="3437700"/>
            <a:ext cx="1943400" cy="642600"/>
          </a:xfrm>
          <a:prstGeom prst="roundRect">
            <a:avLst>
              <a:gd fmla="val 14634" name="adj"/>
            </a:avLst>
          </a:prstGeom>
          <a:solidFill>
            <a:schemeClr val="dk1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h67a477ec9a2001da_0_299"/>
          <p:cNvSpPr/>
          <p:nvPr/>
        </p:nvSpPr>
        <p:spPr>
          <a:xfrm>
            <a:off x="3810875" y="3531775"/>
            <a:ext cx="1810800" cy="5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900"/>
              <a:buFont typeface="Consolas"/>
              <a:buNone/>
            </a:pPr>
            <a:r>
              <a:rPr b="1" i="0" lang="ca" sz="10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cd alumne/Descar</a:t>
            </a:r>
            <a:r>
              <a:rPr b="1" lang="ca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regues</a:t>
            </a:r>
            <a:endParaRPr b="1" i="0" sz="10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1" i="0" lang="ca" sz="10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pwd</a:t>
            </a:r>
            <a:endParaRPr b="1"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900"/>
              <a:buFont typeface="Consolas"/>
              <a:buNone/>
            </a:pPr>
            <a:r>
              <a:rPr b="1" i="0" lang="ca" sz="10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/home/alumne/Descar</a:t>
            </a:r>
            <a:r>
              <a:rPr b="1" lang="ca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regues</a:t>
            </a:r>
            <a:endParaRPr b="1" i="0" sz="10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h67a477ec9a2001da_0_299"/>
          <p:cNvSpPr/>
          <p:nvPr/>
        </p:nvSpPr>
        <p:spPr>
          <a:xfrm>
            <a:off x="6089922" y="2434550"/>
            <a:ext cx="2434500" cy="189810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h67a477ec9a2001da_0_299"/>
          <p:cNvSpPr/>
          <p:nvPr/>
        </p:nvSpPr>
        <p:spPr>
          <a:xfrm>
            <a:off x="6261370" y="2592284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67a477ec9a2001da_0_299"/>
          <p:cNvSpPr/>
          <p:nvPr/>
        </p:nvSpPr>
        <p:spPr>
          <a:xfrm>
            <a:off x="6281944" y="2647148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67a477ec9a2001da_0_299"/>
          <p:cNvSpPr/>
          <p:nvPr/>
        </p:nvSpPr>
        <p:spPr>
          <a:xfrm>
            <a:off x="6741430" y="2612858"/>
            <a:ext cx="144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Torno enrere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67a477ec9a2001da_0_299"/>
          <p:cNvSpPr/>
          <p:nvPr/>
        </p:nvSpPr>
        <p:spPr>
          <a:xfrm>
            <a:off x="6741430" y="2948900"/>
            <a:ext cx="1474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Amb dos punts puges un nivell: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67a477ec9a2001da_0_299"/>
          <p:cNvSpPr/>
          <p:nvPr/>
        </p:nvSpPr>
        <p:spPr>
          <a:xfrm>
            <a:off x="6405250" y="3518150"/>
            <a:ext cx="1810800" cy="642600"/>
          </a:xfrm>
          <a:prstGeom prst="roundRect">
            <a:avLst>
              <a:gd fmla="val 14634" name="adj"/>
            </a:avLst>
          </a:prstGeom>
          <a:solidFill>
            <a:schemeClr val="dk1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h67a477ec9a2001da_0_299"/>
          <p:cNvSpPr/>
          <p:nvPr/>
        </p:nvSpPr>
        <p:spPr>
          <a:xfrm>
            <a:off x="6549275" y="3600450"/>
            <a:ext cx="1543200" cy="4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900"/>
              <a:buFont typeface="Consolas"/>
              <a:buNone/>
            </a:pPr>
            <a:r>
              <a:rPr b="1" i="0" lang="ca" sz="10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cd ..</a:t>
            </a:r>
            <a:endParaRPr b="1" i="0" sz="10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900"/>
              <a:buFont typeface="Consolas"/>
              <a:buNone/>
            </a:pPr>
            <a:r>
              <a:rPr b="1" i="0" lang="ca" sz="10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pwd</a:t>
            </a:r>
            <a:endParaRPr b="1" i="0" sz="10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900"/>
              <a:buFont typeface="Consolas"/>
              <a:buNone/>
            </a:pPr>
            <a:r>
              <a:rPr b="1" i="0" lang="ca" sz="10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/home/alumne</a:t>
            </a:r>
            <a:endParaRPr b="1" i="0" sz="1000" u="none" cap="none" strike="noStrike">
              <a:solidFill>
                <a:schemeClr val="lt1"/>
              </a:solidFill>
            </a:endParaRPr>
          </a:p>
        </p:txBody>
      </p:sp>
      <p:sp>
        <p:nvSpPr>
          <p:cNvPr id="199" name="Google Shape;199;h67a477ec9a2001da_0_299"/>
          <p:cNvSpPr/>
          <p:nvPr/>
        </p:nvSpPr>
        <p:spPr>
          <a:xfrm>
            <a:off x="463025" y="4430327"/>
            <a:ext cx="8160900" cy="569400"/>
          </a:xfrm>
          <a:prstGeom prst="roundRect">
            <a:avLst>
              <a:gd fmla="val 20000" name="adj"/>
            </a:avLst>
          </a:prstGeom>
          <a:solidFill>
            <a:srgbClr val="E4F1FC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h67a477ec9a2001da_0_299"/>
          <p:cNvSpPr/>
          <p:nvPr/>
        </p:nvSpPr>
        <p:spPr>
          <a:xfrm>
            <a:off x="586479" y="4471468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h67a477ec9a2001da_0_299"/>
          <p:cNvSpPr/>
          <p:nvPr/>
        </p:nvSpPr>
        <p:spPr>
          <a:xfrm>
            <a:off x="607053" y="4526332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h67a477ec9a2001da_0_299"/>
          <p:cNvSpPr/>
          <p:nvPr/>
        </p:nvSpPr>
        <p:spPr>
          <a:xfrm>
            <a:off x="1045975" y="4553784"/>
            <a:ext cx="73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Idea clau: </a:t>
            </a: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cd .. vol dir “puja a la carpeta superior”. És molt útil quan t’has ficat dins d’una carpeta i vols tornar enrere.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9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67a477ec9a2001da_0_3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209" name="Google Shape;209;h67a477ec9a2001da_0_348"/>
          <p:cNvSpPr/>
          <p:nvPr/>
        </p:nvSpPr>
        <p:spPr>
          <a:xfrm>
            <a:off x="543545" y="366535"/>
            <a:ext cx="819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2100"/>
              <a:buFont typeface="Arial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Ruta absoluta i ruta relativa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h67a477ec9a2001da_0_348"/>
          <p:cNvSpPr/>
          <p:nvPr/>
        </p:nvSpPr>
        <p:spPr>
          <a:xfrm>
            <a:off x="445775" y="952600"/>
            <a:ext cx="7794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66"/>
              <a:buFont typeface="Arial"/>
              <a:buNone/>
            </a:pPr>
            <a:r>
              <a:rPr b="0" i="0" lang="ca" sz="1166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Són dues maneres vàlides d’arribar a la mateixa carpeta</a:t>
            </a:r>
            <a:endParaRPr b="0" i="0" sz="11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67a477ec9a2001da_0_348"/>
          <p:cNvSpPr/>
          <p:nvPr/>
        </p:nvSpPr>
        <p:spPr>
          <a:xfrm>
            <a:off x="8058150" y="41148"/>
            <a:ext cx="48000" cy="48000"/>
          </a:xfrm>
          <a:prstGeom prst="ellipse">
            <a:avLst/>
          </a:prstGeom>
          <a:solidFill>
            <a:srgbClr val="98C4E7"/>
          </a:solidFill>
          <a:ln cap="flat" cmpd="sng" w="9525">
            <a:solidFill>
              <a:srgbClr val="98C4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67a477ec9a2001da_0_348"/>
          <p:cNvSpPr/>
          <p:nvPr/>
        </p:nvSpPr>
        <p:spPr>
          <a:xfrm>
            <a:off x="8181594" y="41148"/>
            <a:ext cx="48000" cy="48000"/>
          </a:xfrm>
          <a:prstGeom prst="ellipse">
            <a:avLst/>
          </a:prstGeom>
          <a:solidFill>
            <a:srgbClr val="98C4E7"/>
          </a:solidFill>
          <a:ln cap="flat" cmpd="sng" w="9525">
            <a:solidFill>
              <a:srgbClr val="98C4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h67a477ec9a2001da_0_348"/>
          <p:cNvSpPr/>
          <p:nvPr/>
        </p:nvSpPr>
        <p:spPr>
          <a:xfrm>
            <a:off x="8305038" y="41148"/>
            <a:ext cx="48000" cy="48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h67a477ec9a2001da_0_348"/>
          <p:cNvCxnSpPr/>
          <p:nvPr/>
        </p:nvCxnSpPr>
        <p:spPr>
          <a:xfrm>
            <a:off x="643470" y="4982856"/>
            <a:ext cx="6728400" cy="0"/>
          </a:xfrm>
          <a:prstGeom prst="straightConnector1">
            <a:avLst/>
          </a:prstGeom>
          <a:noFill/>
          <a:ln cap="flat" cmpd="sng" w="9250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h67a477ec9a2001da_0_348"/>
          <p:cNvSpPr/>
          <p:nvPr/>
        </p:nvSpPr>
        <p:spPr>
          <a:xfrm>
            <a:off x="543550" y="1305676"/>
            <a:ext cx="3897000" cy="23445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01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67a477ec9a2001da_0_348"/>
          <p:cNvSpPr/>
          <p:nvPr/>
        </p:nvSpPr>
        <p:spPr>
          <a:xfrm>
            <a:off x="710085" y="1485527"/>
            <a:ext cx="372900" cy="372900"/>
          </a:xfrm>
          <a:prstGeom prst="ellipse">
            <a:avLst/>
          </a:prstGeom>
          <a:solidFill>
            <a:srgbClr val="DDECF8"/>
          </a:solidFill>
          <a:ln cap="flat" cmpd="sng" w="9250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h67a477ec9a2001da_0_348"/>
          <p:cNvSpPr/>
          <p:nvPr/>
        </p:nvSpPr>
        <p:spPr>
          <a:xfrm>
            <a:off x="730070" y="1538819"/>
            <a:ext cx="33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57"/>
              <a:buFont typeface="Arial"/>
              <a:buNone/>
            </a:pPr>
            <a:r>
              <a:rPr b="1" i="0" lang="ca" sz="1457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📌</a:t>
            </a:r>
            <a:endParaRPr b="0" i="0" sz="145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67a477ec9a2001da_0_348"/>
          <p:cNvSpPr/>
          <p:nvPr/>
        </p:nvSpPr>
        <p:spPr>
          <a:xfrm>
            <a:off x="1176395" y="1505511"/>
            <a:ext cx="213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360"/>
              <a:buFont typeface="Arial"/>
              <a:buNone/>
            </a:pPr>
            <a:r>
              <a:rPr b="1" i="0" lang="ca" sz="136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Ruta absoluta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67a477ec9a2001da_0_348"/>
          <p:cNvSpPr/>
          <p:nvPr/>
        </p:nvSpPr>
        <p:spPr>
          <a:xfrm>
            <a:off x="1176395" y="1865237"/>
            <a:ext cx="2897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68"/>
              <a:buFont typeface="Arial"/>
              <a:buNone/>
            </a:pPr>
            <a:r>
              <a:rPr b="0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Comença sempre des de l’arrel del sistema (/).</a:t>
            </a:r>
            <a:endParaRPr b="0" i="0" sz="106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68"/>
              <a:buFont typeface="Arial"/>
              <a:buNone/>
            </a:pPr>
            <a:r>
              <a:rPr b="0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Serveix encara que estiguis en qualsevol altra carpeta.</a:t>
            </a:r>
            <a:endParaRPr b="0" i="0" sz="106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67a477ec9a2001da_0_348"/>
          <p:cNvSpPr/>
          <p:nvPr/>
        </p:nvSpPr>
        <p:spPr>
          <a:xfrm>
            <a:off x="1176395" y="2551379"/>
            <a:ext cx="2964600" cy="366300"/>
          </a:xfrm>
          <a:prstGeom prst="roundRect">
            <a:avLst>
              <a:gd fmla="val 21818" name="adj"/>
            </a:avLst>
          </a:prstGeom>
          <a:solidFill>
            <a:schemeClr val="dk1"/>
          </a:solidFill>
          <a:ln cap="flat" cmpd="sng" w="101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67a477ec9a2001da_0_348"/>
          <p:cNvSpPr/>
          <p:nvPr/>
        </p:nvSpPr>
        <p:spPr>
          <a:xfrm>
            <a:off x="1296303" y="2631318"/>
            <a:ext cx="27246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68"/>
              <a:buFont typeface="Consolas"/>
              <a:buNone/>
            </a:pPr>
            <a:r>
              <a:rPr i="0" lang="ca" sz="106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cd /home/alumne/Descar</a:t>
            </a:r>
            <a:r>
              <a:rPr lang="ca" sz="106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regues</a:t>
            </a:r>
            <a:endParaRPr i="0" sz="106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h67a477ec9a2001da_0_348"/>
          <p:cNvSpPr/>
          <p:nvPr/>
        </p:nvSpPr>
        <p:spPr>
          <a:xfrm>
            <a:off x="1176395" y="3050998"/>
            <a:ext cx="27981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68"/>
              <a:buFont typeface="Arial"/>
              <a:buNone/>
            </a:pPr>
            <a:r>
              <a:rPr b="0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És com donar l’adreça completa.</a:t>
            </a:r>
            <a:endParaRPr b="0" i="0" sz="106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h67a477ec9a2001da_0_348"/>
          <p:cNvSpPr/>
          <p:nvPr/>
        </p:nvSpPr>
        <p:spPr>
          <a:xfrm>
            <a:off x="4573798" y="1305676"/>
            <a:ext cx="3830400" cy="23445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01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67a477ec9a2001da_0_348"/>
          <p:cNvSpPr/>
          <p:nvPr/>
        </p:nvSpPr>
        <p:spPr>
          <a:xfrm>
            <a:off x="4740332" y="1485527"/>
            <a:ext cx="372900" cy="372900"/>
          </a:xfrm>
          <a:prstGeom prst="ellipse">
            <a:avLst/>
          </a:prstGeom>
          <a:solidFill>
            <a:srgbClr val="DDECF8"/>
          </a:solidFill>
          <a:ln cap="flat" cmpd="sng" w="9250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67a477ec9a2001da_0_348"/>
          <p:cNvSpPr/>
          <p:nvPr/>
        </p:nvSpPr>
        <p:spPr>
          <a:xfrm>
            <a:off x="4760316" y="1538819"/>
            <a:ext cx="33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57"/>
              <a:buFont typeface="Arial"/>
              <a:buNone/>
            </a:pPr>
            <a:r>
              <a:rPr b="1" i="0" lang="ca" sz="1457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↪</a:t>
            </a:r>
            <a:endParaRPr b="0" i="0" sz="145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h67a477ec9a2001da_0_348"/>
          <p:cNvSpPr/>
          <p:nvPr/>
        </p:nvSpPr>
        <p:spPr>
          <a:xfrm>
            <a:off x="5206641" y="1505511"/>
            <a:ext cx="213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360"/>
              <a:buFont typeface="Arial"/>
              <a:buNone/>
            </a:pPr>
            <a:r>
              <a:rPr b="1" i="0" lang="ca" sz="136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Ruta relativa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h67a477ec9a2001da_0_348"/>
          <p:cNvSpPr/>
          <p:nvPr/>
        </p:nvSpPr>
        <p:spPr>
          <a:xfrm>
            <a:off x="5206641" y="1865237"/>
            <a:ext cx="28977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68"/>
              <a:buFont typeface="Arial"/>
              <a:buNone/>
            </a:pPr>
            <a:r>
              <a:rPr b="0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Depèn d’on ets ara mateix.</a:t>
            </a:r>
            <a:endParaRPr b="0" i="0" sz="106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68"/>
              <a:buFont typeface="Arial"/>
              <a:buNone/>
            </a:pPr>
            <a:r>
              <a:rPr b="0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Només escrius la part del camí que falta.</a:t>
            </a:r>
            <a:endParaRPr b="0" i="0" sz="106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67a477ec9a2001da_0_348"/>
          <p:cNvSpPr/>
          <p:nvPr/>
        </p:nvSpPr>
        <p:spPr>
          <a:xfrm>
            <a:off x="5206641" y="2551379"/>
            <a:ext cx="2864400" cy="479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01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67a477ec9a2001da_0_348"/>
          <p:cNvSpPr/>
          <p:nvPr/>
        </p:nvSpPr>
        <p:spPr>
          <a:xfrm>
            <a:off x="5326549" y="2631318"/>
            <a:ext cx="2624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971"/>
              <a:buFont typeface="Consolas"/>
              <a:buNone/>
            </a:pPr>
            <a:r>
              <a:rPr b="1" i="0" lang="ca" sz="1071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si ets a /home/alumne</a:t>
            </a:r>
            <a:endParaRPr b="1" i="0" sz="1071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971"/>
              <a:buFont typeface="Consolas"/>
              <a:buNone/>
            </a:pPr>
            <a:r>
              <a:rPr b="1" i="0" lang="ca" sz="1071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cd </a:t>
            </a:r>
            <a:r>
              <a:rPr lang="ca" sz="106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Descarregues</a:t>
            </a:r>
            <a:endParaRPr b="1" i="0" sz="1071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h67a477ec9a2001da_0_348"/>
          <p:cNvSpPr/>
          <p:nvPr/>
        </p:nvSpPr>
        <p:spPr>
          <a:xfrm>
            <a:off x="5206651" y="3150925"/>
            <a:ext cx="30984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68"/>
              <a:buFont typeface="Arial"/>
              <a:buNone/>
            </a:pPr>
            <a:r>
              <a:rPr b="0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És com dir “</a:t>
            </a:r>
            <a:r>
              <a:rPr lang="ca" sz="1068">
                <a:solidFill>
                  <a:srgbClr val="143D6B"/>
                </a:solidFill>
              </a:rPr>
              <a:t>entra al subdirectori de la carpeta on ets"</a:t>
            </a:r>
            <a:r>
              <a:rPr b="0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6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67a477ec9a2001da_0_348"/>
          <p:cNvSpPr/>
          <p:nvPr/>
        </p:nvSpPr>
        <p:spPr>
          <a:xfrm>
            <a:off x="543550" y="3717150"/>
            <a:ext cx="7794000" cy="633000"/>
          </a:xfrm>
          <a:prstGeom prst="roundRect">
            <a:avLst>
              <a:gd fmla="val 12632" name="adj"/>
            </a:avLst>
          </a:prstGeom>
          <a:solidFill>
            <a:srgbClr val="F7FBFF"/>
          </a:solidFill>
          <a:ln cap="flat" cmpd="sng" w="101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h67a477ec9a2001da_0_348"/>
          <p:cNvSpPr/>
          <p:nvPr/>
        </p:nvSpPr>
        <p:spPr>
          <a:xfrm>
            <a:off x="976548" y="3837064"/>
            <a:ext cx="15987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68"/>
              <a:buFont typeface="Arial"/>
              <a:buNone/>
            </a:pPr>
            <a:r>
              <a:rPr b="1" i="0" lang="ca" sz="1068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Comparació amb Windows</a:t>
            </a:r>
            <a:endParaRPr b="0" i="0" sz="106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h67a477ec9a2001da_0_348"/>
          <p:cNvSpPr/>
          <p:nvPr/>
        </p:nvSpPr>
        <p:spPr>
          <a:xfrm>
            <a:off x="2196025" y="3837075"/>
            <a:ext cx="6156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874"/>
              <a:buFont typeface="Consolas"/>
              <a:buNone/>
            </a:pPr>
            <a:r>
              <a:rPr b="0" i="0" lang="ca" sz="874" u="none" cap="none" strike="noStrike">
                <a:solidFill>
                  <a:srgbClr val="143D6B"/>
                </a:solidFill>
                <a:latin typeface="Consolas"/>
                <a:ea typeface="Consolas"/>
                <a:cs typeface="Consolas"/>
                <a:sym typeface="Consolas"/>
              </a:rPr>
              <a:t>Ruta absoluta:  C:\Users\alumne\Descarregues   ·     Ruta relativa:  </a:t>
            </a:r>
            <a:r>
              <a:rPr lang="ca" sz="874">
                <a:solidFill>
                  <a:srgbClr val="143D6B"/>
                </a:solidFill>
                <a:latin typeface="Consolas"/>
                <a:ea typeface="Consolas"/>
                <a:cs typeface="Consolas"/>
                <a:sym typeface="Consolas"/>
              </a:rPr>
              <a:t>Descarregues</a:t>
            </a:r>
            <a:endParaRPr b="0" i="0" sz="87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h67a477ec9a2001da_0_348"/>
          <p:cNvSpPr/>
          <p:nvPr/>
        </p:nvSpPr>
        <p:spPr>
          <a:xfrm>
            <a:off x="476931" y="4549853"/>
            <a:ext cx="7927200" cy="399900"/>
          </a:xfrm>
          <a:prstGeom prst="roundRect">
            <a:avLst>
              <a:gd fmla="val 20000" name="adj"/>
            </a:avLst>
          </a:prstGeom>
          <a:solidFill>
            <a:srgbClr val="E4F1FC"/>
          </a:solidFill>
          <a:ln cap="flat" cmpd="sng" w="101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h67a477ec9a2001da_0_348"/>
          <p:cNvSpPr/>
          <p:nvPr/>
        </p:nvSpPr>
        <p:spPr>
          <a:xfrm>
            <a:off x="596839" y="4589823"/>
            <a:ext cx="372900" cy="372900"/>
          </a:xfrm>
          <a:prstGeom prst="ellipse">
            <a:avLst/>
          </a:prstGeom>
          <a:solidFill>
            <a:srgbClr val="DDECF8"/>
          </a:solidFill>
          <a:ln cap="flat" cmpd="sng" w="9250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67a477ec9a2001da_0_348"/>
          <p:cNvSpPr/>
          <p:nvPr/>
        </p:nvSpPr>
        <p:spPr>
          <a:xfrm>
            <a:off x="616823" y="4643115"/>
            <a:ext cx="33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57"/>
              <a:buFont typeface="Arial"/>
              <a:buNone/>
            </a:pPr>
            <a:r>
              <a:rPr b="1" i="0" lang="ca" sz="1457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45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h67a477ec9a2001da_0_348"/>
          <p:cNvSpPr/>
          <p:nvPr/>
        </p:nvSpPr>
        <p:spPr>
          <a:xfrm>
            <a:off x="1043164" y="4669762"/>
            <a:ext cx="7094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66"/>
              <a:buFont typeface="Arial"/>
              <a:buNone/>
            </a:pPr>
            <a:r>
              <a:rPr b="1" i="0" lang="ca" sz="1166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Idea clau: </a:t>
            </a:r>
            <a:r>
              <a:rPr b="0" i="0" lang="ca" sz="1166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si una ruta comença per “/”, és absoluta; si no comença per “/”, depèn de la carpeta on ets.</a:t>
            </a:r>
            <a:endParaRPr b="0" i="0" sz="11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67a477ec9a2001da_0_4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244" name="Google Shape;244;h67a477ec9a2001da_0_431"/>
          <p:cNvSpPr/>
          <p:nvPr/>
        </p:nvSpPr>
        <p:spPr>
          <a:xfrm>
            <a:off x="610445" y="349835"/>
            <a:ext cx="819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Terminal vs explorador gràfic :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h67a477ec9a2001da_0_431"/>
          <p:cNvSpPr/>
          <p:nvPr/>
        </p:nvSpPr>
        <p:spPr>
          <a:xfrm>
            <a:off x="452736" y="877910"/>
            <a:ext cx="802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No és “una cosa o l’altra”: pots treballar de les dues maneres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h67a477ec9a2001da_0_431"/>
          <p:cNvSpPr/>
          <p:nvPr/>
        </p:nvSpPr>
        <p:spPr>
          <a:xfrm>
            <a:off x="576180" y="1220810"/>
            <a:ext cx="3806100" cy="23316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h67a477ec9a2001da_0_431"/>
          <p:cNvSpPr/>
          <p:nvPr/>
        </p:nvSpPr>
        <p:spPr>
          <a:xfrm>
            <a:off x="747630" y="1426550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h67a477ec9a2001da_0_431"/>
          <p:cNvSpPr/>
          <p:nvPr/>
        </p:nvSpPr>
        <p:spPr>
          <a:xfrm>
            <a:off x="768204" y="148141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⌨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h67a477ec9a2001da_0_431"/>
          <p:cNvSpPr/>
          <p:nvPr/>
        </p:nvSpPr>
        <p:spPr>
          <a:xfrm>
            <a:off x="1227690" y="1447124"/>
            <a:ext cx="16458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Terminal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67a477ec9a2001da_0_431"/>
          <p:cNvSpPr/>
          <p:nvPr/>
        </p:nvSpPr>
        <p:spPr>
          <a:xfrm>
            <a:off x="1227690" y="1769450"/>
            <a:ext cx="281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És útil per fer accions ràpides i entendre les rutes.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h67a477ec9a2001da_0_431"/>
          <p:cNvSpPr/>
          <p:nvPr/>
        </p:nvSpPr>
        <p:spPr>
          <a:xfrm>
            <a:off x="1227690" y="2249510"/>
            <a:ext cx="2846100" cy="823200"/>
          </a:xfrm>
          <a:prstGeom prst="roundRect">
            <a:avLst>
              <a:gd fmla="val 10000" name="adj"/>
            </a:avLst>
          </a:prstGeom>
          <a:solidFill>
            <a:srgbClr val="F2F7FD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67a477ec9a2001da_0_431"/>
          <p:cNvSpPr/>
          <p:nvPr/>
        </p:nvSpPr>
        <p:spPr>
          <a:xfrm>
            <a:off x="1351134" y="2331806"/>
            <a:ext cx="25992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0" i="0" lang="ca" sz="10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$ pwd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0" i="0" lang="ca" sz="10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/home/alumne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0" i="0" lang="ca" sz="10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$ ls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0" i="0" lang="ca" sz="10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Documents  Descar</a:t>
            </a:r>
            <a:r>
              <a:rPr lang="ca" sz="1000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regues</a:t>
            </a:r>
            <a:r>
              <a:rPr b="0" i="0" lang="ca" sz="10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  proves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h67a477ec9a2001da_0_431"/>
          <p:cNvSpPr/>
          <p:nvPr/>
        </p:nvSpPr>
        <p:spPr>
          <a:xfrm>
            <a:off x="4725270" y="1220810"/>
            <a:ext cx="3806100" cy="23316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h67a477ec9a2001da_0_431"/>
          <p:cNvSpPr/>
          <p:nvPr/>
        </p:nvSpPr>
        <p:spPr>
          <a:xfrm>
            <a:off x="4896720" y="1426550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67a477ec9a2001da_0_431"/>
          <p:cNvSpPr/>
          <p:nvPr/>
        </p:nvSpPr>
        <p:spPr>
          <a:xfrm>
            <a:off x="4917294" y="148141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🗂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h67a477ec9a2001da_0_431"/>
          <p:cNvSpPr/>
          <p:nvPr/>
        </p:nvSpPr>
        <p:spPr>
          <a:xfrm>
            <a:off x="5376780" y="1447124"/>
            <a:ext cx="192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Explorador gràfic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h67a477ec9a2001da_0_431"/>
          <p:cNvSpPr/>
          <p:nvPr/>
        </p:nvSpPr>
        <p:spPr>
          <a:xfrm>
            <a:off x="5376780" y="1769450"/>
            <a:ext cx="281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0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És útil per veure carpetes, arrossegar fitxers i obrir documents.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h67a477ec9a2001da_0_431"/>
          <p:cNvSpPr/>
          <p:nvPr/>
        </p:nvSpPr>
        <p:spPr>
          <a:xfrm>
            <a:off x="5376780" y="2318090"/>
            <a:ext cx="2811900" cy="480300"/>
          </a:xfrm>
          <a:prstGeom prst="roundRect">
            <a:avLst>
              <a:gd fmla="val 17143" name="adj"/>
            </a:avLst>
          </a:prstGeom>
          <a:solidFill>
            <a:srgbClr val="F2F7FD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67a477ec9a2001da_0_431"/>
          <p:cNvSpPr/>
          <p:nvPr/>
        </p:nvSpPr>
        <p:spPr>
          <a:xfrm>
            <a:off x="5500224" y="2400386"/>
            <a:ext cx="2565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0" i="0" lang="ca" sz="10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$ nautilus 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2F62"/>
              </a:buClr>
              <a:buSzPts val="1000"/>
              <a:buFont typeface="Consolas"/>
              <a:buNone/>
            </a:pPr>
            <a:r>
              <a:rPr b="0" i="0" lang="ca" sz="1000" u="none" cap="none" strike="noStrike">
                <a:solidFill>
                  <a:srgbClr val="0C2F62"/>
                </a:solidFill>
                <a:latin typeface="Consolas"/>
                <a:ea typeface="Consolas"/>
                <a:cs typeface="Consolas"/>
                <a:sym typeface="Consolas"/>
              </a:rPr>
              <a:t># obre la carpeta actual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67a477ec9a2001da_0_431"/>
          <p:cNvSpPr/>
          <p:nvPr/>
        </p:nvSpPr>
        <p:spPr>
          <a:xfrm>
            <a:off x="5376780" y="2935310"/>
            <a:ext cx="2811900" cy="445800"/>
          </a:xfrm>
          <a:prstGeom prst="roundRect">
            <a:avLst>
              <a:gd fmla="val 18462" name="adj"/>
            </a:avLst>
          </a:prstGeom>
          <a:solidFill>
            <a:srgbClr val="F5FA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67a477ec9a2001da_0_431"/>
          <p:cNvSpPr/>
          <p:nvPr/>
        </p:nvSpPr>
        <p:spPr>
          <a:xfrm>
            <a:off x="5513940" y="3086186"/>
            <a:ext cx="253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000"/>
              <a:buFont typeface="Arial"/>
              <a:buNone/>
            </a:pPr>
            <a:r>
              <a:rPr b="0" i="0" lang="ca" sz="10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📁 Documents     📁 Descar</a:t>
            </a:r>
            <a:r>
              <a:rPr lang="ca" sz="1000">
                <a:solidFill>
                  <a:srgbClr val="143D6B"/>
                </a:solidFill>
              </a:rPr>
              <a:t>regues</a:t>
            </a:r>
            <a:r>
              <a:rPr b="0" i="0" lang="ca" sz="10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     📄 notes.txt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h67a477ec9a2001da_0_431"/>
          <p:cNvSpPr/>
          <p:nvPr/>
        </p:nvSpPr>
        <p:spPr>
          <a:xfrm>
            <a:off x="781920" y="3792560"/>
            <a:ext cx="7543800" cy="480300"/>
          </a:xfrm>
          <a:prstGeom prst="roundRect">
            <a:avLst>
              <a:gd fmla="val 17143" name="adj"/>
            </a:avLst>
          </a:prstGeom>
          <a:solidFill>
            <a:srgbClr val="F7FBFF"/>
          </a:solidFill>
          <a:ln cap="flat" cmpd="sng" w="10475">
            <a:solidFill>
              <a:srgbClr val="9AC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67a477ec9a2001da_0_431"/>
          <p:cNvSpPr/>
          <p:nvPr/>
        </p:nvSpPr>
        <p:spPr>
          <a:xfrm>
            <a:off x="987660" y="3950294"/>
            <a:ext cx="7132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100"/>
              <a:buFont typeface="Arial"/>
              <a:buNone/>
            </a:pPr>
            <a:r>
              <a:rPr b="1" i="0" lang="ca" sz="11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Quan fem permisos, cal saber qui és l’usuari, en quina carpeta estem i quin fitxer volem modificar.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h67a477ec9a2001da_0_431"/>
          <p:cNvSpPr/>
          <p:nvPr/>
        </p:nvSpPr>
        <p:spPr>
          <a:xfrm>
            <a:off x="473310" y="4581230"/>
            <a:ext cx="8160900" cy="411600"/>
          </a:xfrm>
          <a:prstGeom prst="roundRect">
            <a:avLst>
              <a:gd fmla="val 20000" name="adj"/>
            </a:avLst>
          </a:prstGeom>
          <a:solidFill>
            <a:srgbClr val="E4F1FC"/>
          </a:solidFill>
          <a:ln cap="flat" cmpd="sng" w="10475">
            <a:solidFill>
              <a:srgbClr val="C7D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67a477ec9a2001da_0_431"/>
          <p:cNvSpPr/>
          <p:nvPr/>
        </p:nvSpPr>
        <p:spPr>
          <a:xfrm>
            <a:off x="596754" y="4622378"/>
            <a:ext cx="384000" cy="384000"/>
          </a:xfrm>
          <a:prstGeom prst="ellipse">
            <a:avLst/>
          </a:prstGeom>
          <a:solidFill>
            <a:srgbClr val="DDECF8"/>
          </a:solidFill>
          <a:ln cap="flat" cmpd="sng" w="9525">
            <a:solidFill>
              <a:srgbClr val="DDE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h67a477ec9a2001da_0_431"/>
          <p:cNvSpPr/>
          <p:nvPr/>
        </p:nvSpPr>
        <p:spPr>
          <a:xfrm>
            <a:off x="617328" y="4677242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h67a477ec9a2001da_0_431"/>
          <p:cNvSpPr/>
          <p:nvPr/>
        </p:nvSpPr>
        <p:spPr>
          <a:xfrm>
            <a:off x="1056240" y="4704674"/>
            <a:ext cx="7303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6B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Idea clau: </a:t>
            </a:r>
            <a:r>
              <a:rPr b="0" i="0" lang="ca" sz="1200" u="none" cap="none" strike="noStrike">
                <a:solidFill>
                  <a:srgbClr val="143D6B"/>
                </a:solidFill>
                <a:latin typeface="Arial"/>
                <a:ea typeface="Arial"/>
                <a:cs typeface="Arial"/>
                <a:sym typeface="Arial"/>
              </a:rPr>
              <a:t>per començar: pwd = on soc · ls = què hi ha · cd = moure’m · mkdir/touch = crear · nautilus = veure-ho gràficament.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548650" y="349975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Permisos en linux: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408750" y="1155925"/>
            <a:ext cx="8367000" cy="105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A Linux, els permisos serveixen per a decidir </a:t>
            </a:r>
            <a:r>
              <a:rPr b="1" lang="ca" sz="1200">
                <a:solidFill>
                  <a:schemeClr val="dk1"/>
                </a:solidFill>
              </a:rPr>
              <a:t>qui pot llegir, modificar o executar un fitxer, i qui pot entrar, llistar o modificar un directori o carpeta.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La idea bàsica gira al voltant de tres tipus d’usuaris: </a:t>
            </a:r>
            <a:r>
              <a:rPr b="1" lang="ca" sz="1200">
                <a:solidFill>
                  <a:schemeClr val="dk1"/>
                </a:solidFill>
              </a:rPr>
              <a:t>u</a:t>
            </a:r>
            <a:r>
              <a:rPr lang="ca" sz="1200">
                <a:solidFill>
                  <a:schemeClr val="dk1"/>
                </a:solidFill>
              </a:rPr>
              <a:t> = user, el propietari, </a:t>
            </a:r>
            <a:r>
              <a:rPr b="1" lang="ca" sz="1200">
                <a:solidFill>
                  <a:schemeClr val="dk1"/>
                </a:solidFill>
              </a:rPr>
              <a:t>g</a:t>
            </a:r>
            <a:r>
              <a:rPr lang="ca" sz="1200">
                <a:solidFill>
                  <a:schemeClr val="dk1"/>
                </a:solidFill>
              </a:rPr>
              <a:t> = group, el grup i </a:t>
            </a:r>
            <a:r>
              <a:rPr b="1" lang="ca" sz="1200">
                <a:solidFill>
                  <a:schemeClr val="dk1"/>
                </a:solidFill>
              </a:rPr>
              <a:t>o</a:t>
            </a:r>
            <a:r>
              <a:rPr lang="ca" sz="1200">
                <a:solidFill>
                  <a:schemeClr val="dk1"/>
                </a:solidFill>
              </a:rPr>
              <a:t> = others, la resta.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473249" y="2600725"/>
            <a:ext cx="8302500" cy="210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dk1"/>
                </a:solidFill>
              </a:rPr>
              <a:t>Què passa quan es crea un fitxer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200">
                <a:solidFill>
                  <a:schemeClr val="dk1"/>
                </a:solidFill>
              </a:rPr>
              <a:t>Amb </a:t>
            </a:r>
            <a:r>
              <a:rPr lang="ca" sz="1200">
                <a:solidFill>
                  <a:srgbClr val="188038"/>
                </a:solidFill>
              </a:rPr>
              <a:t>touch fitxer.txt</a:t>
            </a:r>
            <a:r>
              <a:rPr lang="ca" sz="1200">
                <a:solidFill>
                  <a:schemeClr val="dk1"/>
                </a:solidFill>
              </a:rPr>
              <a:t>, o amb qualsevol programa que </a:t>
            </a:r>
            <a:r>
              <a:rPr lang="ca" sz="1200">
                <a:solidFill>
                  <a:schemeClr val="dk1"/>
                </a:solidFill>
              </a:rPr>
              <a:t>creï</a:t>
            </a:r>
            <a:r>
              <a:rPr lang="ca" sz="1200">
                <a:solidFill>
                  <a:schemeClr val="dk1"/>
                </a:solidFill>
              </a:rPr>
              <a:t> un fitxer, el nucli assigna: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ca" sz="1200">
                <a:solidFill>
                  <a:schemeClr val="dk1"/>
                </a:solidFill>
              </a:rPr>
              <a:t>Propietari:</a:t>
            </a:r>
            <a:r>
              <a:rPr lang="ca" sz="1200">
                <a:solidFill>
                  <a:schemeClr val="dk1"/>
                </a:solidFill>
              </a:rPr>
              <a:t> l’usuari que executa el procés (l’UID efectiu).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ca" sz="1200">
                <a:solidFill>
                  <a:schemeClr val="dk1"/>
                </a:solidFill>
              </a:rPr>
              <a:t>Grup:</a:t>
            </a:r>
            <a:r>
              <a:rPr lang="ca" sz="1200">
                <a:solidFill>
                  <a:schemeClr val="dk1"/>
                </a:solidFill>
              </a:rPr>
              <a:t> el grup efectiu del procés (el GID efectiu). Per defecte és el </a:t>
            </a:r>
            <a:r>
              <a:rPr b="1" lang="ca" sz="1200">
                <a:solidFill>
                  <a:schemeClr val="dk1"/>
                </a:solidFill>
              </a:rPr>
              <a:t>grup primari</a:t>
            </a:r>
            <a:r>
              <a:rPr lang="ca" sz="1200">
                <a:solidFill>
                  <a:schemeClr val="dk1"/>
                </a:solidFill>
              </a:rPr>
              <a:t> de l’usuari.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ca" sz="1200">
                <a:solidFill>
                  <a:schemeClr val="dk1"/>
                </a:solidFill>
              </a:rPr>
              <a:t>Permisos:</a:t>
            </a:r>
            <a:r>
              <a:rPr lang="ca" sz="1200">
                <a:solidFill>
                  <a:schemeClr val="dk1"/>
                </a:solidFill>
              </a:rPr>
              <a:t> els que resulten d’aplicar la </a:t>
            </a:r>
            <a:r>
              <a:rPr b="1" lang="ca" sz="1200">
                <a:solidFill>
                  <a:schemeClr val="dk1"/>
                </a:solidFill>
              </a:rPr>
              <a:t>umask</a:t>
            </a:r>
            <a:r>
              <a:rPr lang="ca" sz="1200">
                <a:solidFill>
                  <a:schemeClr val="dk1"/>
                </a:solidFill>
              </a:rPr>
              <a:t> als permisos base. Els fitxers parteixen de </a:t>
            </a:r>
            <a:r>
              <a:rPr lang="ca" sz="1200">
                <a:solidFill>
                  <a:srgbClr val="188038"/>
                </a:solidFill>
              </a:rPr>
              <a:t>666</a:t>
            </a:r>
            <a:r>
              <a:rPr lang="ca" sz="1200">
                <a:solidFill>
                  <a:schemeClr val="dk1"/>
                </a:solidFill>
              </a:rPr>
              <a:t> i els directoris de </a:t>
            </a:r>
            <a:r>
              <a:rPr lang="ca" sz="1200">
                <a:solidFill>
                  <a:srgbClr val="188038"/>
                </a:solidFill>
              </a:rPr>
              <a:t>777</a:t>
            </a:r>
            <a:r>
              <a:rPr lang="ca" sz="1200">
                <a:solidFill>
                  <a:schemeClr val="dk1"/>
                </a:solidFill>
              </a:rPr>
              <a:t>. </a:t>
            </a:r>
            <a:r>
              <a:rPr lang="ca" sz="1200">
                <a:solidFill>
                  <a:schemeClr val="dk1"/>
                </a:solidFill>
              </a:rPr>
              <a:t>Amb la umask habitual </a:t>
            </a:r>
            <a:r>
              <a:rPr lang="ca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022</a:t>
            </a:r>
            <a:r>
              <a:rPr lang="ca" sz="1200">
                <a:solidFill>
                  <a:schemeClr val="dk1"/>
                </a:solidFill>
              </a:rPr>
              <a:t>, un fitxer queda </a:t>
            </a:r>
            <a:r>
              <a:rPr lang="ca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644</a:t>
            </a:r>
            <a:r>
              <a:rPr lang="ca" sz="1200">
                <a:solidFill>
                  <a:schemeClr val="dk1"/>
                </a:solidFill>
              </a:rPr>
              <a:t> i un directori </a:t>
            </a:r>
            <a:r>
              <a:rPr lang="ca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755</a:t>
            </a:r>
            <a:r>
              <a:rPr lang="ca" sz="12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44c9de1ed0dc9dad_0_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283" name="Google Shape;283;h44c9de1ed0dc9dad_0_78"/>
          <p:cNvSpPr/>
          <p:nvPr/>
        </p:nvSpPr>
        <p:spPr>
          <a:xfrm>
            <a:off x="548650" y="349975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Veure els permisos: 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 instruccions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ls -l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h44c9de1ed0dc9dad_0_78"/>
          <p:cNvSpPr/>
          <p:nvPr/>
        </p:nvSpPr>
        <p:spPr>
          <a:xfrm>
            <a:off x="514375" y="1234450"/>
            <a:ext cx="6350100" cy="1489800"/>
          </a:xfrm>
          <a:prstGeom prst="roundRect">
            <a:avLst>
              <a:gd fmla="val 2857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44c9de1ed0dc9dad_0_78"/>
          <p:cNvSpPr/>
          <p:nvPr/>
        </p:nvSpPr>
        <p:spPr>
          <a:xfrm>
            <a:off x="617225" y="1316725"/>
            <a:ext cx="60696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ls -l</a:t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-rw-rw-r-- 1 archie web  220 Jul 5 17:37 notes.txt</a:t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drwxr-xr-x 6 archie web 4096 Jul 5 17:37 Documents</a:t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h44c9de1ed0dc9dad_0_78"/>
          <p:cNvSpPr/>
          <p:nvPr/>
        </p:nvSpPr>
        <p:spPr>
          <a:xfrm>
            <a:off x="479950" y="2938800"/>
            <a:ext cx="4046400" cy="8808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h44c9de1ed0dc9dad_0_78"/>
          <p:cNvSpPr/>
          <p:nvPr/>
        </p:nvSpPr>
        <p:spPr>
          <a:xfrm>
            <a:off x="603398" y="3089679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h44c9de1ed0dc9dad_0_78"/>
          <p:cNvSpPr/>
          <p:nvPr/>
        </p:nvSpPr>
        <p:spPr>
          <a:xfrm>
            <a:off x="603398" y="3144542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h44c9de1ed0dc9dad_0_78"/>
          <p:cNvSpPr/>
          <p:nvPr/>
        </p:nvSpPr>
        <p:spPr>
          <a:xfrm>
            <a:off x="1062896" y="3110253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h44c9de1ed0dc9dad_0_78"/>
          <p:cNvSpPr/>
          <p:nvPr/>
        </p:nvSpPr>
        <p:spPr>
          <a:xfrm>
            <a:off x="1104045" y="3165117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44c9de1ed0dc9dad_0_78"/>
          <p:cNvSpPr/>
          <p:nvPr/>
        </p:nvSpPr>
        <p:spPr>
          <a:xfrm>
            <a:off x="1522395" y="3062247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Propietari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h44c9de1ed0dc9dad_0_78"/>
          <p:cNvSpPr/>
          <p:nvPr/>
        </p:nvSpPr>
        <p:spPr>
          <a:xfrm>
            <a:off x="1522395" y="3281703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Qui genera o crea el fitxer o carpeta.</a:t>
            </a:r>
            <a:endParaRPr b="0" i="0" sz="12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h44c9de1ed0dc9dad_0_78"/>
          <p:cNvSpPr/>
          <p:nvPr/>
        </p:nvSpPr>
        <p:spPr>
          <a:xfrm>
            <a:off x="479950" y="4008050"/>
            <a:ext cx="4046400" cy="8808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44c9de1ed0dc9dad_0_78"/>
          <p:cNvSpPr/>
          <p:nvPr/>
        </p:nvSpPr>
        <p:spPr>
          <a:xfrm>
            <a:off x="603398" y="4072221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h44c9de1ed0dc9dad_0_78"/>
          <p:cNvSpPr/>
          <p:nvPr/>
        </p:nvSpPr>
        <p:spPr>
          <a:xfrm>
            <a:off x="603398" y="4127085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h44c9de1ed0dc9dad_0_78"/>
          <p:cNvSpPr/>
          <p:nvPr/>
        </p:nvSpPr>
        <p:spPr>
          <a:xfrm>
            <a:off x="1062896" y="4092795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h44c9de1ed0dc9dad_0_78"/>
          <p:cNvSpPr/>
          <p:nvPr/>
        </p:nvSpPr>
        <p:spPr>
          <a:xfrm>
            <a:off x="1104045" y="4147659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h44c9de1ed0dc9dad_0_78"/>
          <p:cNvSpPr/>
          <p:nvPr/>
        </p:nvSpPr>
        <p:spPr>
          <a:xfrm>
            <a:off x="1522395" y="4044789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Grup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44c9de1ed0dc9dad_0_78"/>
          <p:cNvSpPr/>
          <p:nvPr/>
        </p:nvSpPr>
        <p:spPr>
          <a:xfrm>
            <a:off x="1522400" y="4264252"/>
            <a:ext cx="2777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Diversos usuaris poden compartir privilegis comuns.</a:t>
            </a:r>
            <a:endParaRPr b="0" i="0" sz="12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h44c9de1ed0dc9dad_0_78"/>
          <p:cNvSpPr/>
          <p:nvPr/>
        </p:nvSpPr>
        <p:spPr>
          <a:xfrm>
            <a:off x="4735325" y="3233850"/>
            <a:ext cx="4046400" cy="13101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44c9de1ed0dc9dad_0_78"/>
          <p:cNvSpPr/>
          <p:nvPr/>
        </p:nvSpPr>
        <p:spPr>
          <a:xfrm>
            <a:off x="4886173" y="3488914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44c9de1ed0dc9dad_0_78"/>
          <p:cNvSpPr/>
          <p:nvPr/>
        </p:nvSpPr>
        <p:spPr>
          <a:xfrm>
            <a:off x="4886173" y="3543778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44c9de1ed0dc9dad_0_78"/>
          <p:cNvSpPr/>
          <p:nvPr/>
        </p:nvSpPr>
        <p:spPr>
          <a:xfrm>
            <a:off x="5345671" y="3509488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44c9de1ed0dc9dad_0_78"/>
          <p:cNvSpPr/>
          <p:nvPr/>
        </p:nvSpPr>
        <p:spPr>
          <a:xfrm>
            <a:off x="5386820" y="3564352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h44c9de1ed0dc9dad_0_78"/>
          <p:cNvSpPr/>
          <p:nvPr/>
        </p:nvSpPr>
        <p:spPr>
          <a:xfrm>
            <a:off x="5805170" y="3461482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Resta d’usuaris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h44c9de1ed0dc9dad_0_78"/>
          <p:cNvSpPr/>
          <p:nvPr/>
        </p:nvSpPr>
        <p:spPr>
          <a:xfrm>
            <a:off x="5853175" y="3780213"/>
            <a:ext cx="2777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Usuaris que no són ni el propietari ni membres del grup.</a:t>
            </a:r>
            <a:endParaRPr b="0" i="0" sz="12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552675" y="385025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l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legir la sortida de ls -l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658118" y="3000315"/>
            <a:ext cx="7681200" cy="651600"/>
          </a:xfrm>
          <a:prstGeom prst="roundRect">
            <a:avLst>
              <a:gd fmla="val 12632" name="adj"/>
            </a:avLst>
          </a:prstGeom>
          <a:solidFill>
            <a:srgbClr val="EAF4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2239405" y="2536568"/>
            <a:ext cx="198000" cy="259800"/>
          </a:xfrm>
          <a:prstGeom prst="roundRect">
            <a:avLst>
              <a:gd fmla="val 17143" name="adj"/>
            </a:avLst>
          </a:prstGeom>
          <a:solidFill>
            <a:srgbClr val="EEF2F8"/>
          </a:solidFill>
          <a:ln cap="flat" cmpd="sng" w="7850">
            <a:solidFill>
              <a:srgbClr val="9AA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12"/>
              <a:buFont typeface="Courier New"/>
              <a:buNone/>
            </a:pPr>
            <a:r>
              <a:rPr b="0" i="0" lang="ca" sz="1112" u="none" cap="none" strike="noStrike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112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2493539" y="2536568"/>
            <a:ext cx="621000" cy="259800"/>
          </a:xfrm>
          <a:prstGeom prst="roundRect">
            <a:avLst>
              <a:gd fmla="val 13043" name="adj"/>
            </a:avLst>
          </a:prstGeom>
          <a:solidFill>
            <a:srgbClr val="EEF2F8"/>
          </a:solidFill>
          <a:ln cap="flat" cmpd="sng" w="7850">
            <a:solidFill>
              <a:srgbClr val="9AA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12"/>
              <a:buFont typeface="Courier New"/>
              <a:buNone/>
            </a:pPr>
            <a:r>
              <a:rPr lang="ca" sz="1112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eduard</a:t>
            </a:r>
            <a:endParaRPr b="0" i="0" sz="1112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3171232" y="2536568"/>
            <a:ext cx="621000" cy="259800"/>
          </a:xfrm>
          <a:prstGeom prst="roundRect">
            <a:avLst>
              <a:gd fmla="val 13043" name="adj"/>
            </a:avLst>
          </a:prstGeom>
          <a:solidFill>
            <a:srgbClr val="EEF2F8"/>
          </a:solidFill>
          <a:ln cap="flat" cmpd="sng" w="7850">
            <a:solidFill>
              <a:srgbClr val="9AA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12"/>
              <a:buFont typeface="Courier New"/>
              <a:buNone/>
            </a:pPr>
            <a:r>
              <a:rPr lang="ca" sz="1112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eduard</a:t>
            </a:r>
            <a:endParaRPr b="0" i="0" sz="1112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3848925" y="2536568"/>
            <a:ext cx="367200" cy="259800"/>
          </a:xfrm>
          <a:prstGeom prst="roundRect">
            <a:avLst>
              <a:gd fmla="val 13043" name="adj"/>
            </a:avLst>
          </a:prstGeom>
          <a:solidFill>
            <a:srgbClr val="EEF2F8"/>
          </a:solidFill>
          <a:ln cap="flat" cmpd="sng" w="7850">
            <a:solidFill>
              <a:srgbClr val="9AA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12"/>
              <a:buFont typeface="Courier New"/>
              <a:buNone/>
            </a:pPr>
            <a:r>
              <a:rPr b="0" i="0" lang="ca" sz="1112" u="none" cap="none" strike="noStrike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177</a:t>
            </a:r>
            <a:endParaRPr b="0" i="0" sz="1112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272483" y="2536568"/>
            <a:ext cx="1129500" cy="259800"/>
          </a:xfrm>
          <a:prstGeom prst="roundRect">
            <a:avLst>
              <a:gd fmla="val 13043" name="adj"/>
            </a:avLst>
          </a:prstGeom>
          <a:solidFill>
            <a:srgbClr val="EEF2F8"/>
          </a:solidFill>
          <a:ln cap="flat" cmpd="sng" w="7850">
            <a:solidFill>
              <a:srgbClr val="9AA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12"/>
              <a:buFont typeface="Courier New"/>
              <a:buNone/>
            </a:pPr>
            <a:r>
              <a:rPr b="0" i="0" lang="ca" sz="1112" u="none" cap="none" strike="noStrike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Apr 13 13:52</a:t>
            </a:r>
            <a:endParaRPr b="0" i="0" sz="1112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5458445" y="2536568"/>
            <a:ext cx="1891800" cy="259800"/>
          </a:xfrm>
          <a:prstGeom prst="roundRect">
            <a:avLst>
              <a:gd fmla="val 13043" name="adj"/>
            </a:avLst>
          </a:prstGeom>
          <a:solidFill>
            <a:srgbClr val="EEF2F8"/>
          </a:solidFill>
          <a:ln cap="flat" cmpd="sng" w="7850">
            <a:solidFill>
              <a:srgbClr val="9AA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12"/>
              <a:buFont typeface="Courier New"/>
              <a:buNone/>
            </a:pPr>
            <a:r>
              <a:rPr b="0" i="0" lang="ca" sz="1112" u="none" cap="none" strike="noStrike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create_dummy_file.cpp</a:t>
            </a:r>
            <a:endParaRPr b="0" i="0" sz="1112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996968" y="2536568"/>
            <a:ext cx="960000" cy="259800"/>
          </a:xfrm>
          <a:prstGeom prst="roundRect">
            <a:avLst>
              <a:gd fmla="val 13043" name="adj"/>
            </a:avLst>
          </a:prstGeom>
          <a:solidFill>
            <a:srgbClr val="EEF2F8"/>
          </a:solidFill>
          <a:ln cap="flat" cmpd="sng" w="7850">
            <a:solidFill>
              <a:srgbClr val="9AA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0B"/>
              </a:buClr>
              <a:buSzPts val="1112"/>
              <a:buFont typeface="Courier New"/>
              <a:buNone/>
            </a:pPr>
            <a:r>
              <a:rPr b="1" i="0" lang="ca" sz="1112" u="none" cap="none" strike="noStrike">
                <a:solidFill>
                  <a:srgbClr val="8A6D0B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i="0" lang="ca" sz="1112" u="none" cap="none" strike="noStrike">
                <a:solidFill>
                  <a:srgbClr val="1F3A68"/>
                </a:solidFill>
                <a:latin typeface="Courier New"/>
                <a:ea typeface="Courier New"/>
                <a:cs typeface="Courier New"/>
                <a:sym typeface="Courier New"/>
              </a:rPr>
              <a:t>rw-</a:t>
            </a:r>
            <a:r>
              <a:rPr b="1" i="0" lang="ca" sz="1112" u="none" cap="none" strike="noStrike">
                <a:solidFill>
                  <a:srgbClr val="12807F"/>
                </a:solidFill>
                <a:latin typeface="Courier New"/>
                <a:ea typeface="Courier New"/>
                <a:cs typeface="Courier New"/>
                <a:sym typeface="Courier New"/>
              </a:rPr>
              <a:t>r--</a:t>
            </a:r>
            <a:r>
              <a:rPr b="1" i="0" lang="ca" sz="1112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r--</a:t>
            </a:r>
            <a:endParaRPr b="0" i="0" sz="1112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1081680" y="1265890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Tipus de fitxer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7"/>
          <p:cNvCxnSpPr/>
          <p:nvPr/>
        </p:nvCxnSpPr>
        <p:spPr>
          <a:xfrm>
            <a:off x="1081680" y="1418371"/>
            <a:ext cx="0" cy="11295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7"/>
          <p:cNvSpPr txBox="1"/>
          <p:nvPr/>
        </p:nvSpPr>
        <p:spPr>
          <a:xfrm>
            <a:off x="1533475" y="1418371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Permisos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7"/>
          <p:cNvCxnSpPr/>
          <p:nvPr/>
        </p:nvCxnSpPr>
        <p:spPr>
          <a:xfrm>
            <a:off x="1533475" y="1570852"/>
            <a:ext cx="0" cy="9768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7"/>
          <p:cNvSpPr txBox="1"/>
          <p:nvPr/>
        </p:nvSpPr>
        <p:spPr>
          <a:xfrm>
            <a:off x="2338235" y="1570852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Nombre d'enllaços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7"/>
          <p:cNvCxnSpPr/>
          <p:nvPr/>
        </p:nvCxnSpPr>
        <p:spPr>
          <a:xfrm>
            <a:off x="2338235" y="1723334"/>
            <a:ext cx="0" cy="8244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7"/>
          <p:cNvSpPr txBox="1"/>
          <p:nvPr/>
        </p:nvSpPr>
        <p:spPr>
          <a:xfrm>
            <a:off x="2804149" y="1723334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Usuari propietari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7"/>
          <p:cNvCxnSpPr/>
          <p:nvPr/>
        </p:nvCxnSpPr>
        <p:spPr>
          <a:xfrm>
            <a:off x="2804149" y="1875815"/>
            <a:ext cx="0" cy="6720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7"/>
          <p:cNvSpPr txBox="1"/>
          <p:nvPr/>
        </p:nvSpPr>
        <p:spPr>
          <a:xfrm>
            <a:off x="3481841" y="1875815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Grup propietari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7"/>
          <p:cNvCxnSpPr/>
          <p:nvPr/>
        </p:nvCxnSpPr>
        <p:spPr>
          <a:xfrm>
            <a:off x="3481841" y="2028297"/>
            <a:ext cx="0" cy="5193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7"/>
          <p:cNvSpPr txBox="1"/>
          <p:nvPr/>
        </p:nvSpPr>
        <p:spPr>
          <a:xfrm>
            <a:off x="4032467" y="2028297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Mida en bytes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7"/>
          <p:cNvCxnSpPr/>
          <p:nvPr/>
        </p:nvCxnSpPr>
        <p:spPr>
          <a:xfrm>
            <a:off x="4032467" y="2180778"/>
            <a:ext cx="0" cy="3672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7"/>
          <p:cNvSpPr txBox="1"/>
          <p:nvPr/>
        </p:nvSpPr>
        <p:spPr>
          <a:xfrm>
            <a:off x="4837227" y="2180778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Data de modificació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7"/>
          <p:cNvCxnSpPr/>
          <p:nvPr/>
        </p:nvCxnSpPr>
        <p:spPr>
          <a:xfrm>
            <a:off x="4837227" y="2333259"/>
            <a:ext cx="0" cy="2148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7"/>
          <p:cNvSpPr txBox="1"/>
          <p:nvPr/>
        </p:nvSpPr>
        <p:spPr>
          <a:xfrm>
            <a:off x="5684343" y="2333259"/>
            <a:ext cx="1806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Nom del fitxer/directori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7"/>
          <p:cNvCxnSpPr/>
          <p:nvPr/>
        </p:nvCxnSpPr>
        <p:spPr>
          <a:xfrm>
            <a:off x="5684343" y="2485741"/>
            <a:ext cx="0" cy="62100"/>
          </a:xfrm>
          <a:prstGeom prst="straightConnector1">
            <a:avLst/>
          </a:prstGeom>
          <a:noFill/>
          <a:ln cap="flat" cmpd="sng" w="7850">
            <a:solidFill>
              <a:srgbClr val="8A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7"/>
          <p:cNvSpPr/>
          <p:nvPr/>
        </p:nvSpPr>
        <p:spPr>
          <a:xfrm>
            <a:off x="658122" y="2750268"/>
            <a:ext cx="7158792" cy="686974"/>
          </a:xfrm>
          <a:custGeom>
            <a:rect b="b" l="l" r="r" t="t"/>
            <a:pathLst>
              <a:path extrusionOk="0" h="1117031" w="11640312">
                <a:moveTo>
                  <a:pt x="184709" y="0"/>
                </a:moveTo>
                <a:lnTo>
                  <a:pt x="2276856" y="155082"/>
                </a:lnTo>
                <a:lnTo>
                  <a:pt x="11640312" y="1117031"/>
                </a:lnTo>
                <a:lnTo>
                  <a:pt x="0" y="1117031"/>
                </a:lnTo>
                <a:close/>
              </a:path>
            </a:pathLst>
          </a:custGeom>
          <a:solidFill>
            <a:srgbClr val="1F3A68">
              <a:alpha val="7840"/>
            </a:srgbClr>
          </a:solidFill>
          <a:ln cap="flat" cmpd="sng" w="7850">
            <a:solidFill>
              <a:srgbClr val="1F3A6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339" name="Google Shape;339;p7"/>
          <p:cNvCxnSpPr/>
          <p:nvPr/>
        </p:nvCxnSpPr>
        <p:spPr>
          <a:xfrm flipH="1">
            <a:off x="657900" y="2750268"/>
            <a:ext cx="114300" cy="689700"/>
          </a:xfrm>
          <a:prstGeom prst="straightConnector1">
            <a:avLst/>
          </a:prstGeom>
          <a:noFill/>
          <a:ln cap="flat" cmpd="sng" w="11750">
            <a:solidFill>
              <a:srgbClr val="1F3A6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0" name="Google Shape;340;p7"/>
          <p:cNvCxnSpPr/>
          <p:nvPr/>
        </p:nvCxnSpPr>
        <p:spPr>
          <a:xfrm>
            <a:off x="2064334" y="2846049"/>
            <a:ext cx="5782800" cy="594000"/>
          </a:xfrm>
          <a:prstGeom prst="straightConnector1">
            <a:avLst/>
          </a:prstGeom>
          <a:noFill/>
          <a:ln cap="flat" cmpd="sng" w="11750">
            <a:solidFill>
              <a:srgbClr val="1F3A6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1" name="Google Shape;341;p7"/>
          <p:cNvSpPr/>
          <p:nvPr/>
        </p:nvSpPr>
        <p:spPr>
          <a:xfrm>
            <a:off x="658122" y="3440162"/>
            <a:ext cx="7189500" cy="1496700"/>
          </a:xfrm>
          <a:prstGeom prst="roundRect">
            <a:avLst>
              <a:gd fmla="val 5660" name="adj"/>
            </a:avLst>
          </a:prstGeom>
          <a:solidFill>
            <a:srgbClr val="EEF2F8"/>
          </a:solidFill>
          <a:ln cap="flat" cmpd="sng" w="196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827545" y="3479694"/>
            <a:ext cx="33885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926"/>
              <a:buFont typeface="Calibri"/>
              <a:buNone/>
            </a:pPr>
            <a:r>
              <a:rPr b="1" i="0" lang="ca" sz="926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Ampliació dels permisos (-rw-r--r--)</a:t>
            </a:r>
            <a:endParaRPr b="0" i="0" sz="926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1231337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0B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8A6D0B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1231337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fitxer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 rot="5400000">
            <a:off x="1454456" y="4194085"/>
            <a:ext cx="90300" cy="480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7625">
            <a:solidFill>
              <a:srgbClr val="8A6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 txBox="1"/>
          <p:nvPr/>
        </p:nvSpPr>
        <p:spPr>
          <a:xfrm>
            <a:off x="680712" y="4513179"/>
            <a:ext cx="1637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0B"/>
              </a:buClr>
              <a:buSzPts val="926"/>
              <a:buFont typeface="Calibri"/>
              <a:buNone/>
            </a:pPr>
            <a:r>
              <a:rPr b="1" i="0" lang="ca" sz="926" u="none" cap="none" strike="noStrike">
                <a:solidFill>
                  <a:srgbClr val="8A6D0B"/>
                </a:solidFill>
                <a:latin typeface="Calibri"/>
                <a:ea typeface="Calibri"/>
                <a:cs typeface="Calibri"/>
                <a:sym typeface="Calibri"/>
              </a:rPr>
              <a:t>Tipus</a:t>
            </a:r>
            <a:endParaRPr b="0" i="0" sz="926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850135" y="4682603"/>
            <a:ext cx="1299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«-» fitxer, «d» directori, </a:t>
            </a:r>
            <a:r>
              <a:rPr lang="ca" sz="679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«l»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lang="ca" sz="679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link ( </a:t>
            </a: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1r caràcter)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1993741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1F3A68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1993741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1993741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44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2F9E44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2530248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1F3A68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2530248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escriptura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 txBox="1"/>
          <p:nvPr/>
        </p:nvSpPr>
        <p:spPr>
          <a:xfrm>
            <a:off x="2530248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44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2F9E44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 txBox="1"/>
          <p:nvPr/>
        </p:nvSpPr>
        <p:spPr>
          <a:xfrm>
            <a:off x="3066755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1F3A68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 txBox="1"/>
          <p:nvPr/>
        </p:nvSpPr>
        <p:spPr>
          <a:xfrm>
            <a:off x="3066755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execució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 txBox="1"/>
          <p:nvPr/>
        </p:nvSpPr>
        <p:spPr>
          <a:xfrm>
            <a:off x="3066755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36C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D6336C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 rot="5400000">
            <a:off x="2753324" y="3657535"/>
            <a:ext cx="90300" cy="15531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76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"/>
          <p:cNvSpPr txBox="1"/>
          <p:nvPr/>
        </p:nvSpPr>
        <p:spPr>
          <a:xfrm>
            <a:off x="1979623" y="4513179"/>
            <a:ext cx="1637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926"/>
              <a:buFont typeface="Calibri"/>
              <a:buNone/>
            </a:pPr>
            <a:r>
              <a:rPr b="1" i="0" lang="ca" sz="926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Permisos d'usuari</a:t>
            </a:r>
            <a:endParaRPr b="0" i="0" sz="926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 txBox="1"/>
          <p:nvPr/>
        </p:nvSpPr>
        <p:spPr>
          <a:xfrm>
            <a:off x="1979623" y="4682603"/>
            <a:ext cx="1637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Propietari del fitxer (</a:t>
            </a:r>
            <a:r>
              <a:rPr lang="ca" sz="679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eduard</a:t>
            </a: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pot llegir i escriure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3829159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807F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12807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3829159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 txBox="1"/>
          <p:nvPr/>
        </p:nvSpPr>
        <p:spPr>
          <a:xfrm>
            <a:off x="3829159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44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2F9E44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 txBox="1"/>
          <p:nvPr/>
        </p:nvSpPr>
        <p:spPr>
          <a:xfrm>
            <a:off x="4365666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807F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12807F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4365666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escriptura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 txBox="1"/>
          <p:nvPr/>
        </p:nvSpPr>
        <p:spPr>
          <a:xfrm>
            <a:off x="4365666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36C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D6336C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4902172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807F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12807F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4902172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execució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 txBox="1"/>
          <p:nvPr/>
        </p:nvSpPr>
        <p:spPr>
          <a:xfrm>
            <a:off x="4902172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36C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D6336C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 rot="5400000">
            <a:off x="4588742" y="3657535"/>
            <a:ext cx="90300" cy="15531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7625">
            <a:solidFill>
              <a:srgbClr val="128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/>
          <p:cNvSpPr txBox="1"/>
          <p:nvPr/>
        </p:nvSpPr>
        <p:spPr>
          <a:xfrm>
            <a:off x="3815040" y="4513179"/>
            <a:ext cx="1637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807F"/>
              </a:buClr>
              <a:buSzPts val="926"/>
              <a:buFont typeface="Calibri"/>
              <a:buNone/>
            </a:pPr>
            <a:r>
              <a:rPr b="1" i="0" lang="ca" sz="926" u="none" cap="none" strike="noStrike">
                <a:solidFill>
                  <a:srgbClr val="12807F"/>
                </a:solidFill>
                <a:latin typeface="Calibri"/>
                <a:ea typeface="Calibri"/>
                <a:cs typeface="Calibri"/>
                <a:sym typeface="Calibri"/>
              </a:rPr>
              <a:t>Permisos de grup</a:t>
            </a:r>
            <a:endParaRPr b="0" i="0" sz="926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 txBox="1"/>
          <p:nvPr/>
        </p:nvSpPr>
        <p:spPr>
          <a:xfrm>
            <a:off x="3815040" y="4682603"/>
            <a:ext cx="1637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Grup propietari (</a:t>
            </a:r>
            <a:r>
              <a:rPr lang="ca" sz="679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eduard</a:t>
            </a: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només pot llegir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 txBox="1"/>
          <p:nvPr/>
        </p:nvSpPr>
        <p:spPr>
          <a:xfrm>
            <a:off x="5664577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 txBox="1"/>
          <p:nvPr/>
        </p:nvSpPr>
        <p:spPr>
          <a:xfrm>
            <a:off x="5664577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 txBox="1"/>
          <p:nvPr/>
        </p:nvSpPr>
        <p:spPr>
          <a:xfrm>
            <a:off x="5664577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44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2F9E44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6201083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 txBox="1"/>
          <p:nvPr/>
        </p:nvSpPr>
        <p:spPr>
          <a:xfrm>
            <a:off x="6201083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escriptura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6201083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36C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D6336C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6737590" y="3666060"/>
            <a:ext cx="5364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18"/>
              <a:buFont typeface="Courier New"/>
              <a:buNone/>
            </a:pPr>
            <a:r>
              <a:rPr b="1" i="0" lang="ca" sz="2718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718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 txBox="1"/>
          <p:nvPr/>
        </p:nvSpPr>
        <p:spPr>
          <a:xfrm>
            <a:off x="6737590" y="4061382"/>
            <a:ext cx="536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execució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 txBox="1"/>
          <p:nvPr/>
        </p:nvSpPr>
        <p:spPr>
          <a:xfrm>
            <a:off x="6737590" y="4185626"/>
            <a:ext cx="536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36C"/>
              </a:buClr>
              <a:buSzPts val="803"/>
              <a:buFont typeface="Calibri"/>
              <a:buNone/>
            </a:pPr>
            <a:r>
              <a:rPr b="1" i="0" lang="ca" sz="803" u="none" cap="none" strike="noStrike">
                <a:solidFill>
                  <a:srgbClr val="D6336C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03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 rot="5400000">
            <a:off x="6424160" y="3657535"/>
            <a:ext cx="90300" cy="15531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76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"/>
          <p:cNvSpPr txBox="1"/>
          <p:nvPr/>
        </p:nvSpPr>
        <p:spPr>
          <a:xfrm>
            <a:off x="5650458" y="4513179"/>
            <a:ext cx="1637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26"/>
              <a:buFont typeface="Calibri"/>
              <a:buNone/>
            </a:pPr>
            <a:r>
              <a:rPr b="1" i="0" lang="ca" sz="926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Permisos d'altres</a:t>
            </a:r>
            <a:endParaRPr b="0" i="0" sz="926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 txBox="1"/>
          <p:nvPr/>
        </p:nvSpPr>
        <p:spPr>
          <a:xfrm>
            <a:off x="5650458" y="4682603"/>
            <a:ext cx="1637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Resta d'usuaris del sistema: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679"/>
              <a:buFont typeface="Calibri"/>
              <a:buNone/>
            </a:pPr>
            <a:r>
              <a:rPr b="0" i="0" lang="ca" sz="679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només pot llegir</a:t>
            </a:r>
            <a:endParaRPr b="0" i="0" sz="679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 rot="6451638">
            <a:off x="614173" y="3117883"/>
            <a:ext cx="497078" cy="124112"/>
          </a:xfrm>
          <a:prstGeom prst="roundRect">
            <a:avLst>
              <a:gd fmla="val 50000" name="adj"/>
            </a:avLst>
          </a:prstGeom>
          <a:solidFill>
            <a:srgbClr val="9A6030"/>
          </a:solidFill>
          <a:ln cap="flat" cmpd="sng" w="11750">
            <a:solidFill>
              <a:srgbClr val="8A6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 rot="6448271">
            <a:off x="801407" y="2901680"/>
            <a:ext cx="253809" cy="141186"/>
          </a:xfrm>
          <a:prstGeom prst="roundRect">
            <a:avLst>
              <a:gd fmla="val 50000" name="adj"/>
            </a:avLst>
          </a:prstGeom>
          <a:solidFill>
            <a:srgbClr val="C9A227"/>
          </a:solidFill>
          <a:ln cap="flat" cmpd="sng" w="11750">
            <a:solidFill>
              <a:srgbClr val="8A6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742833" y="2367144"/>
            <a:ext cx="1468200" cy="598500"/>
          </a:xfrm>
          <a:prstGeom prst="ellipse">
            <a:avLst/>
          </a:prstGeom>
          <a:solidFill>
            <a:srgbClr val="DFF0FF">
              <a:alpha val="18040"/>
            </a:srgbClr>
          </a:solidFill>
          <a:ln cap="flat" cmpd="sng" w="70625">
            <a:solidFill>
              <a:srgbClr val="8A6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742833" y="2367144"/>
            <a:ext cx="1468200" cy="598500"/>
          </a:xfrm>
          <a:prstGeom prst="ellipse">
            <a:avLst/>
          </a:prstGeom>
          <a:noFill/>
          <a:ln cap="flat" cmpd="sng" w="4707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"/>
          <p:cNvSpPr/>
          <p:nvPr/>
        </p:nvSpPr>
        <p:spPr>
          <a:xfrm rot="-2103408">
            <a:off x="810420" y="2423525"/>
            <a:ext cx="282561" cy="67907"/>
          </a:xfrm>
          <a:prstGeom prst="ellipse">
            <a:avLst/>
          </a:prstGeom>
          <a:solidFill>
            <a:srgbClr val="FFFFFF">
              <a:alpha val="65100"/>
            </a:srgbClr>
          </a:solidFill>
          <a:ln>
            <a:noFill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"/>
          <p:cNvSpPr/>
          <p:nvPr/>
        </p:nvSpPr>
        <p:spPr>
          <a:xfrm rot="5400000">
            <a:off x="6164343" y="1226312"/>
            <a:ext cx="192000" cy="169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1570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4724278" y="983517"/>
            <a:ext cx="1496700" cy="480000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570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225" lIns="56475" spcFirstLastPara="1" rIns="56475" wrap="square" tIns="28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1050"/>
              <a:buFont typeface="Calibri"/>
              <a:buNone/>
            </a:pPr>
            <a:r>
              <a:rPr b="1" i="1" lang="ca" sz="1050" u="none" cap="none" strike="noStrike">
                <a:solidFill>
                  <a:srgbClr val="1F3A68"/>
                </a:solidFill>
                <a:latin typeface="Calibri"/>
                <a:ea typeface="Calibri"/>
                <a:cs typeface="Calibri"/>
                <a:sym typeface="Calibri"/>
              </a:rPr>
              <a:t>Elementar, estimat alumne!</a:t>
            </a:r>
            <a:endParaRPr b="0" i="0" sz="1050" u="none" cap="none" strike="noStrike">
              <a:solidFill>
                <a:srgbClr val="1D2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umne detectiu amb gorra de Sherlock Holmes i una lupa" id="391" name="Google Shape;3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747" y="853625"/>
            <a:ext cx="1411858" cy="1361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44c9de1ed0dc9dad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98" name="Google Shape;398;h44c9de1ed0dc9dad_0_115"/>
          <p:cNvSpPr/>
          <p:nvPr/>
        </p:nvSpPr>
        <p:spPr>
          <a:xfrm>
            <a:off x="548650" y="349975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Veure els permisos: 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 instruccions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h44c9de1ed0dc9dad_0_115"/>
          <p:cNvSpPr/>
          <p:nvPr/>
        </p:nvSpPr>
        <p:spPr>
          <a:xfrm>
            <a:off x="410538" y="1040250"/>
            <a:ext cx="8322900" cy="646500"/>
          </a:xfrm>
          <a:prstGeom prst="roundRect">
            <a:avLst>
              <a:gd fmla="val 2857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h44c9de1ed0dc9dad_0_115"/>
          <p:cNvSpPr/>
          <p:nvPr/>
        </p:nvSpPr>
        <p:spPr>
          <a:xfrm>
            <a:off x="628263" y="1122525"/>
            <a:ext cx="7966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uid=1000(archie) gid=1000(web) groups=1000(web),4(adm),20(dialout),24(cdrom),29(audio)</a:t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h44c9de1ed0dc9dad_0_115"/>
          <p:cNvSpPr txBox="1"/>
          <p:nvPr/>
        </p:nvSpPr>
        <p:spPr>
          <a:xfrm>
            <a:off x="456763" y="1978975"/>
            <a:ext cx="82767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188038"/>
                </a:solidFill>
              </a:rPr>
              <a:t>id</a:t>
            </a:r>
            <a:r>
              <a:rPr lang="ca" sz="1600">
                <a:solidFill>
                  <a:schemeClr val="dk1"/>
                </a:solidFill>
              </a:rPr>
              <a:t> </a:t>
            </a:r>
            <a:r>
              <a:rPr lang="ca" sz="1300">
                <a:solidFill>
                  <a:schemeClr val="dk1"/>
                </a:solidFill>
              </a:rPr>
              <a:t>mostra la </a:t>
            </a:r>
            <a:r>
              <a:rPr b="1" lang="ca" sz="1300">
                <a:solidFill>
                  <a:schemeClr val="dk1"/>
                </a:solidFill>
              </a:rPr>
              <a:t>identitat de l’usuari</a:t>
            </a:r>
            <a:r>
              <a:rPr lang="ca" sz="1300">
                <a:solidFill>
                  <a:schemeClr val="dk1"/>
                </a:solidFill>
              </a:rPr>
              <a:t> amb qui s’executa l’ordre: qui ets i a quins grups pertanys, amb els números i els noms.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88038"/>
              </a:buClr>
              <a:buSzPts val="1300"/>
              <a:buChar char="●"/>
            </a:pPr>
            <a:r>
              <a:rPr lang="ca" sz="1300">
                <a:solidFill>
                  <a:srgbClr val="188038"/>
                </a:solidFill>
              </a:rPr>
              <a:t>uid=1000(archie)		</a:t>
            </a:r>
            <a:r>
              <a:rPr b="1" lang="ca" sz="1300"/>
              <a:t>UID</a:t>
            </a:r>
            <a:r>
              <a:rPr lang="ca" sz="1300"/>
              <a:t>: identificador numèric de l’usuari i el seu nom.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8038"/>
              </a:buClr>
              <a:buSzPts val="1300"/>
              <a:buChar char="●"/>
            </a:pPr>
            <a:r>
              <a:rPr lang="ca" sz="1300">
                <a:solidFill>
                  <a:srgbClr val="188038"/>
                </a:solidFill>
              </a:rPr>
              <a:t>gid=1000(web)		</a:t>
            </a:r>
            <a:r>
              <a:rPr b="1" lang="ca" sz="1300"/>
              <a:t>GID</a:t>
            </a:r>
            <a:r>
              <a:rPr lang="ca" sz="1300"/>
              <a:t>: el </a:t>
            </a:r>
            <a:r>
              <a:rPr b="1" lang="ca" sz="1300"/>
              <a:t>grup primari</a:t>
            </a:r>
            <a:r>
              <a:rPr lang="ca" sz="1300"/>
              <a:t>, que és el que reben els fitxers nous que crees.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8038"/>
              </a:buClr>
              <a:buSzPts val="1300"/>
              <a:buChar char="●"/>
            </a:pPr>
            <a:r>
              <a:rPr lang="ca" sz="1300">
                <a:solidFill>
                  <a:srgbClr val="188038"/>
                </a:solidFill>
              </a:rPr>
              <a:t>groups=...			</a:t>
            </a:r>
            <a:r>
              <a:rPr lang="ca" sz="1300"/>
              <a:t>Tots els grups als quals pertanys: el primari i els secundaris.</a:t>
            </a:r>
            <a:endParaRPr sz="1100">
              <a:solidFill>
                <a:srgbClr val="14181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44c9de1ed0dc9dad_0_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08" name="Google Shape;408;h44c9de1ed0dc9dad_0_156"/>
          <p:cNvSpPr/>
          <p:nvPr/>
        </p:nvSpPr>
        <p:spPr>
          <a:xfrm>
            <a:off x="548650" y="349975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Veure els permisos: 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 instruccions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h44c9de1ed0dc9dad_0_156"/>
          <p:cNvSpPr/>
          <p:nvPr/>
        </p:nvSpPr>
        <p:spPr>
          <a:xfrm>
            <a:off x="410538" y="1040250"/>
            <a:ext cx="8322900" cy="646500"/>
          </a:xfrm>
          <a:prstGeom prst="roundRect">
            <a:avLst>
              <a:gd fmla="val 2857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h44c9de1ed0dc9dad_0_156"/>
          <p:cNvSpPr/>
          <p:nvPr/>
        </p:nvSpPr>
        <p:spPr>
          <a:xfrm>
            <a:off x="628263" y="1122525"/>
            <a:ext cx="7966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id</a:t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3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uid=1000(archie) gid=1000(web) groups=1000(web),4(adm),20(dialout),24(cdrom),29(audio)</a:t>
            </a:r>
            <a:endParaRPr b="1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" name="Google Shape;411;h44c9de1ed0dc9dad_0_156"/>
          <p:cNvSpPr txBox="1"/>
          <p:nvPr/>
        </p:nvSpPr>
        <p:spPr>
          <a:xfrm>
            <a:off x="410538" y="1999925"/>
            <a:ext cx="8230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1"/>
                </a:solidFill>
              </a:rPr>
              <a:t>Els secundaris, com </a:t>
            </a:r>
            <a:r>
              <a:rPr lang="ca" sz="1300">
                <a:solidFill>
                  <a:srgbClr val="188038"/>
                </a:solidFill>
              </a:rPr>
              <a:t>sudo</a:t>
            </a:r>
            <a:r>
              <a:rPr lang="ca" sz="1300">
                <a:solidFill>
                  <a:schemeClr val="dk1"/>
                </a:solidFill>
              </a:rPr>
              <a:t> o </a:t>
            </a:r>
            <a:r>
              <a:rPr lang="ca" sz="1300">
                <a:solidFill>
                  <a:srgbClr val="188038"/>
                </a:solidFill>
              </a:rPr>
              <a:t>users</a:t>
            </a:r>
            <a:r>
              <a:rPr lang="ca" sz="1300">
                <a:solidFill>
                  <a:schemeClr val="dk1"/>
                </a:solidFill>
              </a:rPr>
              <a:t>, serveixen per tenir accés a fitxers i recursos que ja existeixen. Per exemple, pertànyer a </a:t>
            </a:r>
            <a:r>
              <a:rPr lang="ca" sz="1300">
                <a:solidFill>
                  <a:srgbClr val="188038"/>
                </a:solidFill>
              </a:rPr>
              <a:t>sudo</a:t>
            </a:r>
            <a:r>
              <a:rPr lang="ca" sz="1300">
                <a:solidFill>
                  <a:schemeClr val="dk1"/>
                </a:solidFill>
              </a:rPr>
              <a:t> et permet usar </a:t>
            </a:r>
            <a:r>
              <a:rPr lang="ca" sz="1300">
                <a:solidFill>
                  <a:srgbClr val="188038"/>
                </a:solidFill>
              </a:rPr>
              <a:t>sudo</a:t>
            </a:r>
            <a:r>
              <a:rPr lang="ca" sz="1300">
                <a:solidFill>
                  <a:schemeClr val="dk1"/>
                </a:solidFill>
              </a:rPr>
              <a:t>.</a:t>
            </a:r>
            <a:endParaRPr sz="1600"/>
          </a:p>
        </p:txBody>
      </p:sp>
      <p:sp>
        <p:nvSpPr>
          <p:cNvPr id="412" name="Google Shape;412;h44c9de1ed0dc9dad_0_156"/>
          <p:cNvSpPr txBox="1"/>
          <p:nvPr/>
        </p:nvSpPr>
        <p:spPr>
          <a:xfrm>
            <a:off x="563700" y="3099625"/>
            <a:ext cx="7923900" cy="104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 Idea Clau: U</a:t>
            </a:r>
            <a:r>
              <a:rPr lang="ca">
                <a:solidFill>
                  <a:schemeClr val="dk1"/>
                </a:solidFill>
              </a:rPr>
              <a:t>n fitxer només té </a:t>
            </a:r>
            <a:r>
              <a:rPr b="1" lang="ca">
                <a:solidFill>
                  <a:schemeClr val="dk1"/>
                </a:solidFill>
              </a:rPr>
              <a:t>un propietari (usuari) i un únic grup propietari</a:t>
            </a:r>
            <a:r>
              <a:rPr lang="ca">
                <a:solidFill>
                  <a:schemeClr val="dk1"/>
                </a:solidFill>
              </a:rPr>
              <a:t>. Els permisos de grup (</a:t>
            </a:r>
            <a:r>
              <a:rPr lang="ca">
                <a:solidFill>
                  <a:srgbClr val="188038"/>
                </a:solidFill>
              </a:rPr>
              <a:t>g</a:t>
            </a:r>
            <a:r>
              <a:rPr lang="ca">
                <a:solidFill>
                  <a:schemeClr val="dk1"/>
                </a:solidFill>
              </a:rPr>
              <a:t>) només s’apliquen a aquest grup. No es poden assignar permisos a dos o més grups diferents amb els permisos clàssics.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603525" y="4115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Permisos en fitxers i directoris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445782" y="1131570"/>
            <a:ext cx="1371600" cy="651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473215" y="1165860"/>
            <a:ext cx="13167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Permís</a:t>
            </a:r>
            <a:endParaRPr b="1" i="0" sz="1438" u="none" cap="none" strike="noStrike">
              <a:solidFill>
                <a:schemeClr val="lt1"/>
              </a:solidFill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1817425" y="1131575"/>
            <a:ext cx="3086100" cy="651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1844850" y="1165850"/>
            <a:ext cx="30087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Sobre un fitxer</a:t>
            </a:r>
            <a:endParaRPr b="1" i="0" sz="1438" u="none" cap="none" strike="noStrike">
              <a:solidFill>
                <a:schemeClr val="lt1"/>
              </a:solidFill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4937800" y="1131575"/>
            <a:ext cx="3738000" cy="651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4972225" y="1145325"/>
            <a:ext cx="33741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Sobre un directori</a:t>
            </a:r>
            <a:endParaRPr b="1" i="0" sz="1438" u="none" cap="none" strike="noStrike">
              <a:solidFill>
                <a:schemeClr val="lt1"/>
              </a:solidFill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445782" y="1783080"/>
            <a:ext cx="1371600" cy="65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480073" y="1824228"/>
            <a:ext cx="1303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 · Lectura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1817418" y="1783080"/>
            <a:ext cx="3154800" cy="65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1851709" y="1824228"/>
            <a:ext cx="30861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Llegir-ne el contingut (cat, less).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972183" y="1783080"/>
            <a:ext cx="3703500" cy="65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846362" y="1824221"/>
            <a:ext cx="37935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Llistar-ne el contingut (ls).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445782" y="2434590"/>
            <a:ext cx="1371600" cy="65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480073" y="2475738"/>
            <a:ext cx="1303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w · Escriptura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1817418" y="2434590"/>
            <a:ext cx="3154800" cy="65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1851709" y="2475738"/>
            <a:ext cx="30861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Modificar-lo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4972183" y="2434590"/>
            <a:ext cx="3703500" cy="65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4846362" y="2475733"/>
            <a:ext cx="37935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Crear</a:t>
            </a:r>
            <a:r>
              <a:rPr lang="ca" sz="1238">
                <a:solidFill>
                  <a:srgbClr val="1A2836"/>
                </a:solidFill>
              </a:rPr>
              <a:t> </a:t>
            </a: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i canviar noms dels fitxers que conté.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445782" y="3086100"/>
            <a:ext cx="1371600" cy="65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480073" y="3127248"/>
            <a:ext cx="1303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x · Execució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1817418" y="3086100"/>
            <a:ext cx="3154800" cy="65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1851709" y="3127248"/>
            <a:ext cx="30861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Executar-lo com a programa o script.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4810575" y="3086097"/>
            <a:ext cx="3865200" cy="65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"/>
          <p:cNvSpPr/>
          <p:nvPr/>
        </p:nvSpPr>
        <p:spPr>
          <a:xfrm>
            <a:off x="4847775" y="3127250"/>
            <a:ext cx="37935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1" i="0" lang="ca" sz="1338" u="none" cap="none" strike="noStrike">
                <a:solidFill>
                  <a:srgbClr val="1A2836"/>
                </a:solidFill>
              </a:rPr>
              <a:t>Entrar-hi (cd) i accedir als fitxers que conté.</a:t>
            </a:r>
            <a:endParaRPr b="1" i="0" sz="1338" u="none" cap="none" strike="noStrike">
              <a:solidFill>
                <a:schemeClr val="dk1"/>
              </a:solidFill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822975" y="4185452"/>
            <a:ext cx="7475400" cy="795300"/>
          </a:xfrm>
          <a:prstGeom prst="roundRect">
            <a:avLst>
              <a:gd fmla="val 21818" name="adj"/>
            </a:avLst>
          </a:prstGeom>
          <a:solidFill>
            <a:srgbClr val="FFF4D8"/>
          </a:solidFill>
          <a:ln cap="flat" cmpd="sng" w="9525">
            <a:solidFill>
              <a:srgbClr val="F5D5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1028725" y="4254574"/>
            <a:ext cx="70638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938"/>
              <a:buFont typeface="Arial"/>
              <a:buNone/>
            </a:pPr>
            <a:r>
              <a:rPr b="1" i="0" lang="ca" sz="1238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Compte: per esborrar un fitxer cal permís w  i x sobre el directori que el conté, no necessàriament sobre el fitxer.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h44c9de1ed0dc9dad_0_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52" name="Google Shape;452;h44c9de1ed0dc9dad_0_177"/>
          <p:cNvSpPr/>
          <p:nvPr/>
        </p:nvSpPr>
        <p:spPr>
          <a:xfrm>
            <a:off x="427250" y="1104150"/>
            <a:ext cx="32736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75" lIns="775" spcFirstLastPara="1" rIns="775" wrap="square" tIns="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Un grup de permisos = 3 bits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h44c9de1ed0dc9dad_0_177"/>
          <p:cNvSpPr/>
          <p:nvPr/>
        </p:nvSpPr>
        <p:spPr>
          <a:xfrm>
            <a:off x="4938436" y="1127515"/>
            <a:ext cx="36090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75" lIns="775" spcFirstLastPara="1" rIns="775" wrap="square" tIns="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5"/>
              </a:buClr>
              <a:buSzPts val="1092"/>
              <a:buFont typeface="Arial"/>
              <a:buNone/>
            </a:pPr>
            <a:r>
              <a:rPr b="0" i="0" lang="ca" sz="1092" u="none" cap="none" strike="noStrike">
                <a:solidFill>
                  <a:srgbClr val="5D6B75"/>
                </a:solidFill>
                <a:latin typeface="Arial"/>
                <a:ea typeface="Arial"/>
                <a:cs typeface="Arial"/>
                <a:sym typeface="Arial"/>
              </a:rPr>
              <a:t>Cada posició té un pes: esquerra 4 · mig 2 · dreta 1</a:t>
            </a:r>
            <a:endParaRPr b="0" i="0" sz="10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h44c9de1ed0dc9dad_0_177"/>
          <p:cNvSpPr/>
          <p:nvPr/>
        </p:nvSpPr>
        <p:spPr>
          <a:xfrm>
            <a:off x="463339" y="1470200"/>
            <a:ext cx="2418000" cy="1206900"/>
          </a:xfrm>
          <a:prstGeom prst="rect">
            <a:avLst/>
          </a:prstGeom>
          <a:solidFill>
            <a:srgbClr val="E8F3FF"/>
          </a:solidFill>
          <a:ln cap="flat" cmpd="sng" w="11875">
            <a:solidFill>
              <a:srgbClr val="146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" lIns="775" spcFirstLastPara="1" rIns="775" wrap="square" tIns="7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LECTURA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r = 100₂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valor 4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bit de l’esquerra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h44c9de1ed0dc9dad_0_177"/>
          <p:cNvSpPr/>
          <p:nvPr/>
        </p:nvSpPr>
        <p:spPr>
          <a:xfrm>
            <a:off x="3372152" y="1470200"/>
            <a:ext cx="2418000" cy="1206900"/>
          </a:xfrm>
          <a:prstGeom prst="rect">
            <a:avLst/>
          </a:prstGeom>
          <a:solidFill>
            <a:srgbClr val="EEF7C7"/>
          </a:solidFill>
          <a:ln cap="flat" cmpd="sng" w="11875">
            <a:solidFill>
              <a:srgbClr val="91B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" lIns="775" spcFirstLastPara="1" rIns="775" wrap="square" tIns="7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ESCRIPTURA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w = 010₂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valor 2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bit del mig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h44c9de1ed0dc9dad_0_177"/>
          <p:cNvSpPr/>
          <p:nvPr/>
        </p:nvSpPr>
        <p:spPr>
          <a:xfrm>
            <a:off x="6280965" y="1470200"/>
            <a:ext cx="2418000" cy="1206900"/>
          </a:xfrm>
          <a:prstGeom prst="rect">
            <a:avLst/>
          </a:prstGeom>
          <a:solidFill>
            <a:srgbClr val="E8F3FF"/>
          </a:solidFill>
          <a:ln cap="flat" cmpd="sng" w="11875">
            <a:solidFill>
              <a:srgbClr val="146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" lIns="775" spcFirstLastPara="1" rIns="775" wrap="square" tIns="7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EXECUCIÓ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x = 001₂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valor 1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638"/>
              <a:buFont typeface="Arial"/>
              <a:buNone/>
            </a:pPr>
            <a:r>
              <a:rPr b="1" i="0" lang="ca" sz="1638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bit de la dreta</a:t>
            </a:r>
            <a:endParaRPr b="0" i="0" sz="16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h44c9de1ed0dc9dad_0_177"/>
          <p:cNvSpPr/>
          <p:nvPr/>
        </p:nvSpPr>
        <p:spPr>
          <a:xfrm>
            <a:off x="462950" y="2926750"/>
            <a:ext cx="3609000" cy="1904400"/>
          </a:xfrm>
          <a:prstGeom prst="rect">
            <a:avLst/>
          </a:prstGeom>
          <a:solidFill>
            <a:srgbClr val="D7EEF9"/>
          </a:solidFill>
          <a:ln cap="flat" cmpd="sng" w="11875">
            <a:solidFill>
              <a:srgbClr val="9ED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326"/>
              <a:buFont typeface="Arial"/>
              <a:buNone/>
            </a:pPr>
            <a:r>
              <a:rPr b="1" i="0" lang="ca" sz="1326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Com funciona el bit?</a:t>
            </a:r>
            <a:endParaRPr b="0" i="0" sz="13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6"/>
              <a:buFont typeface="Arial"/>
              <a:buNone/>
            </a:pPr>
            <a:r>
              <a:t/>
            </a:r>
            <a:endParaRPr b="0" i="0" sz="13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326"/>
              <a:buFont typeface="Arial"/>
              <a:buNone/>
            </a:pPr>
            <a:r>
              <a:rPr b="1" i="0" lang="ca" sz="1226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1 = permís activat</a:t>
            </a:r>
            <a:endParaRPr b="0" i="0" sz="12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326"/>
              <a:buFont typeface="Arial"/>
              <a:buNone/>
            </a:pPr>
            <a:r>
              <a:rPr b="1" i="0" lang="ca" sz="1226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0 = permís desactivat</a:t>
            </a:r>
            <a:endParaRPr b="0" i="0" sz="12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6"/>
              <a:buFont typeface="Arial"/>
              <a:buNone/>
            </a:pPr>
            <a:r>
              <a:t/>
            </a:r>
            <a:endParaRPr b="0" i="0" sz="12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326"/>
              <a:buFont typeface="Arial"/>
              <a:buNone/>
            </a:pPr>
            <a:r>
              <a:rPr b="1" i="0" lang="ca" sz="1226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Només lectura → 100₂</a:t>
            </a:r>
            <a:endParaRPr b="1" i="0" sz="1226" u="none" cap="none" strike="noStrike">
              <a:solidFill>
                <a:srgbClr val="0B2E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326"/>
              <a:buFont typeface="Arial"/>
              <a:buNone/>
            </a:pPr>
            <a:r>
              <a:rPr b="1" lang="ca" sz="1226">
                <a:solidFill>
                  <a:srgbClr val="0B2E4A"/>
                </a:solidFill>
              </a:rPr>
              <a:t>Només escriptura → 010₂</a:t>
            </a:r>
            <a:endParaRPr b="1" sz="1226">
              <a:solidFill>
                <a:srgbClr val="0B2E4A"/>
              </a:solidFill>
            </a:endParaRPr>
          </a:p>
          <a:p>
            <a:pPr indent="0" lvl="0" marL="10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326"/>
              <a:buFont typeface="Arial"/>
              <a:buNone/>
            </a:pPr>
            <a:r>
              <a:rPr b="1" lang="ca" sz="1226">
                <a:solidFill>
                  <a:srgbClr val="0B2E4A"/>
                </a:solidFill>
              </a:rPr>
              <a:t>Lectura i execució → 101₂</a:t>
            </a:r>
            <a:endParaRPr b="1" sz="1226">
              <a:solidFill>
                <a:srgbClr val="0B2E4A"/>
              </a:solidFill>
            </a:endParaRPr>
          </a:p>
        </p:txBody>
      </p:sp>
      <p:sp>
        <p:nvSpPr>
          <p:cNvPr id="458" name="Google Shape;458;h44c9de1ed0dc9dad_0_177"/>
          <p:cNvSpPr/>
          <p:nvPr/>
        </p:nvSpPr>
        <p:spPr>
          <a:xfrm>
            <a:off x="4209500" y="2926600"/>
            <a:ext cx="4482300" cy="1904400"/>
          </a:xfrm>
          <a:prstGeom prst="rect">
            <a:avLst/>
          </a:prstGeom>
          <a:solidFill>
            <a:srgbClr val="FFFFFF"/>
          </a:solidFill>
          <a:ln cap="flat" cmpd="sng" w="11875">
            <a:solidFill>
              <a:srgbClr val="B8D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" lIns="775" spcFirstLastPara="1" rIns="775" wrap="square" tIns="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482"/>
              <a:buFont typeface="Arial"/>
              <a:buNone/>
            </a:pPr>
            <a:r>
              <a:rPr b="1" lang="ca" sz="1382">
                <a:solidFill>
                  <a:srgbClr val="0B2E4A"/>
                </a:solidFill>
              </a:rPr>
              <a:t>Per utilitzar sistema octal -&gt; </a:t>
            </a:r>
            <a:r>
              <a:rPr b="1" i="0" lang="ca" sz="1382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Sumem els bits actius</a:t>
            </a:r>
            <a:endParaRPr b="0" i="0" sz="13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</a:pPr>
            <a:r>
              <a:t/>
            </a:r>
            <a:endParaRPr b="0" i="0" sz="14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482"/>
              <a:buFont typeface="Arial"/>
              <a:buNone/>
            </a:pPr>
            <a:r>
              <a:rPr b="1" i="0" lang="ca" sz="1582" u="none" cap="none" strike="noStrike">
                <a:solidFill>
                  <a:srgbClr val="0B2E4A"/>
                </a:solidFill>
                <a:latin typeface="Arial"/>
                <a:ea typeface="Arial"/>
                <a:cs typeface="Arial"/>
                <a:sym typeface="Arial"/>
              </a:rPr>
              <a:t>rwx = 111₂ = 4 + 2 + 1 = 7</a:t>
            </a:r>
            <a:endParaRPr b="1" i="0" sz="1582" u="none" cap="none" strike="noStrike">
              <a:solidFill>
                <a:srgbClr val="0B2E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482"/>
              <a:buFont typeface="Arial"/>
              <a:buNone/>
            </a:pPr>
            <a:r>
              <a:rPr b="1" lang="ca" sz="1582">
                <a:solidFill>
                  <a:srgbClr val="0B2E4A"/>
                </a:solidFill>
              </a:rPr>
              <a:t>r– = </a:t>
            </a:r>
            <a:r>
              <a:rPr b="1" lang="ca" sz="1582">
                <a:solidFill>
                  <a:srgbClr val="0B2E4A"/>
                </a:solidFill>
              </a:rPr>
              <a:t>100₂ = 4 + 0 + 0 = 4</a:t>
            </a:r>
            <a:endParaRPr b="1" sz="1582">
              <a:solidFill>
                <a:srgbClr val="0B2E4A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482"/>
              <a:buFont typeface="Arial"/>
              <a:buNone/>
            </a:pPr>
            <a:r>
              <a:rPr b="1" lang="ca" sz="1582">
                <a:solidFill>
                  <a:srgbClr val="0B2E4A"/>
                </a:solidFill>
              </a:rPr>
              <a:t>rw- = 110₂ = 4 + 2 + 0 = 6</a:t>
            </a:r>
            <a:endParaRPr b="1" sz="1582">
              <a:solidFill>
                <a:srgbClr val="0B2E4A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E4A"/>
              </a:buClr>
              <a:buSzPts val="1482"/>
              <a:buFont typeface="Arial"/>
              <a:buNone/>
            </a:pPr>
            <a:r>
              <a:rPr b="1" lang="ca" sz="1582">
                <a:solidFill>
                  <a:srgbClr val="0B2E4A"/>
                </a:solidFill>
              </a:rPr>
              <a:t>r-x = 101₂ = 4 + 0 + 1 = 5 </a:t>
            </a:r>
            <a:r>
              <a:rPr b="1" lang="ca" sz="1482">
                <a:solidFill>
                  <a:srgbClr val="0B2E4A"/>
                </a:solidFill>
              </a:rPr>
              <a:t>  </a:t>
            </a:r>
            <a:endParaRPr b="1" sz="1482">
              <a:solidFill>
                <a:srgbClr val="0B2E4A"/>
              </a:solidFill>
            </a:endParaRPr>
          </a:p>
        </p:txBody>
      </p:sp>
      <p:sp>
        <p:nvSpPr>
          <p:cNvPr id="459" name="Google Shape;459;h44c9de1ed0dc9dad_0_177"/>
          <p:cNvSpPr/>
          <p:nvPr/>
        </p:nvSpPr>
        <p:spPr>
          <a:xfrm>
            <a:off x="654150" y="365375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chmod : Permisos amb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Mètode numèric (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binari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564175" y="420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chmod : Permisos amb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Mètode numèric (octal)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617236" y="1234440"/>
            <a:ext cx="1062900" cy="857400"/>
          </a:xfrm>
          <a:prstGeom prst="roundRect">
            <a:avLst>
              <a:gd fmla="val 96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685818" y="1344168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950"/>
              <a:buFont typeface="Arial"/>
              <a:buNone/>
            </a:pPr>
            <a:r>
              <a:rPr b="1" i="0" lang="ca" sz="1950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720109" y="1673352"/>
            <a:ext cx="8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 · lectura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1988873" y="1234440"/>
            <a:ext cx="1062900" cy="857400"/>
          </a:xfrm>
          <a:prstGeom prst="roundRect">
            <a:avLst>
              <a:gd fmla="val 96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2057455" y="1344168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950"/>
              <a:buFont typeface="Arial"/>
              <a:buNone/>
            </a:pPr>
            <a:r>
              <a:rPr b="1" i="0" lang="ca" sz="1950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2091746" y="1673352"/>
            <a:ext cx="8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w · escriptura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3360510" y="1234440"/>
            <a:ext cx="1062900" cy="857400"/>
          </a:xfrm>
          <a:prstGeom prst="roundRect">
            <a:avLst>
              <a:gd fmla="val 96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3429091" y="1344168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950"/>
              <a:buFont typeface="Arial"/>
              <a:buNone/>
            </a:pPr>
            <a:r>
              <a:rPr b="1" i="0" lang="ca" sz="1950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3463382" y="1673352"/>
            <a:ext cx="8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x · execució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4732146" y="1234440"/>
            <a:ext cx="1062900" cy="857400"/>
          </a:xfrm>
          <a:prstGeom prst="roundRect">
            <a:avLst>
              <a:gd fmla="val 96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4800728" y="1344168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950"/>
              <a:buFont typeface="Arial"/>
              <a:buNone/>
            </a:pPr>
            <a:r>
              <a:rPr b="1" i="0" lang="ca" sz="1950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4835019" y="1673352"/>
            <a:ext cx="8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- · sense permís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617225" y="2366000"/>
            <a:ext cx="3497700" cy="1387200"/>
          </a:xfrm>
          <a:prstGeom prst="roundRect">
            <a:avLst>
              <a:gd fmla="val 3636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720100" y="2448299"/>
            <a:ext cx="3291900" cy="12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200"/>
              <a:buFont typeface="Cascadia Mono"/>
              <a:buNone/>
            </a:pPr>
            <a:r>
              <a:rPr b="1" i="0" lang="ca" sz="1400" u="none" cap="none" strike="noStrike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rwx = 4 + 2 + 1 = 7</a:t>
            </a:r>
            <a:endParaRPr b="1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200"/>
              <a:buFont typeface="Cascadia Mono"/>
              <a:buNone/>
            </a:pPr>
            <a:r>
              <a:rPr b="1" i="0" lang="ca" sz="1400" u="none" cap="none" strike="noStrike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rw- = 4 + 2     = 6</a:t>
            </a:r>
            <a:endParaRPr b="1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200"/>
              <a:buFont typeface="Cascadia Mono"/>
              <a:buNone/>
            </a:pPr>
            <a:r>
              <a:rPr b="1" i="0" lang="ca" sz="1400" u="none" cap="none" strike="noStrike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r-x = 4 + 1     = 5</a:t>
            </a:r>
            <a:endParaRPr b="1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200"/>
              <a:buFont typeface="Cascadia Mono"/>
              <a:buNone/>
            </a:pPr>
            <a:r>
              <a:rPr b="1" i="0" lang="ca" sz="1400" u="none" cap="none" strike="noStrike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r-- = 4         = 4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582873" y="4014532"/>
            <a:ext cx="356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00"/>
              <a:buFont typeface="Arial"/>
              <a:buNone/>
            </a:pPr>
            <a:r>
              <a:rPr b="1" lang="ca" sz="1500">
                <a:solidFill>
                  <a:srgbClr val="0B2E54"/>
                </a:solidFill>
              </a:rPr>
              <a:t>Exemple </a:t>
            </a:r>
            <a:r>
              <a:rPr b="1" i="0" lang="ca" sz="15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Ordre chmod amb tres xifres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857000" y="4467875"/>
            <a:ext cx="56460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13"/>
              <a:buFont typeface="Cascadia Mono"/>
              <a:buNone/>
            </a:pPr>
            <a:r>
              <a:rPr b="1" lang="ca" sz="1413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413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chmod 754 fitxer</a:t>
            </a:r>
            <a:endParaRPr b="1" i="0" sz="141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13"/>
              <a:buFont typeface="Cascadia Mono"/>
              <a:buNone/>
            </a:pPr>
            <a:r>
              <a:rPr b="1" i="0" lang="ca" sz="1413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 propietari (rwx) · 5 grup (r-x) · 4 altres (r--)</a:t>
            </a:r>
            <a:endParaRPr b="1" i="0" sz="141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10"/>
          <p:cNvSpPr txBox="1"/>
          <p:nvPr/>
        </p:nvSpPr>
        <p:spPr>
          <a:xfrm>
            <a:off x="4474625" y="2406600"/>
            <a:ext cx="4284600" cy="169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L’ordre </a:t>
            </a:r>
            <a:r>
              <a:rPr lang="ca">
                <a:solidFill>
                  <a:srgbClr val="188038"/>
                </a:solidFill>
              </a:rPr>
              <a:t>chmod</a:t>
            </a:r>
            <a:r>
              <a:rPr lang="ca">
                <a:solidFill>
                  <a:schemeClr val="dk1"/>
                </a:solidFill>
              </a:rPr>
              <a:t> serveix per </a:t>
            </a:r>
            <a:r>
              <a:rPr b="1" lang="ca">
                <a:solidFill>
                  <a:schemeClr val="dk1"/>
                </a:solidFill>
              </a:rPr>
              <a:t>canviar els permisos d’un fitxer o d’un directori</a:t>
            </a:r>
            <a:r>
              <a:rPr lang="ca">
                <a:solidFill>
                  <a:schemeClr val="dk1"/>
                </a:solidFill>
              </a:rPr>
              <a:t> a Linux.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Es </a:t>
            </a:r>
            <a:r>
              <a:rPr b="1" lang="ca">
                <a:solidFill>
                  <a:schemeClr val="dk1"/>
                </a:solidFill>
              </a:rPr>
              <a:t>sumen</a:t>
            </a:r>
            <a:r>
              <a:rPr lang="ca">
                <a:solidFill>
                  <a:schemeClr val="dk1"/>
                </a:solidFill>
              </a:rPr>
              <a:t> els permisos que vols donar al fitxer o directori.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603525" y="358975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Taula de valors dels permisos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822975" y="1030176"/>
            <a:ext cx="822900" cy="4557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850525" y="1042596"/>
            <a:ext cx="768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4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endParaRPr b="1" i="0" sz="1425" u="none" cap="none" strike="noStrike">
              <a:solidFill>
                <a:schemeClr val="dk1"/>
              </a:solidFill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1645956" y="1030176"/>
            <a:ext cx="1234500" cy="4557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1786569" y="1042596"/>
            <a:ext cx="1179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lang="ca" sz="1425">
                <a:solidFill>
                  <a:srgbClr val="FFFFFF"/>
                </a:solidFill>
              </a:rPr>
              <a:t> </a:t>
            </a:r>
            <a:r>
              <a:rPr b="1" i="0" lang="ca" sz="14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Permís</a:t>
            </a:r>
            <a:endParaRPr b="1" i="0" sz="1425" u="none" cap="none" strike="noStrike">
              <a:solidFill>
                <a:schemeClr val="dk1"/>
              </a:solidFill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2880429" y="1030176"/>
            <a:ext cx="5418000" cy="4557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3004729" y="1042596"/>
            <a:ext cx="5363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4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</a:t>
            </a:r>
            <a:endParaRPr b="1" i="0" sz="1425" u="none" cap="none" strike="noStrike">
              <a:solidFill>
                <a:schemeClr val="dk1"/>
              </a:solidFill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822975" y="1485900"/>
            <a:ext cx="8229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8" name="Google Shape;498;p11"/>
          <p:cNvSpPr/>
          <p:nvPr/>
        </p:nvSpPr>
        <p:spPr>
          <a:xfrm>
            <a:off x="857266" y="1532023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1645956" y="1485900"/>
            <a:ext cx="12345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0" name="Google Shape;500;p11"/>
          <p:cNvSpPr/>
          <p:nvPr/>
        </p:nvSpPr>
        <p:spPr>
          <a:xfrm>
            <a:off x="1680247" y="1532023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---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2880429" y="1485900"/>
            <a:ext cx="54180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2" name="Google Shape;502;p11"/>
          <p:cNvSpPr/>
          <p:nvPr/>
        </p:nvSpPr>
        <p:spPr>
          <a:xfrm>
            <a:off x="2914719" y="1532023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Cap permís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822975" y="1883070"/>
            <a:ext cx="8229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4" name="Google Shape;504;p11"/>
          <p:cNvSpPr/>
          <p:nvPr/>
        </p:nvSpPr>
        <p:spPr>
          <a:xfrm>
            <a:off x="857266" y="1929193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1645956" y="1883070"/>
            <a:ext cx="12345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6" name="Google Shape;506;p11"/>
          <p:cNvSpPr/>
          <p:nvPr/>
        </p:nvSpPr>
        <p:spPr>
          <a:xfrm>
            <a:off x="1680247" y="1929193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--x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2880429" y="1883070"/>
            <a:ext cx="54180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8" name="Google Shape;508;p11"/>
          <p:cNvSpPr/>
          <p:nvPr/>
        </p:nvSpPr>
        <p:spPr>
          <a:xfrm>
            <a:off x="2914719" y="1929193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Només execució de fitxers o accés a directoris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822975" y="2280240"/>
            <a:ext cx="8229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0" name="Google Shape;510;p11"/>
          <p:cNvSpPr/>
          <p:nvPr/>
        </p:nvSpPr>
        <p:spPr>
          <a:xfrm>
            <a:off x="857266" y="2326363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1645956" y="2280240"/>
            <a:ext cx="12345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2" name="Google Shape;512;p11"/>
          <p:cNvSpPr/>
          <p:nvPr/>
        </p:nvSpPr>
        <p:spPr>
          <a:xfrm>
            <a:off x="1680247" y="2326363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-w-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2880429" y="2280240"/>
            <a:ext cx="54180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4" name="Google Shape;514;p11"/>
          <p:cNvSpPr/>
          <p:nvPr/>
        </p:nvSpPr>
        <p:spPr>
          <a:xfrm>
            <a:off x="2914719" y="2326363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Només escriptura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822975" y="2677409"/>
            <a:ext cx="8229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6" name="Google Shape;516;p11"/>
          <p:cNvSpPr/>
          <p:nvPr/>
        </p:nvSpPr>
        <p:spPr>
          <a:xfrm>
            <a:off x="857266" y="2723532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1645956" y="2677409"/>
            <a:ext cx="12345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8" name="Google Shape;518;p11"/>
          <p:cNvSpPr/>
          <p:nvPr/>
        </p:nvSpPr>
        <p:spPr>
          <a:xfrm>
            <a:off x="1680247" y="2723532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-wx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2880429" y="2677409"/>
            <a:ext cx="54180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0" name="Google Shape;520;p11"/>
          <p:cNvSpPr/>
          <p:nvPr/>
        </p:nvSpPr>
        <p:spPr>
          <a:xfrm>
            <a:off x="2914719" y="2723532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Escriptura i execució de fitxers o accés a directoris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822975" y="3074579"/>
            <a:ext cx="8229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2" name="Google Shape;522;p11"/>
          <p:cNvSpPr/>
          <p:nvPr/>
        </p:nvSpPr>
        <p:spPr>
          <a:xfrm>
            <a:off x="857266" y="3120702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1645956" y="3074579"/>
            <a:ext cx="12345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4" name="Google Shape;524;p11"/>
          <p:cNvSpPr/>
          <p:nvPr/>
        </p:nvSpPr>
        <p:spPr>
          <a:xfrm>
            <a:off x="1680247" y="3120702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r--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2880429" y="3074579"/>
            <a:ext cx="54180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6" name="Google Shape;526;p11"/>
          <p:cNvSpPr/>
          <p:nvPr/>
        </p:nvSpPr>
        <p:spPr>
          <a:xfrm>
            <a:off x="2914719" y="3120702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Només lectura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822975" y="3471749"/>
            <a:ext cx="8229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8" name="Google Shape;528;p11"/>
          <p:cNvSpPr/>
          <p:nvPr/>
        </p:nvSpPr>
        <p:spPr>
          <a:xfrm>
            <a:off x="857266" y="3517872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1645956" y="3471749"/>
            <a:ext cx="12345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0" name="Google Shape;530;p11"/>
          <p:cNvSpPr/>
          <p:nvPr/>
        </p:nvSpPr>
        <p:spPr>
          <a:xfrm>
            <a:off x="1680247" y="3517872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r-x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2880429" y="3471749"/>
            <a:ext cx="54180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2" name="Google Shape;532;p11"/>
          <p:cNvSpPr/>
          <p:nvPr/>
        </p:nvSpPr>
        <p:spPr>
          <a:xfrm>
            <a:off x="2914719" y="3517872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Lectura i execució de fitxers o accés a directoris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822975" y="3868919"/>
            <a:ext cx="8229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4" name="Google Shape;534;p11"/>
          <p:cNvSpPr/>
          <p:nvPr/>
        </p:nvSpPr>
        <p:spPr>
          <a:xfrm>
            <a:off x="857266" y="3915042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1645956" y="3868919"/>
            <a:ext cx="12345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6" name="Google Shape;536;p11"/>
          <p:cNvSpPr/>
          <p:nvPr/>
        </p:nvSpPr>
        <p:spPr>
          <a:xfrm>
            <a:off x="1680247" y="3915042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rw-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2880429" y="3868919"/>
            <a:ext cx="5418000" cy="397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8" name="Google Shape;538;p11"/>
          <p:cNvSpPr/>
          <p:nvPr/>
        </p:nvSpPr>
        <p:spPr>
          <a:xfrm>
            <a:off x="2914719" y="3915042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Lectura i escriptura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822975" y="4266089"/>
            <a:ext cx="8229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0" name="Google Shape;540;p11"/>
          <p:cNvSpPr/>
          <p:nvPr/>
        </p:nvSpPr>
        <p:spPr>
          <a:xfrm>
            <a:off x="857266" y="4312212"/>
            <a:ext cx="75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1645956" y="4266089"/>
            <a:ext cx="12345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2" name="Google Shape;542;p11"/>
          <p:cNvSpPr/>
          <p:nvPr/>
        </p:nvSpPr>
        <p:spPr>
          <a:xfrm>
            <a:off x="1680247" y="4312212"/>
            <a:ext cx="116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6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rwx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2880429" y="4266089"/>
            <a:ext cx="5418000" cy="397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68575" spcFirstLastPara="1" rIns="68575" wrap="square" tIns="3600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4" name="Google Shape;544;p11"/>
          <p:cNvSpPr/>
          <p:nvPr/>
        </p:nvSpPr>
        <p:spPr>
          <a:xfrm>
            <a:off x="2914719" y="4312212"/>
            <a:ext cx="5349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0" spcFirstLastPara="1" rIns="0" wrap="square" tIns="3600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Lectura, escriptura i execució de fitxers o accés a directoris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543650" y="3479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Exemples chmod 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numèric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445775" y="1371600"/>
            <a:ext cx="2617800" cy="2580900"/>
          </a:xfrm>
          <a:prstGeom prst="roundRect">
            <a:avLst>
              <a:gd fmla="val 428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617236" y="1543050"/>
            <a:ext cx="2091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938"/>
              <a:buFont typeface="Cascadia Mono"/>
              <a:buNone/>
            </a:pPr>
            <a:r>
              <a:rPr b="1" i="0" lang="ca" sz="1238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755 script.sh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617236" y="1906524"/>
            <a:ext cx="2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500"/>
              <a:buFont typeface="Cascadia Mono"/>
              <a:buNone/>
            </a:pPr>
            <a:r>
              <a:rPr b="1" i="0" lang="ca" sz="2400" u="none" cap="none" strike="noStrike">
                <a:solidFill>
                  <a:srgbClr val="0B2E54"/>
                </a:solidFill>
                <a:latin typeface="Consolas"/>
                <a:ea typeface="Consolas"/>
                <a:cs typeface="Consolas"/>
                <a:sym typeface="Consolas"/>
              </a:rPr>
              <a:t>-rwxr-xr-x</a:t>
            </a:r>
            <a:endParaRPr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617525" y="2553101"/>
            <a:ext cx="20916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Executable per tothom; només el propietari el modifica.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3189050" y="1371600"/>
            <a:ext cx="2617800" cy="2580900"/>
          </a:xfrm>
          <a:prstGeom prst="roundRect">
            <a:avLst>
              <a:gd fmla="val 428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3360510" y="1543050"/>
            <a:ext cx="2091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938"/>
              <a:buFont typeface="Cascadia Mono"/>
              <a:buNone/>
            </a:pPr>
            <a:r>
              <a:rPr b="1" i="0" lang="ca" sz="1238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644 document.txt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3360510" y="1906524"/>
            <a:ext cx="2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500"/>
              <a:buFont typeface="Cascadia Mono"/>
              <a:buNone/>
            </a:pPr>
            <a:r>
              <a:rPr b="1" i="0" lang="ca" sz="2400" u="none" cap="none" strike="noStrike">
                <a:solidFill>
                  <a:srgbClr val="0B2E54"/>
                </a:solidFill>
                <a:latin typeface="Consolas"/>
                <a:ea typeface="Consolas"/>
                <a:cs typeface="Consolas"/>
                <a:sym typeface="Consolas"/>
              </a:rPr>
              <a:t>-rw-r--r--</a:t>
            </a:r>
            <a:endParaRPr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3314285" y="2613636"/>
            <a:ext cx="2091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Tothom pot llegir; només el propietari pot editar.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5932325" y="1371600"/>
            <a:ext cx="2715900" cy="2580900"/>
          </a:xfrm>
          <a:prstGeom prst="roundRect">
            <a:avLst>
              <a:gd fmla="val 428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6103775" y="1573313"/>
            <a:ext cx="2562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938"/>
              <a:buFont typeface="Cascadia Mono"/>
              <a:buNone/>
            </a:pPr>
            <a:r>
              <a:rPr b="1" i="0" lang="ca" sz="1238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</a:t>
            </a:r>
            <a:r>
              <a:rPr b="1" lang="ca" sz="1238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6</a:t>
            </a:r>
            <a:r>
              <a:rPr b="1" i="0" lang="ca" sz="1238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00 arxiu_private.key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6103783" y="1906524"/>
            <a:ext cx="2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500"/>
              <a:buFont typeface="Cascadia Mono"/>
              <a:buNone/>
            </a:pPr>
            <a:r>
              <a:rPr b="1" i="0" lang="ca" sz="2400" u="none" cap="none" strike="noStrike">
                <a:solidFill>
                  <a:srgbClr val="0B2E54"/>
                </a:solidFill>
                <a:latin typeface="Consolas"/>
                <a:ea typeface="Consolas"/>
                <a:cs typeface="Consolas"/>
                <a:sym typeface="Consolas"/>
              </a:rPr>
              <a:t>-rw</a:t>
            </a:r>
            <a:r>
              <a:rPr b="1" lang="ca" sz="2400">
                <a:solidFill>
                  <a:srgbClr val="0B2E5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i="0" lang="ca" sz="2400" u="none" cap="none" strike="noStrike">
                <a:solidFill>
                  <a:srgbClr val="0B2E54"/>
                </a:solidFill>
                <a:latin typeface="Consolas"/>
                <a:ea typeface="Consolas"/>
                <a:cs typeface="Consolas"/>
                <a:sym typeface="Consolas"/>
              </a:rPr>
              <a:t>------</a:t>
            </a:r>
            <a:endParaRPr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6011033" y="2613636"/>
            <a:ext cx="2091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lang="ca" sz="1238">
                <a:solidFill>
                  <a:srgbClr val="1A2836"/>
                </a:solidFill>
              </a:rPr>
              <a:t>Lectura i escriptura només per al propietari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545500" y="3429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chmod -R: recursió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582950" y="1141150"/>
            <a:ext cx="4486500" cy="3729000"/>
          </a:xfrm>
          <a:prstGeom prst="roundRect">
            <a:avLst>
              <a:gd fmla="val 3871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802416" y="126332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843515" y="134553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1351021" y="1283812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Què fa?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860000" y="4328775"/>
            <a:ext cx="3738000" cy="397800"/>
          </a:xfrm>
          <a:prstGeom prst="roundRect">
            <a:avLst>
              <a:gd fmla="val 10345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925830" y="4411071"/>
            <a:ext cx="308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050"/>
              <a:buFont typeface="Cascadia Mono"/>
              <a:buNone/>
            </a:pPr>
            <a:r>
              <a:rPr b="1" i="0" lang="ca" sz="1250" u="none" cap="none" strike="noStrike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$ chmod -R 755 /el_meu_projecte</a:t>
            </a:r>
            <a:endParaRPr b="1"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5294700" y="1400500"/>
            <a:ext cx="3394800" cy="1671000"/>
          </a:xfrm>
          <a:prstGeom prst="roundRect">
            <a:avLst>
              <a:gd fmla="val 5714" name="adj"/>
            </a:avLst>
          </a:prstGeom>
          <a:solidFill>
            <a:srgbClr val="FFF0F0"/>
          </a:solidFill>
          <a:ln cap="flat" cmpd="sng" w="9525">
            <a:solidFill>
              <a:srgbClr val="F4B6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5534746" y="1606235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5575895" y="1661099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757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E857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6083401" y="1585661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757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E85757"/>
                </a:solidFill>
                <a:latin typeface="Arial"/>
                <a:ea typeface="Arial"/>
                <a:cs typeface="Arial"/>
                <a:sym typeface="Arial"/>
              </a:rPr>
              <a:t>Avís de seguretat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6083400" y="1901125"/>
            <a:ext cx="24354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98"/>
              <a:buFont typeface="Arial"/>
              <a:buNone/>
            </a:pPr>
            <a:r>
              <a:rPr b="0" i="0" lang="ca" sz="129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És molt útil, però un error pot canviar la seguretat de molts fitxers de cop.</a:t>
            </a:r>
            <a:endParaRPr b="0" i="0" sz="129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3"/>
          <p:cNvSpPr txBox="1"/>
          <p:nvPr/>
        </p:nvSpPr>
        <p:spPr>
          <a:xfrm>
            <a:off x="-3911700" y="2654050"/>
            <a:ext cx="30000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chmod 755 carpeta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canvies </a:t>
            </a:r>
            <a:r>
              <a:rPr b="1" lang="ca" sz="1100">
                <a:solidFill>
                  <a:schemeClr val="dk1"/>
                </a:solidFill>
              </a:rPr>
              <a:t>només els permisos de la carpeta mateixa</a:t>
            </a:r>
            <a:r>
              <a:rPr lang="ca" sz="1100">
                <a:solidFill>
                  <a:schemeClr val="dk1"/>
                </a:solidFill>
              </a:rPr>
              <a:t>. Els fitxers i subcarpetes de dins </a:t>
            </a:r>
            <a:r>
              <a:rPr b="1" lang="ca" sz="1100">
                <a:solidFill>
                  <a:schemeClr val="dk1"/>
                </a:solidFill>
              </a:rPr>
              <a:t>no canvien</a:t>
            </a:r>
            <a:r>
              <a:rPr lang="ca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Si vols aplicar-ho a </a:t>
            </a:r>
            <a:r>
              <a:rPr b="1" lang="ca" sz="1100">
                <a:solidFill>
                  <a:schemeClr val="dk1"/>
                </a:solidFill>
              </a:rPr>
              <a:t>tot el contingut interior, incloent subcarpetes i fitxers de tots els nivells</a:t>
            </a:r>
            <a:r>
              <a:rPr lang="ca" sz="1100">
                <a:solidFill>
                  <a:schemeClr val="dk1"/>
                </a:solidFill>
              </a:rPr>
              <a:t>, has d’usar l’opció recursiva: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chmod -R 755 carpeta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859999" y="1829762"/>
            <a:ext cx="3617700" cy="393600"/>
          </a:xfrm>
          <a:prstGeom prst="roundRect">
            <a:avLst>
              <a:gd fmla="val 10345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962874" y="1907850"/>
            <a:ext cx="3514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050"/>
              <a:buFont typeface="Cascadia Mono"/>
              <a:buNone/>
            </a:pPr>
            <a:r>
              <a:rPr b="1" i="0" lang="ca" sz="1250" u="none" cap="none" strike="noStrike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$ chmod 755 /el_meu_projecte</a:t>
            </a:r>
            <a:endParaRPr b="1"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585" name="Google Shape;585;p13"/>
          <p:cNvSpPr txBox="1"/>
          <p:nvPr/>
        </p:nvSpPr>
        <p:spPr>
          <a:xfrm>
            <a:off x="538025" y="3175475"/>
            <a:ext cx="436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i vols aplicar-ho a </a:t>
            </a:r>
            <a:r>
              <a:rPr b="1" lang="ca" sz="1200">
                <a:solidFill>
                  <a:schemeClr val="dk1"/>
                </a:solidFill>
              </a:rPr>
              <a:t>tot el contingut interior, incloent subcarpetes i fitxers de tots els nivells</a:t>
            </a:r>
            <a:r>
              <a:rPr lang="ca" sz="1200">
                <a:solidFill>
                  <a:schemeClr val="dk1"/>
                </a:solidFill>
              </a:rPr>
              <a:t>, has d’usar l’opció recursiva:-R</a:t>
            </a:r>
            <a:endParaRPr sz="1500"/>
          </a:p>
        </p:txBody>
      </p:sp>
      <p:sp>
        <p:nvSpPr>
          <p:cNvPr id="586" name="Google Shape;586;p13"/>
          <p:cNvSpPr txBox="1"/>
          <p:nvPr/>
        </p:nvSpPr>
        <p:spPr>
          <a:xfrm>
            <a:off x="562325" y="2425100"/>
            <a:ext cx="43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C</a:t>
            </a:r>
            <a:r>
              <a:rPr lang="ca" sz="1200">
                <a:solidFill>
                  <a:schemeClr val="dk1"/>
                </a:solidFill>
              </a:rPr>
              <a:t>anvies </a:t>
            </a:r>
            <a:r>
              <a:rPr b="1" lang="ca" sz="1200">
                <a:solidFill>
                  <a:schemeClr val="dk1"/>
                </a:solidFill>
              </a:rPr>
              <a:t>només els permisos de la carpeta mateixa</a:t>
            </a:r>
            <a:r>
              <a:rPr lang="ca" sz="1200">
                <a:solidFill>
                  <a:schemeClr val="dk1"/>
                </a:solidFill>
              </a:rPr>
              <a:t>. Els fitxers i subcarpetes de dins </a:t>
            </a:r>
            <a:r>
              <a:rPr b="1" lang="ca" sz="1200">
                <a:solidFill>
                  <a:schemeClr val="dk1"/>
                </a:solidFill>
              </a:rPr>
              <a:t>no canvien</a:t>
            </a:r>
            <a:r>
              <a:rPr lang="ca" sz="1200">
                <a:solidFill>
                  <a:schemeClr val="dk1"/>
                </a:solidFill>
              </a:rPr>
              <a:t>.</a:t>
            </a: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582950" y="3928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chmod : Utilitzant el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Mètode simbòlic (lletres)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548655" y="1200150"/>
            <a:ext cx="754500" cy="315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576087" y="1234440"/>
            <a:ext cx="699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Usuaris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1303055" y="1200150"/>
            <a:ext cx="1577400" cy="315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1330487" y="1234440"/>
            <a:ext cx="1522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Significat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548655" y="1515618"/>
            <a:ext cx="754500" cy="315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9" name="Google Shape;599;p14"/>
          <p:cNvSpPr/>
          <p:nvPr/>
        </p:nvSpPr>
        <p:spPr>
          <a:xfrm>
            <a:off x="582946" y="1556766"/>
            <a:ext cx="685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1303055" y="1515618"/>
            <a:ext cx="1577400" cy="315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1" name="Google Shape;601;p14"/>
          <p:cNvSpPr/>
          <p:nvPr/>
        </p:nvSpPr>
        <p:spPr>
          <a:xfrm>
            <a:off x="1337346" y="1556766"/>
            <a:ext cx="1508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propietari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548655" y="1831086"/>
            <a:ext cx="754500" cy="315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3" name="Google Shape;603;p14"/>
          <p:cNvSpPr/>
          <p:nvPr/>
        </p:nvSpPr>
        <p:spPr>
          <a:xfrm>
            <a:off x="582946" y="1872234"/>
            <a:ext cx="685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1303055" y="1831086"/>
            <a:ext cx="1577400" cy="315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5" name="Google Shape;605;p14"/>
          <p:cNvSpPr/>
          <p:nvPr/>
        </p:nvSpPr>
        <p:spPr>
          <a:xfrm>
            <a:off x="1337346" y="1872234"/>
            <a:ext cx="1508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grup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548655" y="2146554"/>
            <a:ext cx="754500" cy="315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7" name="Google Shape;607;p14"/>
          <p:cNvSpPr/>
          <p:nvPr/>
        </p:nvSpPr>
        <p:spPr>
          <a:xfrm>
            <a:off x="582946" y="2187702"/>
            <a:ext cx="685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1303055" y="2146554"/>
            <a:ext cx="1577400" cy="315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9" name="Google Shape;609;p14"/>
          <p:cNvSpPr/>
          <p:nvPr/>
        </p:nvSpPr>
        <p:spPr>
          <a:xfrm>
            <a:off x="1337346" y="2187702"/>
            <a:ext cx="1508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altres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548655" y="2462022"/>
            <a:ext cx="754500" cy="315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1" name="Google Shape;611;p14"/>
          <p:cNvSpPr/>
          <p:nvPr/>
        </p:nvSpPr>
        <p:spPr>
          <a:xfrm>
            <a:off x="582946" y="2503170"/>
            <a:ext cx="685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1303055" y="2462022"/>
            <a:ext cx="1577400" cy="315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3" name="Google Shape;613;p14"/>
          <p:cNvSpPr/>
          <p:nvPr/>
        </p:nvSpPr>
        <p:spPr>
          <a:xfrm>
            <a:off x="1337346" y="2503170"/>
            <a:ext cx="1508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tots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3394800" y="1200150"/>
            <a:ext cx="754500" cy="394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3422233" y="1234440"/>
            <a:ext cx="6996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Permisos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4149201" y="1200150"/>
            <a:ext cx="1577400" cy="394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4176633" y="1234440"/>
            <a:ext cx="15225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Significat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3394800" y="1594485"/>
            <a:ext cx="7545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9" name="Google Shape;619;p14"/>
          <p:cNvSpPr/>
          <p:nvPr/>
        </p:nvSpPr>
        <p:spPr>
          <a:xfrm>
            <a:off x="3429091" y="1635633"/>
            <a:ext cx="685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4149201" y="1594485"/>
            <a:ext cx="15774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1" name="Google Shape;621;p14"/>
          <p:cNvSpPr/>
          <p:nvPr/>
        </p:nvSpPr>
        <p:spPr>
          <a:xfrm>
            <a:off x="4183492" y="1635633"/>
            <a:ext cx="1508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lectura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3394800" y="1988820"/>
            <a:ext cx="754500" cy="394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3" name="Google Shape;623;p14"/>
          <p:cNvSpPr/>
          <p:nvPr/>
        </p:nvSpPr>
        <p:spPr>
          <a:xfrm>
            <a:off x="3429091" y="2029968"/>
            <a:ext cx="685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4149201" y="1988820"/>
            <a:ext cx="1577400" cy="394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5" name="Google Shape;625;p14"/>
          <p:cNvSpPr/>
          <p:nvPr/>
        </p:nvSpPr>
        <p:spPr>
          <a:xfrm>
            <a:off x="4183492" y="2029968"/>
            <a:ext cx="1508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escriptura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3394800" y="2383155"/>
            <a:ext cx="7545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7" name="Google Shape;627;p14"/>
          <p:cNvSpPr/>
          <p:nvPr/>
        </p:nvSpPr>
        <p:spPr>
          <a:xfrm>
            <a:off x="3429091" y="2424303"/>
            <a:ext cx="685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4149201" y="2383155"/>
            <a:ext cx="15774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9" name="Google Shape;629;p14"/>
          <p:cNvSpPr/>
          <p:nvPr/>
        </p:nvSpPr>
        <p:spPr>
          <a:xfrm>
            <a:off x="4183492" y="2424303"/>
            <a:ext cx="1508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execució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6240946" y="1200150"/>
            <a:ext cx="754500" cy="394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6268379" y="1234440"/>
            <a:ext cx="6996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6995346" y="1200150"/>
            <a:ext cx="1577400" cy="394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7022779" y="1234440"/>
            <a:ext cx="15225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ca" sz="1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Acció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6240946" y="1594485"/>
            <a:ext cx="7545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5" name="Google Shape;635;p14"/>
          <p:cNvSpPr/>
          <p:nvPr/>
        </p:nvSpPr>
        <p:spPr>
          <a:xfrm>
            <a:off x="6275237" y="1635633"/>
            <a:ext cx="685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6995346" y="1594485"/>
            <a:ext cx="15774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7" name="Google Shape;637;p14"/>
          <p:cNvSpPr/>
          <p:nvPr/>
        </p:nvSpPr>
        <p:spPr>
          <a:xfrm>
            <a:off x="7029637" y="1635633"/>
            <a:ext cx="1508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afegeix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6240946" y="1988820"/>
            <a:ext cx="754500" cy="394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9" name="Google Shape;639;p14"/>
          <p:cNvSpPr/>
          <p:nvPr/>
        </p:nvSpPr>
        <p:spPr>
          <a:xfrm>
            <a:off x="6275237" y="2029968"/>
            <a:ext cx="685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6995346" y="1988820"/>
            <a:ext cx="1577400" cy="394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1" name="Google Shape;641;p14"/>
          <p:cNvSpPr/>
          <p:nvPr/>
        </p:nvSpPr>
        <p:spPr>
          <a:xfrm>
            <a:off x="7029637" y="2029968"/>
            <a:ext cx="1508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treu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6240946" y="2383155"/>
            <a:ext cx="7545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3" name="Google Shape;643;p14"/>
          <p:cNvSpPr/>
          <p:nvPr/>
        </p:nvSpPr>
        <p:spPr>
          <a:xfrm>
            <a:off x="6275237" y="2424303"/>
            <a:ext cx="685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6995346" y="2383155"/>
            <a:ext cx="1577400" cy="394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5" name="Google Shape;645;p14"/>
          <p:cNvSpPr/>
          <p:nvPr/>
        </p:nvSpPr>
        <p:spPr>
          <a:xfrm>
            <a:off x="7029637" y="2424303"/>
            <a:ext cx="1508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2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estableix exactament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576075" y="3343875"/>
            <a:ext cx="5559600" cy="1650000"/>
          </a:xfrm>
          <a:prstGeom prst="roundRect">
            <a:avLst>
              <a:gd fmla="val 8333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659470" y="3426175"/>
            <a:ext cx="5392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350"/>
              <a:buFont typeface="Cascadia Mono"/>
              <a:buNone/>
            </a:pPr>
            <a:r>
              <a:rPr lang="ca" sz="1350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Sintaxi: </a:t>
            </a:r>
            <a:r>
              <a:rPr b="0" i="0" lang="ca" sz="1350" u="none" cap="none" strike="noStrike">
                <a:solidFill>
                  <a:srgbClr val="E9F4FF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[u|g|o|a] [+|-|=] [r|w|x][,...] fitxer</a:t>
            </a:r>
            <a:endParaRPr b="0" i="0" sz="1350" u="none" cap="none" strike="noStrike">
              <a:solidFill>
                <a:srgbClr val="E9F4FF"/>
              </a:solidFill>
              <a:latin typeface="Cascadia Mono"/>
              <a:ea typeface="Cascadia Mono"/>
              <a:cs typeface="Cascadia Mono"/>
              <a:sym typeface="Cascadia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1350"/>
              <a:buFont typeface="Cascadia Mono"/>
              <a:buNone/>
            </a:pPr>
            <a:r>
              <a:t/>
            </a:r>
            <a:endParaRPr sz="1350">
              <a:solidFill>
                <a:srgbClr val="E9F4FF"/>
              </a:solidFill>
              <a:latin typeface="Cascadia Mono"/>
              <a:ea typeface="Cascadia Mono"/>
              <a:cs typeface="Cascadia Mono"/>
              <a:sym typeface="Cascadia Mono"/>
            </a:endParaRPr>
          </a:p>
        </p:txBody>
      </p:sp>
      <p:sp>
        <p:nvSpPr>
          <p:cNvPr id="648" name="Google Shape;648;p14"/>
          <p:cNvSpPr txBox="1"/>
          <p:nvPr/>
        </p:nvSpPr>
        <p:spPr>
          <a:xfrm>
            <a:off x="715048" y="3781075"/>
            <a:ext cx="4502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>
                <a:solidFill>
                  <a:schemeClr val="lt1"/>
                </a:solidFill>
              </a:rPr>
              <a:t>Exemple: </a:t>
            </a:r>
            <a:r>
              <a:rPr lang="ca" sz="1200">
                <a:solidFill>
                  <a:schemeClr val="lt1"/>
                </a:solidFill>
              </a:rPr>
              <a:t>chmod u+rwx,g+rx script.sh</a:t>
            </a:r>
            <a:endParaRPr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ca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u+rwx</a:t>
            </a:r>
            <a:r>
              <a:rPr lang="ca" sz="1100">
                <a:solidFill>
                  <a:schemeClr val="lt1"/>
                </a:solidFill>
              </a:rPr>
              <a:t> → l’usuari propietari obté lectura, escriptura i execució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ca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g+rx</a:t>
            </a:r>
            <a:r>
              <a:rPr lang="ca" sz="1100">
                <a:solidFill>
                  <a:schemeClr val="lt1"/>
                </a:solidFill>
              </a:rPr>
              <a:t> → el grup obté lectura i execució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603525" y="3637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chmod simbòlic: exemples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548655" y="1234440"/>
            <a:ext cx="3806400" cy="754500"/>
          </a:xfrm>
          <a:prstGeom prst="roundRect">
            <a:avLst>
              <a:gd fmla="val 10909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>
            <a:off x="720109" y="1357884"/>
            <a:ext cx="34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Cascadia Mono"/>
              <a:buNone/>
            </a:pPr>
            <a:r>
              <a:rPr b="1" i="0" lang="ca" sz="1013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u+x script.sh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720109" y="16322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Afegeix execució només al </a:t>
            </a:r>
            <a:r>
              <a:rPr b="1" i="0" lang="ca" sz="938" u="none" cap="none" strike="noStrike">
                <a:solidFill>
                  <a:srgbClr val="1A2836"/>
                </a:solidFill>
              </a:rPr>
              <a:t>propietari</a:t>
            </a: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548655" y="2297430"/>
            <a:ext cx="3806400" cy="754500"/>
          </a:xfrm>
          <a:prstGeom prst="roundRect">
            <a:avLst>
              <a:gd fmla="val 10909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720109" y="2420874"/>
            <a:ext cx="34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Cascadia Mono"/>
              <a:buNone/>
            </a:pPr>
            <a:r>
              <a:rPr b="1" i="0" lang="ca" sz="1013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g-w document.txt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720109" y="269519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Treu escriptura només al </a:t>
            </a:r>
            <a:r>
              <a:rPr b="1" i="0" lang="ca" sz="938" u="none" cap="none" strike="noStrike">
                <a:solidFill>
                  <a:srgbClr val="1A2836"/>
                </a:solidFill>
              </a:rPr>
              <a:t>grup</a:t>
            </a: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4663564" y="1234440"/>
            <a:ext cx="3806400" cy="754500"/>
          </a:xfrm>
          <a:prstGeom prst="roundRect">
            <a:avLst>
              <a:gd fmla="val 10909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4835019" y="1357884"/>
            <a:ext cx="34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Cascadia Mono"/>
              <a:buNone/>
            </a:pPr>
            <a:r>
              <a:rPr b="1" i="0" lang="ca" sz="1013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o=r arxiu.conf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4835019" y="163220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1" i="0" lang="ca" sz="938" u="none" cap="none" strike="noStrike">
                <a:solidFill>
                  <a:srgbClr val="1A2836"/>
                </a:solidFill>
              </a:rPr>
              <a:t>Altres</a:t>
            </a: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 queden exactament amb només lectura.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5"/>
          <p:cNvSpPr/>
          <p:nvPr/>
        </p:nvSpPr>
        <p:spPr>
          <a:xfrm>
            <a:off x="4663564" y="2297430"/>
            <a:ext cx="3806400" cy="754500"/>
          </a:xfrm>
          <a:prstGeom prst="roundRect">
            <a:avLst>
              <a:gd fmla="val 10909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>
            <a:off x="4835019" y="2420874"/>
            <a:ext cx="34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Cascadia Mono"/>
              <a:buNone/>
            </a:pPr>
            <a:r>
              <a:rPr b="1" i="0" lang="ca" sz="1013" u="none" cap="none" strike="noStrike">
                <a:solidFill>
                  <a:srgbClr val="0086C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chmod a+r arxiu.zip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5"/>
          <p:cNvSpPr/>
          <p:nvPr/>
        </p:nvSpPr>
        <p:spPr>
          <a:xfrm>
            <a:off x="4835019" y="2695194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1" i="0" lang="ca" sz="938" u="none" cap="none" strike="noStrike">
                <a:solidFill>
                  <a:srgbClr val="1A2836"/>
                </a:solidFill>
              </a:rPr>
              <a:t>Afegeix</a:t>
            </a: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 lectura a tothom.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548650" y="3260425"/>
            <a:ext cx="3781500" cy="1671000"/>
          </a:xfrm>
          <a:prstGeom prst="roundRect">
            <a:avLst>
              <a:gd fmla="val 5714" name="adj"/>
            </a:avLst>
          </a:prstGeom>
          <a:solidFill>
            <a:srgbClr val="FFF0F0"/>
          </a:solidFill>
          <a:ln cap="flat" cmpd="sng" w="9525">
            <a:solidFill>
              <a:srgbClr val="F4B6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633650" y="3375250"/>
            <a:ext cx="342000" cy="306900"/>
          </a:xfrm>
          <a:prstGeom prst="ellipse">
            <a:avLst/>
          </a:prstGeom>
          <a:solidFill>
            <a:srgbClr val="E3F0FD"/>
          </a:solidFill>
          <a:ln cap="flat" cmpd="sng" w="687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500" lIns="49500" spcFirstLastPara="1" rIns="4950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666733" y="3414850"/>
            <a:ext cx="275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757"/>
              </a:buClr>
              <a:buSzPts val="974"/>
              <a:buFont typeface="Quattrocento Sans"/>
              <a:buNone/>
            </a:pPr>
            <a:r>
              <a:rPr b="0" i="0" lang="ca" sz="974" u="none" cap="none" strike="noStrike">
                <a:solidFill>
                  <a:srgbClr val="E857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</a:t>
            </a:r>
            <a:endParaRPr b="0" i="0" sz="97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1074755" y="3360400"/>
            <a:ext cx="17643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757"/>
              </a:buClr>
              <a:buSzPts val="920"/>
              <a:buFont typeface="Arial"/>
              <a:buNone/>
            </a:pPr>
            <a:r>
              <a:rPr b="1" i="0" lang="ca" sz="920" u="none" cap="none" strike="noStrike">
                <a:solidFill>
                  <a:srgbClr val="E85757"/>
                </a:solidFill>
                <a:latin typeface="Arial"/>
                <a:ea typeface="Arial"/>
                <a:cs typeface="Arial"/>
                <a:sym typeface="Arial"/>
              </a:rPr>
              <a:t>Avís de seguretat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603525" y="3729350"/>
            <a:ext cx="3574500" cy="11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ca" sz="900">
                <a:solidFill>
                  <a:srgbClr val="38761D"/>
                </a:solidFill>
              </a:rPr>
              <a:t>+ i -</a:t>
            </a:r>
            <a:r>
              <a:rPr lang="ca" sz="900">
                <a:solidFill>
                  <a:srgbClr val="6AA84F"/>
                </a:solidFill>
              </a:rPr>
              <a:t> </a:t>
            </a:r>
            <a:r>
              <a:rPr lang="ca" sz="900">
                <a:solidFill>
                  <a:srgbClr val="1A2836"/>
                </a:solidFill>
              </a:rPr>
              <a:t>modifiquen els permisos existents, p</a:t>
            </a:r>
            <a:r>
              <a:rPr lang="ca" sz="900">
                <a:solidFill>
                  <a:schemeClr val="dk1"/>
                </a:solidFill>
              </a:rPr>
              <a:t>erò </a:t>
            </a:r>
            <a:r>
              <a:rPr b="1" lang="ca" sz="900">
                <a:solidFill>
                  <a:schemeClr val="dk1"/>
                </a:solidFill>
              </a:rPr>
              <a:t>els que ja existien es mantenen</a:t>
            </a:r>
            <a:r>
              <a:rPr lang="ca" sz="900">
                <a:solidFill>
                  <a:schemeClr val="dk1"/>
                </a:solidFill>
              </a:rPr>
              <a:t>. Per tant, podries estar “arrossegant” algun </a:t>
            </a:r>
            <a:r>
              <a:rPr lang="ca" sz="900">
                <a:solidFill>
                  <a:srgbClr val="188038"/>
                </a:solidFill>
              </a:rPr>
              <a:t>x</a:t>
            </a:r>
            <a:r>
              <a:rPr lang="ca" sz="900">
                <a:solidFill>
                  <a:schemeClr val="dk1"/>
                </a:solidFill>
              </a:rPr>
              <a:t> o algun permís que no sabies que hi era.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ca" sz="900">
                <a:solidFill>
                  <a:srgbClr val="2F9E44"/>
                </a:solidFill>
              </a:rPr>
              <a:t>= </a:t>
            </a:r>
            <a:r>
              <a:rPr lang="ca" sz="900">
                <a:solidFill>
                  <a:srgbClr val="1A2836"/>
                </a:solidFill>
              </a:rPr>
              <a:t>substitueix els permisos del tipus d’usuari indicat i deixa exactament els que escrius.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73" name="Google Shape;673;p15"/>
          <p:cNvSpPr txBox="1"/>
          <p:nvPr/>
        </p:nvSpPr>
        <p:spPr>
          <a:xfrm>
            <a:off x="4663575" y="3260425"/>
            <a:ext cx="3806400" cy="167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             Idea clau:</a:t>
            </a:r>
            <a:endParaRPr>
              <a:solidFill>
                <a:schemeClr val="dk1"/>
              </a:solidFill>
            </a:endParaRPr>
          </a:p>
          <a:p>
            <a:pPr indent="-82550" lvl="0" marL="792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ca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ca" sz="1000">
                <a:solidFill>
                  <a:schemeClr val="dk1"/>
                </a:solidFill>
              </a:rPr>
              <a:t> i </a:t>
            </a:r>
            <a:r>
              <a:rPr lang="ca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ca" sz="1000">
                <a:solidFill>
                  <a:schemeClr val="dk1"/>
                </a:solidFill>
              </a:rPr>
              <a:t> </a:t>
            </a:r>
            <a:r>
              <a:rPr b="1" lang="ca" sz="1000">
                <a:solidFill>
                  <a:schemeClr val="dk1"/>
                </a:solidFill>
              </a:rPr>
              <a:t>modifiquen els permisos existents</a:t>
            </a:r>
            <a:r>
              <a:rPr lang="ca" sz="1000">
                <a:solidFill>
                  <a:schemeClr val="dk1"/>
                </a:solidFill>
              </a:rPr>
              <a:t>. </a:t>
            </a:r>
            <a:r>
              <a:rPr lang="ca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ca" sz="1000">
                <a:solidFill>
                  <a:schemeClr val="dk1"/>
                </a:solidFill>
              </a:rPr>
              <a:t> substitueix els permisos del tipus d’usuari indicat i deixa </a:t>
            </a:r>
            <a:r>
              <a:rPr b="1" lang="ca" sz="1000">
                <a:solidFill>
                  <a:schemeClr val="dk1"/>
                </a:solidFill>
              </a:rPr>
              <a:t>exactament</a:t>
            </a:r>
            <a:r>
              <a:rPr lang="ca" sz="1000">
                <a:solidFill>
                  <a:schemeClr val="dk1"/>
                </a:solidFill>
              </a:rPr>
              <a:t> els que escrius.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674" name="Google Shape;6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576" y="3239275"/>
            <a:ext cx="637080" cy="16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681" name="Google Shape;681;p16"/>
          <p:cNvSpPr/>
          <p:nvPr/>
        </p:nvSpPr>
        <p:spPr>
          <a:xfrm>
            <a:off x="548650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Treure i restaurar permisos amb =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548655" y="1234440"/>
            <a:ext cx="3977700" cy="1680300"/>
          </a:xfrm>
          <a:prstGeom prst="roundRect">
            <a:avLst>
              <a:gd fmla="val 2449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651527" y="1316736"/>
            <a:ext cx="377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Abans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drwxr-xr</a:t>
            </a:r>
            <a:r>
              <a:rPr b="1" lang="ca" sz="1063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w-</a:t>
            </a: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 6 archie web Documents</a:t>
            </a:r>
            <a:endParaRPr b="1" i="0" sz="1063" u="none" cap="none" strike="noStrike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t/>
            </a:r>
            <a:endParaRPr b="1" sz="1063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chmod g= Documents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chmod o= Documents</a:t>
            </a:r>
            <a:endParaRPr b="1" i="0" sz="1063" u="none" cap="none" strike="noStrike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t/>
            </a:r>
            <a:endParaRPr b="1" sz="1063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Després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drwx------ 6 archie web Documents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p16"/>
          <p:cNvSpPr/>
          <p:nvPr/>
        </p:nvSpPr>
        <p:spPr>
          <a:xfrm>
            <a:off x="4800728" y="1268730"/>
            <a:ext cx="3634800" cy="1371600"/>
          </a:xfrm>
          <a:prstGeom prst="roundRect">
            <a:avLst>
              <a:gd fmla="val 6000" name="adj"/>
            </a:avLst>
          </a:prstGeom>
          <a:solidFill>
            <a:srgbClr val="FFF4D8"/>
          </a:solidFill>
          <a:ln cap="flat" cmpd="sng" w="9525">
            <a:solidFill>
              <a:srgbClr val="F5D5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6"/>
          <p:cNvSpPr/>
          <p:nvPr/>
        </p:nvSpPr>
        <p:spPr>
          <a:xfrm>
            <a:off x="5040764" y="1460754"/>
            <a:ext cx="308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Treure permisos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5040775" y="1755652"/>
            <a:ext cx="30861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Quan no escrivim cap lletra després de =, deixem aquell bloc sense permisos.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548650" y="3154674"/>
            <a:ext cx="3977700" cy="1334700"/>
          </a:xfrm>
          <a:prstGeom prst="roundRect">
            <a:avLst>
              <a:gd fmla="val 3871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6"/>
          <p:cNvSpPr/>
          <p:nvPr/>
        </p:nvSpPr>
        <p:spPr>
          <a:xfrm>
            <a:off x="608975" y="3244525"/>
            <a:ext cx="3771900" cy="11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Restaurar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chmod g=rx Documents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chmod o=r</a:t>
            </a:r>
            <a:r>
              <a:rPr b="1" lang="ca" sz="1063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 Documents</a:t>
            </a:r>
            <a:endParaRPr b="1" i="0" sz="1063" u="none" cap="none" strike="noStrike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t/>
            </a:r>
            <a:endParaRPr b="1" sz="1063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Després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63"/>
              <a:buFont typeface="Cascadia Mono"/>
              <a:buNone/>
            </a:pP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drwxr-xr</a:t>
            </a:r>
            <a:r>
              <a:rPr b="1" lang="ca" sz="1063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w-</a:t>
            </a:r>
            <a:r>
              <a:rPr b="1" i="0" lang="ca" sz="1063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 6 archie web Documents</a:t>
            </a:r>
            <a:endParaRPr b="1" i="0" sz="1063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4800725" y="3168401"/>
            <a:ext cx="3634800" cy="1266300"/>
          </a:xfrm>
          <a:prstGeom prst="roundRect">
            <a:avLst>
              <a:gd fmla="val 827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6"/>
          <p:cNvSpPr/>
          <p:nvPr/>
        </p:nvSpPr>
        <p:spPr>
          <a:xfrm>
            <a:off x="5040764" y="3319272"/>
            <a:ext cx="301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Revertir-ho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5040764" y="3600450"/>
            <a:ext cx="301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Es recupera l’estat assignant de nou els permisos exactes.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698" name="Google Shape;698;p17"/>
          <p:cNvSpPr/>
          <p:nvPr/>
        </p:nvSpPr>
        <p:spPr>
          <a:xfrm>
            <a:off x="548650" y="3086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Què preferim: números o símbols?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7"/>
          <p:cNvSpPr/>
          <p:nvPr/>
        </p:nvSpPr>
        <p:spPr>
          <a:xfrm>
            <a:off x="548650" y="1371600"/>
            <a:ext cx="3909300" cy="1798500"/>
          </a:xfrm>
          <a:prstGeom prst="roundRect">
            <a:avLst>
              <a:gd fmla="val 510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7"/>
          <p:cNvSpPr/>
          <p:nvPr/>
        </p:nvSpPr>
        <p:spPr>
          <a:xfrm>
            <a:off x="754400" y="154305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7"/>
          <p:cNvSpPr/>
          <p:nvPr/>
        </p:nvSpPr>
        <p:spPr>
          <a:xfrm>
            <a:off x="795549" y="159791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⌨️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1268764" y="1563624"/>
            <a:ext cx="281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Dia a dia a la terminal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7"/>
          <p:cNvSpPr/>
          <p:nvPr/>
        </p:nvSpPr>
        <p:spPr>
          <a:xfrm>
            <a:off x="1268775" y="1885950"/>
            <a:ext cx="28119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ca" sz="975" u="none" cap="none" strike="noStrike">
                <a:solidFill>
                  <a:srgbClr val="1A2836"/>
                </a:solidFill>
              </a:rPr>
              <a:t>mètode simbòlic</a:t>
            </a: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 és còmode quan només volem afegir o treure un permís concret.</a:t>
            </a:r>
            <a:endParaRPr b="0" i="0" sz="975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t/>
            </a:r>
            <a:endParaRPr sz="975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Exemple: chmod +x script.sh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7"/>
          <p:cNvSpPr/>
          <p:nvPr/>
        </p:nvSpPr>
        <p:spPr>
          <a:xfrm>
            <a:off x="4766429" y="1371600"/>
            <a:ext cx="3909300" cy="1798500"/>
          </a:xfrm>
          <a:prstGeom prst="roundRect">
            <a:avLst>
              <a:gd fmla="val 510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7"/>
          <p:cNvSpPr/>
          <p:nvPr/>
        </p:nvSpPr>
        <p:spPr>
          <a:xfrm>
            <a:off x="4972183" y="154305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7"/>
          <p:cNvSpPr/>
          <p:nvPr/>
        </p:nvSpPr>
        <p:spPr>
          <a:xfrm>
            <a:off x="5013332" y="159791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7"/>
          <p:cNvSpPr/>
          <p:nvPr/>
        </p:nvSpPr>
        <p:spPr>
          <a:xfrm>
            <a:off x="5486546" y="1563624"/>
            <a:ext cx="281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Servidors i scripts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7"/>
          <p:cNvSpPr/>
          <p:nvPr/>
        </p:nvSpPr>
        <p:spPr>
          <a:xfrm>
            <a:off x="5486550" y="1968150"/>
            <a:ext cx="29412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ca" sz="975" u="none" cap="none" strike="noStrike">
                <a:solidFill>
                  <a:srgbClr val="1A2836"/>
                </a:solidFill>
              </a:rPr>
              <a:t>mètode numèric </a:t>
            </a: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garanteix l’estat exacte dels permisos, independentment del valor inicial.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715" name="Google Shape;715;p18"/>
          <p:cNvSpPr/>
          <p:nvPr/>
        </p:nvSpPr>
        <p:spPr>
          <a:xfrm>
            <a:off x="582950" y="3773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Canvi de propietari i grup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8"/>
          <p:cNvSpPr/>
          <p:nvPr/>
        </p:nvSpPr>
        <p:spPr>
          <a:xfrm>
            <a:off x="372075" y="1268725"/>
            <a:ext cx="4310700" cy="960000"/>
          </a:xfrm>
          <a:prstGeom prst="roundRect">
            <a:avLst>
              <a:gd fmla="val 4286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8"/>
          <p:cNvSpPr/>
          <p:nvPr/>
        </p:nvSpPr>
        <p:spPr>
          <a:xfrm>
            <a:off x="481663" y="1351021"/>
            <a:ext cx="40914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2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sudo chown joan document.txt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2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sudo chown joan:desenvolupament document.txt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2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chgrp desenvolupament document.txt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4838900" y="1268725"/>
            <a:ext cx="3899100" cy="8913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4962357" y="1419601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8"/>
          <p:cNvSpPr/>
          <p:nvPr/>
        </p:nvSpPr>
        <p:spPr>
          <a:xfrm>
            <a:off x="4962357" y="1474465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5421855" y="1440175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8"/>
          <p:cNvSpPr/>
          <p:nvPr/>
        </p:nvSpPr>
        <p:spPr>
          <a:xfrm>
            <a:off x="5463004" y="1495039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5881354" y="1392169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chown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5881354" y="1611625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0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Canvia el propietari del fitxer. Pot requerir sudo.</a:t>
            </a:r>
            <a:endParaRPr b="0" i="0" sz="10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4838900" y="2228713"/>
            <a:ext cx="38991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8"/>
          <p:cNvSpPr/>
          <p:nvPr/>
        </p:nvSpPr>
        <p:spPr>
          <a:xfrm>
            <a:off x="4962357" y="2379591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8"/>
          <p:cNvSpPr/>
          <p:nvPr/>
        </p:nvSpPr>
        <p:spPr>
          <a:xfrm>
            <a:off x="4962357" y="2434455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5421855" y="2400165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8"/>
          <p:cNvSpPr/>
          <p:nvPr/>
        </p:nvSpPr>
        <p:spPr>
          <a:xfrm>
            <a:off x="5463004" y="2455029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5881354" y="2352159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chown usuari:grup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8"/>
          <p:cNvSpPr/>
          <p:nvPr/>
        </p:nvSpPr>
        <p:spPr>
          <a:xfrm>
            <a:off x="5881354" y="2571615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0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Canvia alhora propietari i grup.</a:t>
            </a:r>
            <a:endParaRPr b="0" i="0" sz="10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4838900" y="3120252"/>
            <a:ext cx="38991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8"/>
          <p:cNvSpPr/>
          <p:nvPr/>
        </p:nvSpPr>
        <p:spPr>
          <a:xfrm>
            <a:off x="4962357" y="3271131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4962357" y="3325995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8"/>
          <p:cNvSpPr/>
          <p:nvPr/>
        </p:nvSpPr>
        <p:spPr>
          <a:xfrm>
            <a:off x="5421855" y="3291705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8"/>
          <p:cNvSpPr/>
          <p:nvPr/>
        </p:nvSpPr>
        <p:spPr>
          <a:xfrm>
            <a:off x="5463004" y="3346569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5881354" y="3243699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chgrp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5881354" y="3463155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10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Canvia només el grup associat al fitxer.</a:t>
            </a:r>
            <a:endParaRPr b="0" i="0" sz="10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8"/>
          <p:cNvSpPr txBox="1"/>
          <p:nvPr/>
        </p:nvSpPr>
        <p:spPr>
          <a:xfrm>
            <a:off x="327225" y="3017425"/>
            <a:ext cx="4310700" cy="1523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</a:rPr>
              <a:t>sudo</a:t>
            </a:r>
            <a:r>
              <a:rPr lang="ca" sz="1100">
                <a:solidFill>
                  <a:schemeClr val="dk1"/>
                </a:solidFill>
              </a:rPr>
              <a:t> (</a:t>
            </a:r>
            <a:r>
              <a:rPr i="1" lang="ca" sz="1100">
                <a:solidFill>
                  <a:schemeClr val="dk1"/>
                </a:solidFill>
              </a:rPr>
              <a:t>superuser do</a:t>
            </a:r>
            <a:r>
              <a:rPr lang="ca" sz="1100">
                <a:solidFill>
                  <a:schemeClr val="dk1"/>
                </a:solidFill>
              </a:rPr>
              <a:t>) permet que un usuari autoritzat executi una ordre amb els privilegis de root (o d’un altre usuari) sense haver d’iniciar sessió com a administrador.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Exemple: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 update</a:t>
            </a:r>
            <a:r>
              <a:rPr lang="ca" sz="1100">
                <a:solidFill>
                  <a:schemeClr val="dk1"/>
                </a:solidFill>
              </a:rPr>
              <a:t> executa l’actualització de la llista de paquets amb privilegis d’administrador.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746" name="Google Shape;746;p21"/>
          <p:cNvSpPr/>
          <p:nvPr/>
        </p:nvSpPr>
        <p:spPr>
          <a:xfrm>
            <a:off x="548650" y="3741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Permisos per defecte: umask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1"/>
          <p:cNvSpPr/>
          <p:nvPr/>
        </p:nvSpPr>
        <p:spPr>
          <a:xfrm>
            <a:off x="420975" y="1033650"/>
            <a:ext cx="3875400" cy="925800"/>
          </a:xfrm>
          <a:prstGeom prst="roundRect">
            <a:avLst>
              <a:gd fmla="val 8889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1"/>
          <p:cNvSpPr/>
          <p:nvPr/>
        </p:nvSpPr>
        <p:spPr>
          <a:xfrm>
            <a:off x="632359" y="1211958"/>
            <a:ext cx="338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Màxims per defecte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1"/>
          <p:cNvSpPr/>
          <p:nvPr/>
        </p:nvSpPr>
        <p:spPr>
          <a:xfrm>
            <a:off x="632359" y="1513710"/>
            <a:ext cx="338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Fitxers: 666 · Directoris: 777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1"/>
          <p:cNvSpPr/>
          <p:nvPr/>
        </p:nvSpPr>
        <p:spPr>
          <a:xfrm>
            <a:off x="456210" y="2151498"/>
            <a:ext cx="3804900" cy="1134000"/>
          </a:xfrm>
          <a:prstGeom prst="roundRect">
            <a:avLst>
              <a:gd fmla="val 4444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1"/>
          <p:cNvSpPr/>
          <p:nvPr/>
        </p:nvSpPr>
        <p:spPr>
          <a:xfrm>
            <a:off x="561905" y="2233799"/>
            <a:ext cx="35937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75"/>
              <a:buFont typeface="Cascadia Mono"/>
              <a:buNone/>
            </a:pPr>
            <a:r>
              <a:rPr b="1" i="0" lang="ca" sz="1275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umask</a:t>
            </a:r>
            <a:endParaRPr b="1" i="0" sz="1275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75"/>
              <a:buFont typeface="Cascadia Mono"/>
              <a:buNone/>
            </a:pPr>
            <a:r>
              <a:rPr b="1" i="0" lang="ca" sz="1275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0022</a:t>
            </a:r>
            <a:endParaRPr b="1" i="0" sz="1275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75"/>
              <a:buFont typeface="Cascadia Mono"/>
              <a:buNone/>
            </a:pPr>
            <a:r>
              <a:rPr b="1" i="0" lang="ca" sz="1275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umask 027</a:t>
            </a:r>
            <a:endParaRPr b="1" i="0" sz="1275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75"/>
              <a:buFont typeface="Cascadia Mono"/>
              <a:buNone/>
            </a:pPr>
            <a:r>
              <a:rPr b="1" i="0" lang="ca" sz="1275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touch fic2 &amp;&amp; mkdir dir2</a:t>
            </a:r>
            <a:endParaRPr b="1" i="0" sz="1275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2" name="Google Shape;752;p21"/>
          <p:cNvSpPr/>
          <p:nvPr/>
        </p:nvSpPr>
        <p:spPr>
          <a:xfrm>
            <a:off x="4648661" y="1054224"/>
            <a:ext cx="1197900" cy="5145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1"/>
          <p:cNvSpPr/>
          <p:nvPr/>
        </p:nvSpPr>
        <p:spPr>
          <a:xfrm>
            <a:off x="4676845" y="1088514"/>
            <a:ext cx="1141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Màscara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1"/>
          <p:cNvSpPr/>
          <p:nvPr/>
        </p:nvSpPr>
        <p:spPr>
          <a:xfrm>
            <a:off x="5846505" y="1054224"/>
            <a:ext cx="1409100" cy="5145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1"/>
          <p:cNvSpPr/>
          <p:nvPr/>
        </p:nvSpPr>
        <p:spPr>
          <a:xfrm>
            <a:off x="5874690" y="1088514"/>
            <a:ext cx="1352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Fitxers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1"/>
          <p:cNvSpPr/>
          <p:nvPr/>
        </p:nvSpPr>
        <p:spPr>
          <a:xfrm>
            <a:off x="7255734" y="1054224"/>
            <a:ext cx="1409100" cy="5145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1"/>
          <p:cNvSpPr/>
          <p:nvPr/>
        </p:nvSpPr>
        <p:spPr>
          <a:xfrm>
            <a:off x="7283918" y="1088514"/>
            <a:ext cx="1352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Directoris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1"/>
          <p:cNvSpPr/>
          <p:nvPr/>
        </p:nvSpPr>
        <p:spPr>
          <a:xfrm>
            <a:off x="4648661" y="1568574"/>
            <a:ext cx="1197900" cy="514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1"/>
          <p:cNvSpPr/>
          <p:nvPr/>
        </p:nvSpPr>
        <p:spPr>
          <a:xfrm>
            <a:off x="4689971" y="1609722"/>
            <a:ext cx="11274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lang="ca" sz="975">
                <a:solidFill>
                  <a:srgbClr val="1A2836"/>
                </a:solidFill>
              </a:rPr>
              <a:t>0</a:t>
            </a: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022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5846505" y="1568574"/>
            <a:ext cx="1409100" cy="514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1"/>
          <p:cNvSpPr/>
          <p:nvPr/>
        </p:nvSpPr>
        <p:spPr>
          <a:xfrm>
            <a:off x="5881736" y="1609722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644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7255734" y="1568574"/>
            <a:ext cx="1409100" cy="514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1"/>
          <p:cNvSpPr/>
          <p:nvPr/>
        </p:nvSpPr>
        <p:spPr>
          <a:xfrm>
            <a:off x="7290965" y="1609722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755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1"/>
          <p:cNvSpPr/>
          <p:nvPr/>
        </p:nvSpPr>
        <p:spPr>
          <a:xfrm>
            <a:off x="4648661" y="2082924"/>
            <a:ext cx="1197900" cy="51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1"/>
          <p:cNvSpPr/>
          <p:nvPr/>
        </p:nvSpPr>
        <p:spPr>
          <a:xfrm>
            <a:off x="4683892" y="2124072"/>
            <a:ext cx="11274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lang="ca" sz="975">
                <a:solidFill>
                  <a:srgbClr val="1A2836"/>
                </a:solidFill>
              </a:rPr>
              <a:t>0</a:t>
            </a: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027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5846505" y="2082924"/>
            <a:ext cx="1409100" cy="51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"/>
          <p:cNvSpPr/>
          <p:nvPr/>
        </p:nvSpPr>
        <p:spPr>
          <a:xfrm>
            <a:off x="5881736" y="2124072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640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1"/>
          <p:cNvSpPr/>
          <p:nvPr/>
        </p:nvSpPr>
        <p:spPr>
          <a:xfrm>
            <a:off x="7255734" y="2082924"/>
            <a:ext cx="1409100" cy="51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1"/>
          <p:cNvSpPr/>
          <p:nvPr/>
        </p:nvSpPr>
        <p:spPr>
          <a:xfrm>
            <a:off x="7290965" y="2124072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750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1"/>
          <p:cNvSpPr/>
          <p:nvPr/>
        </p:nvSpPr>
        <p:spPr>
          <a:xfrm>
            <a:off x="4648661" y="2597274"/>
            <a:ext cx="1197900" cy="514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1"/>
          <p:cNvSpPr/>
          <p:nvPr/>
        </p:nvSpPr>
        <p:spPr>
          <a:xfrm>
            <a:off x="4683892" y="2638422"/>
            <a:ext cx="11274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lang="ca" sz="975">
                <a:solidFill>
                  <a:srgbClr val="1A2836"/>
                </a:solidFill>
              </a:rPr>
              <a:t>0</a:t>
            </a: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002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1"/>
          <p:cNvSpPr/>
          <p:nvPr/>
        </p:nvSpPr>
        <p:spPr>
          <a:xfrm>
            <a:off x="5846505" y="2597274"/>
            <a:ext cx="1409100" cy="514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1"/>
          <p:cNvSpPr/>
          <p:nvPr/>
        </p:nvSpPr>
        <p:spPr>
          <a:xfrm>
            <a:off x="5881736" y="2638422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664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1"/>
          <p:cNvSpPr/>
          <p:nvPr/>
        </p:nvSpPr>
        <p:spPr>
          <a:xfrm>
            <a:off x="7255734" y="2597274"/>
            <a:ext cx="1409100" cy="514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1"/>
          <p:cNvSpPr/>
          <p:nvPr/>
        </p:nvSpPr>
        <p:spPr>
          <a:xfrm>
            <a:off x="7290965" y="2638422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775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1"/>
          <p:cNvSpPr/>
          <p:nvPr/>
        </p:nvSpPr>
        <p:spPr>
          <a:xfrm>
            <a:off x="4648661" y="3111625"/>
            <a:ext cx="1197900" cy="51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1"/>
          <p:cNvSpPr/>
          <p:nvPr/>
        </p:nvSpPr>
        <p:spPr>
          <a:xfrm>
            <a:off x="4683892" y="3152773"/>
            <a:ext cx="11274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lang="ca" sz="975">
                <a:solidFill>
                  <a:srgbClr val="1A2836"/>
                </a:solidFill>
              </a:rPr>
              <a:t>0</a:t>
            </a: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077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1"/>
          <p:cNvSpPr/>
          <p:nvPr/>
        </p:nvSpPr>
        <p:spPr>
          <a:xfrm>
            <a:off x="5846505" y="3111625"/>
            <a:ext cx="1409100" cy="51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1"/>
          <p:cNvSpPr/>
          <p:nvPr/>
        </p:nvSpPr>
        <p:spPr>
          <a:xfrm>
            <a:off x="5881736" y="3152773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600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1"/>
          <p:cNvSpPr/>
          <p:nvPr/>
        </p:nvSpPr>
        <p:spPr>
          <a:xfrm>
            <a:off x="7255734" y="3111625"/>
            <a:ext cx="1409100" cy="51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1"/>
          <p:cNvSpPr/>
          <p:nvPr/>
        </p:nvSpPr>
        <p:spPr>
          <a:xfrm>
            <a:off x="7290965" y="3152773"/>
            <a:ext cx="13389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75"/>
              <a:buFont typeface="Arial"/>
              <a:buNone/>
            </a:pPr>
            <a:r>
              <a:rPr b="0" i="0" lang="ca" sz="975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700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h71b1cc9d41bba454_0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788" name="Google Shape;788;h71b1cc9d41bba454_0_100"/>
          <p:cNvSpPr/>
          <p:nvPr/>
        </p:nvSpPr>
        <p:spPr>
          <a:xfrm>
            <a:off x="548650" y="3741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Permisos per defecte: umask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h71b1cc9d41bba454_0_100"/>
          <p:cNvSpPr txBox="1"/>
          <p:nvPr/>
        </p:nvSpPr>
        <p:spPr>
          <a:xfrm>
            <a:off x="425975" y="1059500"/>
            <a:ext cx="8322900" cy="155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292895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A2836"/>
              </a:buClr>
              <a:buSzPts val="1013"/>
              <a:buChar char="●"/>
            </a:pPr>
            <a:r>
              <a:rPr lang="ca" sz="1013">
                <a:solidFill>
                  <a:srgbClr val="1A2836"/>
                </a:solidFill>
              </a:rPr>
              <a:t>En molts Ubuntu clàssics es veia 0022 com a valor típic, </a:t>
            </a:r>
            <a:r>
              <a:rPr b="1" lang="ca" sz="1013">
                <a:solidFill>
                  <a:srgbClr val="1A2836"/>
                </a:solidFill>
              </a:rPr>
              <a:t>però 0002 també és normal en sistemes moderns. </a:t>
            </a:r>
            <a:endParaRPr b="1" sz="1013">
              <a:solidFill>
                <a:srgbClr val="1A2836"/>
              </a:solidFill>
            </a:endParaRPr>
          </a:p>
          <a:p>
            <a:pPr indent="-29289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A2836"/>
              </a:buClr>
              <a:buSzPts val="1013"/>
              <a:buChar char="●"/>
            </a:pPr>
            <a:r>
              <a:rPr lang="ca" sz="1013">
                <a:solidFill>
                  <a:srgbClr val="1A2836"/>
                </a:solidFill>
              </a:rPr>
              <a:t>Això sol aparèixer quan Ubuntu està usant l'esquema de </a:t>
            </a:r>
            <a:r>
              <a:rPr b="1" lang="ca" sz="1013">
                <a:solidFill>
                  <a:srgbClr val="1A2836"/>
                </a:solidFill>
              </a:rPr>
              <a:t>User Private Groups: cada usuari té normalment el seu propi grup principal amb el mateix nom. </a:t>
            </a:r>
            <a:endParaRPr b="1" sz="1013">
              <a:solidFill>
                <a:srgbClr val="1A2836"/>
              </a:solidFill>
            </a:endParaRPr>
          </a:p>
          <a:p>
            <a:pPr indent="-292895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1A2836"/>
              </a:buClr>
              <a:buSzPts val="1013"/>
              <a:buChar char="●"/>
            </a:pPr>
            <a:r>
              <a:rPr lang="ca" sz="1013">
                <a:solidFill>
                  <a:srgbClr val="1A2836"/>
                </a:solidFill>
              </a:rPr>
              <a:t>En aquest context, permetre escriptura al grup amb 0002 no suposa que “tots els usuaris” puguin escriure, perquè el grup sol contenir només a aquest usuari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90" name="Google Shape;790;h71b1cc9d41bba454_0_100"/>
          <p:cNvSpPr/>
          <p:nvPr/>
        </p:nvSpPr>
        <p:spPr>
          <a:xfrm>
            <a:off x="471350" y="2833800"/>
            <a:ext cx="8322900" cy="840900"/>
          </a:xfrm>
          <a:prstGeom prst="roundRect">
            <a:avLst>
              <a:gd fmla="val 2857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h71b1cc9d41bba454_0_100"/>
          <p:cNvSpPr/>
          <p:nvPr/>
        </p:nvSpPr>
        <p:spPr>
          <a:xfrm>
            <a:off x="605300" y="2920650"/>
            <a:ext cx="81204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lang="ca" sz="1200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$ id</a:t>
            </a:r>
            <a:endParaRPr b="1" sz="1200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900"/>
              <a:buFont typeface="Cascadia Mono"/>
              <a:buNone/>
            </a:pPr>
            <a:r>
              <a:rPr b="1" i="0" lang="ca" sz="12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uid=1000(</a:t>
            </a:r>
            <a:r>
              <a:rPr b="1" lang="ca" sz="1200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eduard</a:t>
            </a:r>
            <a:r>
              <a:rPr b="1" i="0" lang="ca" sz="12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) gid=1000(</a:t>
            </a:r>
            <a:r>
              <a:rPr b="1" lang="ca" sz="1200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eduard</a:t>
            </a:r>
            <a:r>
              <a:rPr b="1" i="0" lang="ca" sz="12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) groups=1000(</a:t>
            </a:r>
            <a:r>
              <a:rPr b="1" lang="ca" sz="1200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eduard</a:t>
            </a:r>
            <a:r>
              <a:rPr b="1" i="0" lang="ca" sz="120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),4(adm),20(dialout),24(cdrom)</a:t>
            </a:r>
            <a:r>
              <a:rPr b="1" lang="ca" sz="1200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,1001(web), …</a:t>
            </a:r>
            <a:endParaRPr b="1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2" name="Google Shape;792;h71b1cc9d41bba454_0_100"/>
          <p:cNvSpPr txBox="1"/>
          <p:nvPr/>
        </p:nvSpPr>
        <p:spPr>
          <a:xfrm>
            <a:off x="471350" y="3769500"/>
            <a:ext cx="77286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/>
              <a:t>Amb aquesta m</a:t>
            </a:r>
            <a:r>
              <a:rPr lang="ca" sz="1000"/>
              <a:t>àscara 0002, els permisos per defecte queden: 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ca" sz="1100"/>
              <a:t>Fitxer per defecte: </a:t>
            </a:r>
            <a:r>
              <a:rPr b="1" lang="ca" sz="1100">
                <a:solidFill>
                  <a:schemeClr val="accent5"/>
                </a:solidFill>
              </a:rPr>
              <a:t>rw- rw- r- -</a:t>
            </a:r>
            <a:r>
              <a:rPr lang="ca" sz="1100"/>
              <a:t> ( permisos 664)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/>
              <a:t>Carpeta per defecte: </a:t>
            </a:r>
            <a:r>
              <a:rPr b="1" lang="ca" sz="1100">
                <a:solidFill>
                  <a:schemeClr val="accent5"/>
                </a:solidFill>
              </a:rPr>
              <a:t>rwx rwx r-x</a:t>
            </a:r>
            <a:r>
              <a:rPr b="1" lang="ca" sz="1100"/>
              <a:t> </a:t>
            </a:r>
            <a:r>
              <a:rPr lang="ca" sz="1100">
                <a:solidFill>
                  <a:schemeClr val="dk1"/>
                </a:solidFill>
              </a:rPr>
              <a:t>( permisos 775)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799" name="Google Shape;799;p22"/>
          <p:cNvSpPr/>
          <p:nvPr/>
        </p:nvSpPr>
        <p:spPr>
          <a:xfrm>
            <a:off x="545500" y="3741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 · Permisos a Windows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2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Permisos NTFS: qui pot fer què sobre fitxers i carpetes.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2"/>
          <p:cNvSpPr/>
          <p:nvPr/>
        </p:nvSpPr>
        <p:spPr>
          <a:xfrm>
            <a:off x="754400" y="1371600"/>
            <a:ext cx="3291900" cy="1577400"/>
          </a:xfrm>
          <a:prstGeom prst="roundRect">
            <a:avLst>
              <a:gd fmla="val 5217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2"/>
          <p:cNvSpPr/>
          <p:nvPr/>
        </p:nvSpPr>
        <p:spPr>
          <a:xfrm>
            <a:off x="994437" y="161163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2"/>
          <p:cNvSpPr/>
          <p:nvPr/>
        </p:nvSpPr>
        <p:spPr>
          <a:xfrm>
            <a:off x="1035586" y="166649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🪟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2"/>
          <p:cNvSpPr/>
          <p:nvPr/>
        </p:nvSpPr>
        <p:spPr>
          <a:xfrm>
            <a:off x="1543091" y="1611630"/>
            <a:ext cx="212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NTFS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2"/>
          <p:cNvSpPr/>
          <p:nvPr/>
        </p:nvSpPr>
        <p:spPr>
          <a:xfrm>
            <a:off x="1543100" y="1954525"/>
            <a:ext cx="2367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Sistema de permisos utilitzat en unitats Windows formatades amb NTFS.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2"/>
          <p:cNvSpPr/>
          <p:nvPr/>
        </p:nvSpPr>
        <p:spPr>
          <a:xfrm>
            <a:off x="4869310" y="1371600"/>
            <a:ext cx="3291900" cy="1577400"/>
          </a:xfrm>
          <a:prstGeom prst="roundRect">
            <a:avLst>
              <a:gd fmla="val 5217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2"/>
          <p:cNvSpPr/>
          <p:nvPr/>
        </p:nvSpPr>
        <p:spPr>
          <a:xfrm>
            <a:off x="5109346" y="161163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2"/>
          <p:cNvSpPr/>
          <p:nvPr/>
        </p:nvSpPr>
        <p:spPr>
          <a:xfrm>
            <a:off x="5150495" y="166649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2"/>
          <p:cNvSpPr/>
          <p:nvPr/>
        </p:nvSpPr>
        <p:spPr>
          <a:xfrm>
            <a:off x="5658001" y="1611630"/>
            <a:ext cx="212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ACL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2"/>
          <p:cNvSpPr/>
          <p:nvPr/>
        </p:nvSpPr>
        <p:spPr>
          <a:xfrm>
            <a:off x="5658000" y="2202625"/>
            <a:ext cx="23199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Llista de permisos assignats a usuaris i grups concrets.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817" name="Google Shape;817;p24"/>
          <p:cNvSpPr/>
          <p:nvPr/>
        </p:nvSpPr>
        <p:spPr>
          <a:xfrm>
            <a:off x="548650" y="3087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Permisos bàsics NTFS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514364" y="1131570"/>
            <a:ext cx="2229000" cy="4458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4"/>
          <p:cNvSpPr/>
          <p:nvPr/>
        </p:nvSpPr>
        <p:spPr>
          <a:xfrm>
            <a:off x="541821" y="1159035"/>
            <a:ext cx="21741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Permís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2743273" y="1131570"/>
            <a:ext cx="5898000" cy="4458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4"/>
          <p:cNvSpPr/>
          <p:nvPr/>
        </p:nvSpPr>
        <p:spPr>
          <a:xfrm>
            <a:off x="2770706" y="1165860"/>
            <a:ext cx="58431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Què permet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514364" y="1577340"/>
            <a:ext cx="2229000" cy="4458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23" name="Google Shape;823;p24"/>
          <p:cNvSpPr/>
          <p:nvPr/>
        </p:nvSpPr>
        <p:spPr>
          <a:xfrm>
            <a:off x="548655" y="1618488"/>
            <a:ext cx="2160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Control total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2743273" y="1577340"/>
            <a:ext cx="5898000" cy="4458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25" name="Google Shape;825;p24"/>
          <p:cNvSpPr/>
          <p:nvPr/>
        </p:nvSpPr>
        <p:spPr>
          <a:xfrm>
            <a:off x="2777564" y="1618488"/>
            <a:ext cx="58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Tot: llegir, escriure, esborrar, canviar permisos i prendre propietat.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514364" y="2023110"/>
            <a:ext cx="2229000" cy="4458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27" name="Google Shape;827;p24"/>
          <p:cNvSpPr/>
          <p:nvPr/>
        </p:nvSpPr>
        <p:spPr>
          <a:xfrm>
            <a:off x="548655" y="2064258"/>
            <a:ext cx="2160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Modificar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2743273" y="2023110"/>
            <a:ext cx="5898000" cy="4458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29" name="Google Shape;829;p24"/>
          <p:cNvSpPr/>
          <p:nvPr/>
        </p:nvSpPr>
        <p:spPr>
          <a:xfrm>
            <a:off x="2777564" y="2064258"/>
            <a:ext cx="58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Llegir, escriure i esborrar; no permet canviar els permisos.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514364" y="2468880"/>
            <a:ext cx="2229000" cy="4458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1" name="Google Shape;831;p24"/>
          <p:cNvSpPr/>
          <p:nvPr/>
        </p:nvSpPr>
        <p:spPr>
          <a:xfrm>
            <a:off x="548655" y="2510028"/>
            <a:ext cx="2160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Lectura i execució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4"/>
          <p:cNvSpPr/>
          <p:nvPr/>
        </p:nvSpPr>
        <p:spPr>
          <a:xfrm>
            <a:off x="2743273" y="2468880"/>
            <a:ext cx="5898000" cy="4458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3" name="Google Shape;833;p24"/>
          <p:cNvSpPr/>
          <p:nvPr/>
        </p:nvSpPr>
        <p:spPr>
          <a:xfrm>
            <a:off x="2777564" y="2510028"/>
            <a:ext cx="58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Veure el contingut i executar programes.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4"/>
          <p:cNvSpPr/>
          <p:nvPr/>
        </p:nvSpPr>
        <p:spPr>
          <a:xfrm>
            <a:off x="514364" y="2914650"/>
            <a:ext cx="2229000" cy="4458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5" name="Google Shape;835;p24"/>
          <p:cNvSpPr/>
          <p:nvPr/>
        </p:nvSpPr>
        <p:spPr>
          <a:xfrm>
            <a:off x="548655" y="2955798"/>
            <a:ext cx="2160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Mostrar contingut carpeta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4"/>
          <p:cNvSpPr/>
          <p:nvPr/>
        </p:nvSpPr>
        <p:spPr>
          <a:xfrm>
            <a:off x="2743273" y="2914650"/>
            <a:ext cx="5898000" cy="4458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7" name="Google Shape;837;p24"/>
          <p:cNvSpPr/>
          <p:nvPr/>
        </p:nvSpPr>
        <p:spPr>
          <a:xfrm>
            <a:off x="2777564" y="2955798"/>
            <a:ext cx="58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Llistar fitxers i subcarpetes (només carpetes).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4"/>
          <p:cNvSpPr/>
          <p:nvPr/>
        </p:nvSpPr>
        <p:spPr>
          <a:xfrm>
            <a:off x="514364" y="3360420"/>
            <a:ext cx="2229000" cy="4458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9" name="Google Shape;839;p24"/>
          <p:cNvSpPr/>
          <p:nvPr/>
        </p:nvSpPr>
        <p:spPr>
          <a:xfrm>
            <a:off x="548655" y="3401568"/>
            <a:ext cx="2160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Lectura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4"/>
          <p:cNvSpPr/>
          <p:nvPr/>
        </p:nvSpPr>
        <p:spPr>
          <a:xfrm>
            <a:off x="2743273" y="3360420"/>
            <a:ext cx="5898000" cy="4458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41" name="Google Shape;841;p24"/>
          <p:cNvSpPr/>
          <p:nvPr/>
        </p:nvSpPr>
        <p:spPr>
          <a:xfrm>
            <a:off x="2777564" y="3401568"/>
            <a:ext cx="58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Veure el contingut, atributs i permisos.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4"/>
          <p:cNvSpPr/>
          <p:nvPr/>
        </p:nvSpPr>
        <p:spPr>
          <a:xfrm>
            <a:off x="514364" y="3806190"/>
            <a:ext cx="2229000" cy="4458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43" name="Google Shape;843;p24"/>
          <p:cNvSpPr/>
          <p:nvPr/>
        </p:nvSpPr>
        <p:spPr>
          <a:xfrm>
            <a:off x="548655" y="3847338"/>
            <a:ext cx="2160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Escriptura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4"/>
          <p:cNvSpPr/>
          <p:nvPr/>
        </p:nvSpPr>
        <p:spPr>
          <a:xfrm>
            <a:off x="2743273" y="3806190"/>
            <a:ext cx="5898000" cy="4458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45" name="Google Shape;845;p24"/>
          <p:cNvSpPr/>
          <p:nvPr/>
        </p:nvSpPr>
        <p:spPr>
          <a:xfrm>
            <a:off x="2777564" y="3847338"/>
            <a:ext cx="58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48"/>
              <a:buFont typeface="Arial"/>
              <a:buNone/>
            </a:pPr>
            <a:r>
              <a:rPr b="0" i="0" lang="ca" sz="10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Crear fitxers/carpetes i escriure dades.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4"/>
          <p:cNvSpPr/>
          <p:nvPr/>
        </p:nvSpPr>
        <p:spPr>
          <a:xfrm>
            <a:off x="617236" y="4423410"/>
            <a:ext cx="7887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1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Els permisos s’assignen a usuaris i grups concrets. Cada permís es pot Permetre o Denegar.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853" name="Google Shape;853;p25"/>
          <p:cNvSpPr/>
          <p:nvPr/>
        </p:nvSpPr>
        <p:spPr>
          <a:xfrm>
            <a:off x="603525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Modificar permisos en una carpeta o fitxer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5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Ruta gràfica bàsica a Windows.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5"/>
          <p:cNvSpPr/>
          <p:nvPr/>
        </p:nvSpPr>
        <p:spPr>
          <a:xfrm>
            <a:off x="548650" y="1200150"/>
            <a:ext cx="37875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5"/>
          <p:cNvSpPr/>
          <p:nvPr/>
        </p:nvSpPr>
        <p:spPr>
          <a:xfrm>
            <a:off x="672102" y="135102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5"/>
          <p:cNvSpPr/>
          <p:nvPr/>
        </p:nvSpPr>
        <p:spPr>
          <a:xfrm>
            <a:off x="672102" y="140589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5"/>
          <p:cNvSpPr/>
          <p:nvPr/>
        </p:nvSpPr>
        <p:spPr>
          <a:xfrm>
            <a:off x="1131600" y="137160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5"/>
          <p:cNvSpPr/>
          <p:nvPr/>
        </p:nvSpPr>
        <p:spPr>
          <a:xfrm>
            <a:off x="1172749" y="142646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🗂️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5"/>
          <p:cNvSpPr/>
          <p:nvPr/>
        </p:nvSpPr>
        <p:spPr>
          <a:xfrm>
            <a:off x="1591098" y="132359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Clic dret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5"/>
          <p:cNvSpPr/>
          <p:nvPr/>
        </p:nvSpPr>
        <p:spPr>
          <a:xfrm>
            <a:off x="1591098" y="154305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Sobre la carpeta o fitxer.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5"/>
          <p:cNvSpPr/>
          <p:nvPr/>
        </p:nvSpPr>
        <p:spPr>
          <a:xfrm>
            <a:off x="548650" y="2263138"/>
            <a:ext cx="37875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5"/>
          <p:cNvSpPr/>
          <p:nvPr/>
        </p:nvSpPr>
        <p:spPr>
          <a:xfrm>
            <a:off x="672102" y="241401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5"/>
          <p:cNvSpPr/>
          <p:nvPr/>
        </p:nvSpPr>
        <p:spPr>
          <a:xfrm>
            <a:off x="672102" y="246888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1131600" y="243459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5"/>
          <p:cNvSpPr/>
          <p:nvPr/>
        </p:nvSpPr>
        <p:spPr>
          <a:xfrm>
            <a:off x="1172749" y="248945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🗂️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5"/>
          <p:cNvSpPr/>
          <p:nvPr/>
        </p:nvSpPr>
        <p:spPr>
          <a:xfrm>
            <a:off x="1524383" y="2386582"/>
            <a:ext cx="2599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Propietats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5"/>
          <p:cNvSpPr/>
          <p:nvPr/>
        </p:nvSpPr>
        <p:spPr>
          <a:xfrm>
            <a:off x="1591098" y="260604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Obrir la finestra de propietats.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5"/>
          <p:cNvSpPr/>
          <p:nvPr/>
        </p:nvSpPr>
        <p:spPr>
          <a:xfrm>
            <a:off x="720105" y="4492000"/>
            <a:ext cx="354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938"/>
              <a:buFont typeface="Arial"/>
              <a:buNone/>
            </a:pPr>
            <a:r>
              <a:rPr b="1" i="0" lang="ca" sz="938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Per a permisos especials, propietari o herència: Seguretat → Avançat.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0" name="Google Shape;8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150" y="1200150"/>
            <a:ext cx="4269849" cy="24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hc3dfbce1ed3d8fc_0_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877" name="Google Shape;877;hc3dfbce1ed3d8fc_0_89"/>
          <p:cNvSpPr/>
          <p:nvPr/>
        </p:nvSpPr>
        <p:spPr>
          <a:xfrm>
            <a:off x="603525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Modificar permisos en una carpeta o fitxer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hc3dfbce1ed3d8fc_0_89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Ruta gràfica bàsica a Windows.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hc3dfbce1ed3d8fc_0_89"/>
          <p:cNvSpPr/>
          <p:nvPr/>
        </p:nvSpPr>
        <p:spPr>
          <a:xfrm>
            <a:off x="420975" y="1684600"/>
            <a:ext cx="37875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hc3dfbce1ed3d8fc_0_89"/>
          <p:cNvSpPr/>
          <p:nvPr/>
        </p:nvSpPr>
        <p:spPr>
          <a:xfrm>
            <a:off x="544427" y="1835481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hc3dfbce1ed3d8fc_0_89"/>
          <p:cNvSpPr/>
          <p:nvPr/>
        </p:nvSpPr>
        <p:spPr>
          <a:xfrm>
            <a:off x="544427" y="1890345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hc3dfbce1ed3d8fc_0_89"/>
          <p:cNvSpPr/>
          <p:nvPr/>
        </p:nvSpPr>
        <p:spPr>
          <a:xfrm>
            <a:off x="1003925" y="1856055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hc3dfbce1ed3d8fc_0_89"/>
          <p:cNvSpPr/>
          <p:nvPr/>
        </p:nvSpPr>
        <p:spPr>
          <a:xfrm>
            <a:off x="1045074" y="1910919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🗂️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hc3dfbce1ed3d8fc_0_89"/>
          <p:cNvSpPr/>
          <p:nvPr/>
        </p:nvSpPr>
        <p:spPr>
          <a:xfrm>
            <a:off x="1463423" y="1808049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Seguretat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hc3dfbce1ed3d8fc_0_89"/>
          <p:cNvSpPr/>
          <p:nvPr/>
        </p:nvSpPr>
        <p:spPr>
          <a:xfrm>
            <a:off x="1396708" y="2027501"/>
            <a:ext cx="2599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Entrar a la pestanya Seguretat.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6" name="Google Shape;886;hc3dfbce1ed3d8fc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25" y="1410325"/>
            <a:ext cx="2748075" cy="34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hc3dfbce1ed3d8fc_0_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893" name="Google Shape;893;hc3dfbce1ed3d8fc_0_60"/>
          <p:cNvSpPr/>
          <p:nvPr/>
        </p:nvSpPr>
        <p:spPr>
          <a:xfrm>
            <a:off x="603525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Modificar permisos en una carpeta o fitxer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hc3dfbce1ed3d8fc_0_60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Ruta gràfica bàsica a Windows.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hc3dfbce1ed3d8fc_0_60"/>
          <p:cNvSpPr/>
          <p:nvPr/>
        </p:nvSpPr>
        <p:spPr>
          <a:xfrm>
            <a:off x="384055" y="127310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hc3dfbce1ed3d8fc_0_60"/>
          <p:cNvSpPr/>
          <p:nvPr/>
        </p:nvSpPr>
        <p:spPr>
          <a:xfrm>
            <a:off x="507503" y="142397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hc3dfbce1ed3d8fc_0_60"/>
          <p:cNvSpPr/>
          <p:nvPr/>
        </p:nvSpPr>
        <p:spPr>
          <a:xfrm>
            <a:off x="507503" y="147884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hc3dfbce1ed3d8fc_0_60"/>
          <p:cNvSpPr/>
          <p:nvPr/>
        </p:nvSpPr>
        <p:spPr>
          <a:xfrm>
            <a:off x="967001" y="144455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hc3dfbce1ed3d8fc_0_60"/>
          <p:cNvSpPr/>
          <p:nvPr/>
        </p:nvSpPr>
        <p:spPr>
          <a:xfrm>
            <a:off x="1008150" y="149941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hc3dfbce1ed3d8fc_0_60"/>
          <p:cNvSpPr/>
          <p:nvPr/>
        </p:nvSpPr>
        <p:spPr>
          <a:xfrm>
            <a:off x="1426499" y="139654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Edita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hc3dfbce1ed3d8fc_0_60"/>
          <p:cNvSpPr/>
          <p:nvPr/>
        </p:nvSpPr>
        <p:spPr>
          <a:xfrm>
            <a:off x="1426499" y="161600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Modificar permisos bàsics.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hc3dfbce1ed3d8fc_0_60"/>
          <p:cNvSpPr/>
          <p:nvPr/>
        </p:nvSpPr>
        <p:spPr>
          <a:xfrm>
            <a:off x="384055" y="233609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hc3dfbce1ed3d8fc_0_60"/>
          <p:cNvSpPr/>
          <p:nvPr/>
        </p:nvSpPr>
        <p:spPr>
          <a:xfrm>
            <a:off x="507503" y="248696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hc3dfbce1ed3d8fc_0_60"/>
          <p:cNvSpPr/>
          <p:nvPr/>
        </p:nvSpPr>
        <p:spPr>
          <a:xfrm>
            <a:off x="507503" y="254183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hc3dfbce1ed3d8fc_0_60"/>
          <p:cNvSpPr/>
          <p:nvPr/>
        </p:nvSpPr>
        <p:spPr>
          <a:xfrm>
            <a:off x="967001" y="250754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hc3dfbce1ed3d8fc_0_60"/>
          <p:cNvSpPr/>
          <p:nvPr/>
        </p:nvSpPr>
        <p:spPr>
          <a:xfrm>
            <a:off x="1008150" y="256240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hc3dfbce1ed3d8fc_0_60"/>
          <p:cNvSpPr/>
          <p:nvPr/>
        </p:nvSpPr>
        <p:spPr>
          <a:xfrm>
            <a:off x="1426500" y="2459525"/>
            <a:ext cx="2946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Afegeix / </a:t>
            </a:r>
            <a:r>
              <a:rPr b="1" lang="ca" sz="1125">
                <a:solidFill>
                  <a:srgbClr val="0B2E54"/>
                </a:solidFill>
              </a:rPr>
              <a:t>Treure permisos a usuaris i grups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hc3dfbce1ed3d8fc_0_60"/>
          <p:cNvSpPr/>
          <p:nvPr/>
        </p:nvSpPr>
        <p:spPr>
          <a:xfrm>
            <a:off x="1426499" y="267899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Seleccionar usuari o grup.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hc3dfbce1ed3d8fc_0_60"/>
          <p:cNvSpPr/>
          <p:nvPr/>
        </p:nvSpPr>
        <p:spPr>
          <a:xfrm>
            <a:off x="384055" y="339908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hc3dfbce1ed3d8fc_0_60"/>
          <p:cNvSpPr/>
          <p:nvPr/>
        </p:nvSpPr>
        <p:spPr>
          <a:xfrm>
            <a:off x="507503" y="354995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hc3dfbce1ed3d8fc_0_60"/>
          <p:cNvSpPr/>
          <p:nvPr/>
        </p:nvSpPr>
        <p:spPr>
          <a:xfrm>
            <a:off x="507503" y="360482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hc3dfbce1ed3d8fc_0_60"/>
          <p:cNvSpPr/>
          <p:nvPr/>
        </p:nvSpPr>
        <p:spPr>
          <a:xfrm>
            <a:off x="967001" y="357053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hc3dfbce1ed3d8fc_0_60"/>
          <p:cNvSpPr/>
          <p:nvPr/>
        </p:nvSpPr>
        <p:spPr>
          <a:xfrm>
            <a:off x="1008150" y="362539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hc3dfbce1ed3d8fc_0_60"/>
          <p:cNvSpPr/>
          <p:nvPr/>
        </p:nvSpPr>
        <p:spPr>
          <a:xfrm>
            <a:off x="1426499" y="352252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Permetre/Denegar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hc3dfbce1ed3d8fc_0_60"/>
          <p:cNvSpPr/>
          <p:nvPr/>
        </p:nvSpPr>
        <p:spPr>
          <a:xfrm>
            <a:off x="1426499" y="374198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Marcar permisos i aplicar.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hc3dfbce1ed3d8fc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2850" y="1304524"/>
            <a:ext cx="4159824" cy="28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hc3dfbce1ed3d8fc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923" name="Google Shape;923;hc3dfbce1ed3d8fc_0_134"/>
          <p:cNvSpPr/>
          <p:nvPr/>
        </p:nvSpPr>
        <p:spPr>
          <a:xfrm>
            <a:off x="603525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Modificar permisos en una carpeta o fitxer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hc3dfbce1ed3d8fc_0_134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Ruta gràfica bàsica a Windows.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hc3dfbce1ed3d8fc_0_134"/>
          <p:cNvSpPr/>
          <p:nvPr/>
        </p:nvSpPr>
        <p:spPr>
          <a:xfrm>
            <a:off x="410034" y="1323590"/>
            <a:ext cx="7818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938"/>
              <a:buFont typeface="Arial"/>
              <a:buNone/>
            </a:pPr>
            <a:r>
              <a:rPr b="1" i="0" lang="ca" sz="938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Per a permisos especials, propietari o herència: Seguretat → Avançat.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6" name="Google Shape;926;hc3dfbce1ed3d8fc_0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1463" y="1587640"/>
            <a:ext cx="4815417" cy="334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933" name="Google Shape;933;p27"/>
          <p:cNvSpPr/>
          <p:nvPr/>
        </p:nvSpPr>
        <p:spPr>
          <a:xfrm>
            <a:off x="603525" y="3273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Herència, propietat i compartició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7"/>
          <p:cNvSpPr/>
          <p:nvPr/>
        </p:nvSpPr>
        <p:spPr>
          <a:xfrm>
            <a:off x="548650" y="1234452"/>
            <a:ext cx="3874800" cy="1370100"/>
          </a:xfrm>
          <a:prstGeom prst="roundRect">
            <a:avLst>
              <a:gd fmla="val 7273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7"/>
          <p:cNvSpPr/>
          <p:nvPr/>
        </p:nvSpPr>
        <p:spPr>
          <a:xfrm>
            <a:off x="720109" y="147447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7"/>
          <p:cNvSpPr/>
          <p:nvPr/>
        </p:nvSpPr>
        <p:spPr>
          <a:xfrm>
            <a:off x="761258" y="152933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🌳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7"/>
          <p:cNvSpPr/>
          <p:nvPr/>
        </p:nvSpPr>
        <p:spPr>
          <a:xfrm>
            <a:off x="1268764" y="1474470"/>
            <a:ext cx="288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Herència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7"/>
          <p:cNvSpPr/>
          <p:nvPr/>
        </p:nvSpPr>
        <p:spPr>
          <a:xfrm>
            <a:off x="1268775" y="1748800"/>
            <a:ext cx="3055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23"/>
              <a:buFont typeface="Arial"/>
              <a:buNone/>
            </a:pPr>
            <a:r>
              <a:rPr b="0" i="0" lang="ca" sz="92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Subcarpetes i fitxers hereten permisos de la carpeta pare. </a:t>
            </a:r>
            <a:endParaRPr b="0" i="0" sz="923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23"/>
              <a:buFont typeface="Arial"/>
              <a:buNone/>
            </a:pPr>
            <a:r>
              <a:rPr b="0" i="0" lang="ca" sz="92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Es pot trencar a Avançat → Desactiva l’herència.</a:t>
            </a:r>
            <a:endParaRPr b="0" i="0" sz="92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7"/>
          <p:cNvSpPr/>
          <p:nvPr/>
        </p:nvSpPr>
        <p:spPr>
          <a:xfrm>
            <a:off x="4732150" y="1234452"/>
            <a:ext cx="3874800" cy="1370100"/>
          </a:xfrm>
          <a:prstGeom prst="roundRect">
            <a:avLst>
              <a:gd fmla="val 7273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7"/>
          <p:cNvSpPr/>
          <p:nvPr/>
        </p:nvSpPr>
        <p:spPr>
          <a:xfrm>
            <a:off x="4903601" y="147447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7"/>
          <p:cNvSpPr/>
          <p:nvPr/>
        </p:nvSpPr>
        <p:spPr>
          <a:xfrm>
            <a:off x="4944750" y="152933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👑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7"/>
          <p:cNvSpPr/>
          <p:nvPr/>
        </p:nvSpPr>
        <p:spPr>
          <a:xfrm>
            <a:off x="5452255" y="1474470"/>
            <a:ext cx="288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Propietari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7"/>
          <p:cNvSpPr/>
          <p:nvPr/>
        </p:nvSpPr>
        <p:spPr>
          <a:xfrm>
            <a:off x="5452250" y="1748806"/>
            <a:ext cx="2949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23"/>
              <a:buFont typeface="Arial"/>
              <a:buNone/>
            </a:pPr>
            <a:r>
              <a:rPr b="0" i="0" lang="ca" sz="92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Cada objecte té propietari. </a:t>
            </a:r>
            <a:endParaRPr b="0" i="0" sz="923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23"/>
              <a:buFont typeface="Arial"/>
              <a:buNone/>
            </a:pPr>
            <a:r>
              <a:rPr b="0" i="0" lang="ca" sz="92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Un administrador pot prendre’n la propietat (takeown).</a:t>
            </a:r>
            <a:endParaRPr b="0" i="0" sz="92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7"/>
          <p:cNvSpPr/>
          <p:nvPr/>
        </p:nvSpPr>
        <p:spPr>
          <a:xfrm>
            <a:off x="548650" y="2777502"/>
            <a:ext cx="3874800" cy="1401600"/>
          </a:xfrm>
          <a:prstGeom prst="roundRect">
            <a:avLst>
              <a:gd fmla="val 7273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7"/>
          <p:cNvSpPr/>
          <p:nvPr/>
        </p:nvSpPr>
        <p:spPr>
          <a:xfrm>
            <a:off x="720109" y="301752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7"/>
          <p:cNvSpPr/>
          <p:nvPr/>
        </p:nvSpPr>
        <p:spPr>
          <a:xfrm>
            <a:off x="761258" y="307238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7"/>
          <p:cNvSpPr/>
          <p:nvPr/>
        </p:nvSpPr>
        <p:spPr>
          <a:xfrm>
            <a:off x="1268764" y="3017520"/>
            <a:ext cx="288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Compartició + NTFS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7"/>
          <p:cNvSpPr/>
          <p:nvPr/>
        </p:nvSpPr>
        <p:spPr>
          <a:xfrm>
            <a:off x="1268775" y="3291858"/>
            <a:ext cx="29490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23"/>
              <a:buFont typeface="Arial"/>
              <a:buNone/>
            </a:pPr>
            <a:r>
              <a:rPr b="0" i="0" lang="ca" sz="92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Per xarxa s’apliquen permisos de compartició i NTFS: preval el més restrictiu.</a:t>
            </a:r>
            <a:endParaRPr b="0" i="0" sz="92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7"/>
          <p:cNvSpPr/>
          <p:nvPr/>
        </p:nvSpPr>
        <p:spPr>
          <a:xfrm>
            <a:off x="4732150" y="2777502"/>
            <a:ext cx="3874800" cy="1370100"/>
          </a:xfrm>
          <a:prstGeom prst="roundRect">
            <a:avLst>
              <a:gd fmla="val 7273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7"/>
          <p:cNvSpPr/>
          <p:nvPr/>
        </p:nvSpPr>
        <p:spPr>
          <a:xfrm>
            <a:off x="4903601" y="301752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7"/>
          <p:cNvSpPr/>
          <p:nvPr/>
        </p:nvSpPr>
        <p:spPr>
          <a:xfrm>
            <a:off x="4944750" y="307238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⛔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27"/>
          <p:cNvSpPr/>
          <p:nvPr/>
        </p:nvSpPr>
        <p:spPr>
          <a:xfrm>
            <a:off x="5452255" y="3017520"/>
            <a:ext cx="288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Denegar preval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27"/>
          <p:cNvSpPr/>
          <p:nvPr/>
        </p:nvSpPr>
        <p:spPr>
          <a:xfrm>
            <a:off x="5087850" y="3442625"/>
            <a:ext cx="35190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381000" marR="381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923">
                <a:solidFill>
                  <a:srgbClr val="1A2836"/>
                </a:solidFill>
              </a:rPr>
              <a:t>Els permisos dels grups es poden acumular. En general, Denegar té prioritat, però el resultat també depèn dels permisos explícits i heretats.</a:t>
            </a:r>
            <a:endParaRPr sz="923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A2836"/>
              </a:buClr>
              <a:buSzPts val="923"/>
              <a:buFont typeface="Arial"/>
              <a:buNone/>
            </a:pPr>
            <a:r>
              <a:t/>
            </a:r>
            <a:endParaRPr sz="923">
              <a:solidFill>
                <a:srgbClr val="1A2836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960" name="Google Shape;960;p28"/>
          <p:cNvSpPr/>
          <p:nvPr/>
        </p:nvSpPr>
        <p:spPr>
          <a:xfrm>
            <a:off x="603525" y="3367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i Windows: comparativa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8"/>
          <p:cNvSpPr/>
          <p:nvPr/>
        </p:nvSpPr>
        <p:spPr>
          <a:xfrm>
            <a:off x="445782" y="1062990"/>
            <a:ext cx="1371600" cy="475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8"/>
          <p:cNvSpPr/>
          <p:nvPr/>
        </p:nvSpPr>
        <p:spPr>
          <a:xfrm>
            <a:off x="473215" y="1097280"/>
            <a:ext cx="1316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Arial"/>
              <a:buNone/>
            </a:pPr>
            <a:r>
              <a:rPr b="1" i="0" lang="ca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Aspecte</a:t>
            </a:r>
            <a:endParaRPr b="0" i="0" sz="13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8"/>
          <p:cNvSpPr/>
          <p:nvPr/>
        </p:nvSpPr>
        <p:spPr>
          <a:xfrm>
            <a:off x="1817418" y="1062990"/>
            <a:ext cx="3291900" cy="475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8"/>
          <p:cNvSpPr/>
          <p:nvPr/>
        </p:nvSpPr>
        <p:spPr>
          <a:xfrm>
            <a:off x="1844851" y="1097280"/>
            <a:ext cx="3237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Arial"/>
              <a:buNone/>
            </a:pPr>
            <a:r>
              <a:rPr b="1" i="0" lang="ca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 b="0" i="0" sz="13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8"/>
          <p:cNvSpPr/>
          <p:nvPr/>
        </p:nvSpPr>
        <p:spPr>
          <a:xfrm>
            <a:off x="5109346" y="1062990"/>
            <a:ext cx="3566400" cy="475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8"/>
          <p:cNvSpPr/>
          <p:nvPr/>
        </p:nvSpPr>
        <p:spPr>
          <a:xfrm>
            <a:off x="5136779" y="1097280"/>
            <a:ext cx="35115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Arial"/>
              <a:buNone/>
            </a:pPr>
            <a:r>
              <a:rPr b="1" i="0" lang="ca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Windows (NTFS)</a:t>
            </a:r>
            <a:endParaRPr b="0" i="0" sz="13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28"/>
          <p:cNvSpPr/>
          <p:nvPr/>
        </p:nvSpPr>
        <p:spPr>
          <a:xfrm>
            <a:off x="445782" y="1538152"/>
            <a:ext cx="13716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68" name="Google Shape;968;p28"/>
          <p:cNvSpPr/>
          <p:nvPr/>
        </p:nvSpPr>
        <p:spPr>
          <a:xfrm>
            <a:off x="480073" y="1579300"/>
            <a:ext cx="130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Model bàsic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8"/>
          <p:cNvSpPr/>
          <p:nvPr/>
        </p:nvSpPr>
        <p:spPr>
          <a:xfrm>
            <a:off x="1817418" y="1538152"/>
            <a:ext cx="32919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70" name="Google Shape;970;p28"/>
          <p:cNvSpPr/>
          <p:nvPr/>
        </p:nvSpPr>
        <p:spPr>
          <a:xfrm>
            <a:off x="1851709" y="1579300"/>
            <a:ext cx="322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Propietari, grup i altres (ugo)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8"/>
          <p:cNvSpPr/>
          <p:nvPr/>
        </p:nvSpPr>
        <p:spPr>
          <a:xfrm>
            <a:off x="5109346" y="1538152"/>
            <a:ext cx="35664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72" name="Google Shape;972;p28"/>
          <p:cNvSpPr/>
          <p:nvPr/>
        </p:nvSpPr>
        <p:spPr>
          <a:xfrm>
            <a:off x="5143637" y="1579300"/>
            <a:ext cx="3497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ACL amb qualsevol usuari o grup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8"/>
          <p:cNvSpPr/>
          <p:nvPr/>
        </p:nvSpPr>
        <p:spPr>
          <a:xfrm>
            <a:off x="445782" y="2013313"/>
            <a:ext cx="13716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74" name="Google Shape;974;p28"/>
          <p:cNvSpPr/>
          <p:nvPr/>
        </p:nvSpPr>
        <p:spPr>
          <a:xfrm>
            <a:off x="480073" y="2054461"/>
            <a:ext cx="130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Permisos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8"/>
          <p:cNvSpPr/>
          <p:nvPr/>
        </p:nvSpPr>
        <p:spPr>
          <a:xfrm>
            <a:off x="1817418" y="2013313"/>
            <a:ext cx="32919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76" name="Google Shape;976;p28"/>
          <p:cNvSpPr/>
          <p:nvPr/>
        </p:nvSpPr>
        <p:spPr>
          <a:xfrm>
            <a:off x="1851709" y="2054461"/>
            <a:ext cx="322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r, w, 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8"/>
          <p:cNvSpPr/>
          <p:nvPr/>
        </p:nvSpPr>
        <p:spPr>
          <a:xfrm>
            <a:off x="5109346" y="2013313"/>
            <a:ext cx="35664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78" name="Google Shape;978;p28"/>
          <p:cNvSpPr/>
          <p:nvPr/>
        </p:nvSpPr>
        <p:spPr>
          <a:xfrm>
            <a:off x="5143637" y="2054461"/>
            <a:ext cx="3497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Control total, Modificar, Lectura i execució, Lectura, Escriptura…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8"/>
          <p:cNvSpPr/>
          <p:nvPr/>
        </p:nvSpPr>
        <p:spPr>
          <a:xfrm>
            <a:off x="445782" y="2488475"/>
            <a:ext cx="13716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0" name="Google Shape;980;p28"/>
          <p:cNvSpPr/>
          <p:nvPr/>
        </p:nvSpPr>
        <p:spPr>
          <a:xfrm>
            <a:off x="480073" y="2529623"/>
            <a:ext cx="130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Llistes ACL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28"/>
          <p:cNvSpPr/>
          <p:nvPr/>
        </p:nvSpPr>
        <p:spPr>
          <a:xfrm>
            <a:off x="1817418" y="2488475"/>
            <a:ext cx="32919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2" name="Google Shape;982;p28"/>
          <p:cNvSpPr/>
          <p:nvPr/>
        </p:nvSpPr>
        <p:spPr>
          <a:xfrm>
            <a:off x="1851709" y="2529623"/>
            <a:ext cx="322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Opcionals (ACL POSIX, setfacl)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28"/>
          <p:cNvSpPr/>
          <p:nvPr/>
        </p:nvSpPr>
        <p:spPr>
          <a:xfrm>
            <a:off x="5109346" y="2488475"/>
            <a:ext cx="35664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4" name="Google Shape;984;p28"/>
          <p:cNvSpPr/>
          <p:nvPr/>
        </p:nvSpPr>
        <p:spPr>
          <a:xfrm>
            <a:off x="5143637" y="2529623"/>
            <a:ext cx="3497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Sempre presents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28"/>
          <p:cNvSpPr/>
          <p:nvPr/>
        </p:nvSpPr>
        <p:spPr>
          <a:xfrm>
            <a:off x="445782" y="2963636"/>
            <a:ext cx="13716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6" name="Google Shape;986;p28"/>
          <p:cNvSpPr/>
          <p:nvPr/>
        </p:nvSpPr>
        <p:spPr>
          <a:xfrm>
            <a:off x="480073" y="3004784"/>
            <a:ext cx="130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Denegar explícit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8"/>
          <p:cNvSpPr/>
          <p:nvPr/>
        </p:nvSpPr>
        <p:spPr>
          <a:xfrm>
            <a:off x="1817418" y="2963636"/>
            <a:ext cx="32919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8" name="Google Shape;988;p28"/>
          <p:cNvSpPr/>
          <p:nvPr/>
        </p:nvSpPr>
        <p:spPr>
          <a:xfrm>
            <a:off x="1851709" y="3004784"/>
            <a:ext cx="322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No: només s’omet el permís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8"/>
          <p:cNvSpPr/>
          <p:nvPr/>
        </p:nvSpPr>
        <p:spPr>
          <a:xfrm>
            <a:off x="5109346" y="2963636"/>
            <a:ext cx="35664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90" name="Google Shape;990;p28"/>
          <p:cNvSpPr/>
          <p:nvPr/>
        </p:nvSpPr>
        <p:spPr>
          <a:xfrm>
            <a:off x="5143637" y="3004784"/>
            <a:ext cx="3497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Sí, i preval sobre Permetre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8"/>
          <p:cNvSpPr/>
          <p:nvPr/>
        </p:nvSpPr>
        <p:spPr>
          <a:xfrm>
            <a:off x="445782" y="3438797"/>
            <a:ext cx="13716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92" name="Google Shape;992;p28"/>
          <p:cNvSpPr/>
          <p:nvPr/>
        </p:nvSpPr>
        <p:spPr>
          <a:xfrm>
            <a:off x="480073" y="3479945"/>
            <a:ext cx="130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Herència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28"/>
          <p:cNvSpPr/>
          <p:nvPr/>
        </p:nvSpPr>
        <p:spPr>
          <a:xfrm>
            <a:off x="1817418" y="3438797"/>
            <a:ext cx="32919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94" name="Google Shape;994;p28"/>
          <p:cNvSpPr/>
          <p:nvPr/>
        </p:nvSpPr>
        <p:spPr>
          <a:xfrm>
            <a:off x="1851709" y="3479945"/>
            <a:ext cx="322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Limitada (umask, ACL per defecte)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8"/>
          <p:cNvSpPr/>
          <p:nvPr/>
        </p:nvSpPr>
        <p:spPr>
          <a:xfrm>
            <a:off x="5109346" y="3438797"/>
            <a:ext cx="3566400" cy="475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96" name="Google Shape;996;p28"/>
          <p:cNvSpPr/>
          <p:nvPr/>
        </p:nvSpPr>
        <p:spPr>
          <a:xfrm>
            <a:off x="5143637" y="3479945"/>
            <a:ext cx="3497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Sí, per defecte des de la carpeta pare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8"/>
          <p:cNvSpPr/>
          <p:nvPr/>
        </p:nvSpPr>
        <p:spPr>
          <a:xfrm>
            <a:off x="445782" y="3913958"/>
            <a:ext cx="13716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98" name="Google Shape;998;p28"/>
          <p:cNvSpPr/>
          <p:nvPr/>
        </p:nvSpPr>
        <p:spPr>
          <a:xfrm>
            <a:off x="480073" y="3955106"/>
            <a:ext cx="130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Ordres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8"/>
          <p:cNvSpPr/>
          <p:nvPr/>
        </p:nvSpPr>
        <p:spPr>
          <a:xfrm>
            <a:off x="1817418" y="3913958"/>
            <a:ext cx="32919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00" name="Google Shape;1000;p28"/>
          <p:cNvSpPr/>
          <p:nvPr/>
        </p:nvSpPr>
        <p:spPr>
          <a:xfrm>
            <a:off x="1851709" y="3955106"/>
            <a:ext cx="32232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chmod, chown, chgrp, umask, setfacl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8"/>
          <p:cNvSpPr/>
          <p:nvPr/>
        </p:nvSpPr>
        <p:spPr>
          <a:xfrm>
            <a:off x="5109346" y="3913958"/>
            <a:ext cx="3566400" cy="475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02" name="Google Shape;1002;p28"/>
          <p:cNvSpPr/>
          <p:nvPr/>
        </p:nvSpPr>
        <p:spPr>
          <a:xfrm>
            <a:off x="5143637" y="3955106"/>
            <a:ext cx="3497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72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35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icacls, takeown, Get-Acl / Set-Acl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009" name="Google Shape;1009;p29"/>
          <p:cNvSpPr/>
          <p:nvPr/>
        </p:nvSpPr>
        <p:spPr>
          <a:xfrm>
            <a:off x="548650" y="2880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Idees clau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9"/>
          <p:cNvSpPr/>
          <p:nvPr/>
        </p:nvSpPr>
        <p:spPr>
          <a:xfrm>
            <a:off x="548655" y="1234440"/>
            <a:ext cx="3874800" cy="1097400"/>
          </a:xfrm>
          <a:prstGeom prst="roundRect">
            <a:avLst>
              <a:gd fmla="val 75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9"/>
          <p:cNvSpPr/>
          <p:nvPr/>
        </p:nvSpPr>
        <p:spPr>
          <a:xfrm>
            <a:off x="720109" y="147447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9"/>
          <p:cNvSpPr/>
          <p:nvPr/>
        </p:nvSpPr>
        <p:spPr>
          <a:xfrm>
            <a:off x="761258" y="152933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🐧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9"/>
          <p:cNvSpPr/>
          <p:nvPr/>
        </p:nvSpPr>
        <p:spPr>
          <a:xfrm>
            <a:off x="1268764" y="1474470"/>
            <a:ext cx="288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9"/>
          <p:cNvSpPr/>
          <p:nvPr/>
        </p:nvSpPr>
        <p:spPr>
          <a:xfrm>
            <a:off x="1268775" y="1755651"/>
            <a:ext cx="29148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Tres categories (ugo) × tres permisos (rwx). Es gestionen amb chmod, chown, chgrp i umask.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9"/>
          <p:cNvSpPr/>
          <p:nvPr/>
        </p:nvSpPr>
        <p:spPr>
          <a:xfrm>
            <a:off x="4732146" y="1234440"/>
            <a:ext cx="3874800" cy="1097400"/>
          </a:xfrm>
          <a:prstGeom prst="roundRect">
            <a:avLst>
              <a:gd fmla="val 75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9"/>
          <p:cNvSpPr/>
          <p:nvPr/>
        </p:nvSpPr>
        <p:spPr>
          <a:xfrm>
            <a:off x="4903601" y="147447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9"/>
          <p:cNvSpPr/>
          <p:nvPr/>
        </p:nvSpPr>
        <p:spPr>
          <a:xfrm>
            <a:off x="4944750" y="152933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🪟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9"/>
          <p:cNvSpPr/>
          <p:nvPr/>
        </p:nvSpPr>
        <p:spPr>
          <a:xfrm>
            <a:off x="5452255" y="1474470"/>
            <a:ext cx="288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9"/>
          <p:cNvSpPr/>
          <p:nvPr/>
        </p:nvSpPr>
        <p:spPr>
          <a:xfrm>
            <a:off x="5452250" y="1755651"/>
            <a:ext cx="29148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lang="ca" sz="938">
                <a:solidFill>
                  <a:srgbClr val="1A2836"/>
                </a:solidFill>
              </a:rPr>
              <a:t>Permisos NTFS per a usuaris i grups, amb herència i regles Permetre/Denegar.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9"/>
          <p:cNvSpPr/>
          <p:nvPr/>
        </p:nvSpPr>
        <p:spPr>
          <a:xfrm>
            <a:off x="548655" y="2708910"/>
            <a:ext cx="3874800" cy="1097400"/>
          </a:xfrm>
          <a:prstGeom prst="roundRect">
            <a:avLst>
              <a:gd fmla="val 75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9"/>
          <p:cNvSpPr/>
          <p:nvPr/>
        </p:nvSpPr>
        <p:spPr>
          <a:xfrm>
            <a:off x="720109" y="294894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9"/>
          <p:cNvSpPr/>
          <p:nvPr/>
        </p:nvSpPr>
        <p:spPr>
          <a:xfrm>
            <a:off x="761258" y="300380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📋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9"/>
          <p:cNvSpPr/>
          <p:nvPr/>
        </p:nvSpPr>
        <p:spPr>
          <a:xfrm>
            <a:off x="1268764" y="2948940"/>
            <a:ext cx="288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ACL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29"/>
          <p:cNvSpPr/>
          <p:nvPr/>
        </p:nvSpPr>
        <p:spPr>
          <a:xfrm>
            <a:off x="1268764" y="3230118"/>
            <a:ext cx="2914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Llista ordenada d’ACE: subjecte + tipus + permisos.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9"/>
          <p:cNvSpPr/>
          <p:nvPr/>
        </p:nvSpPr>
        <p:spPr>
          <a:xfrm>
            <a:off x="4732146" y="2708910"/>
            <a:ext cx="3874800" cy="1097400"/>
          </a:xfrm>
          <a:prstGeom prst="roundRect">
            <a:avLst>
              <a:gd fmla="val 7500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9"/>
          <p:cNvSpPr/>
          <p:nvPr/>
        </p:nvSpPr>
        <p:spPr>
          <a:xfrm>
            <a:off x="4903601" y="294894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9"/>
          <p:cNvSpPr/>
          <p:nvPr/>
        </p:nvSpPr>
        <p:spPr>
          <a:xfrm>
            <a:off x="4944750" y="300380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29"/>
          <p:cNvSpPr/>
          <p:nvPr/>
        </p:nvSpPr>
        <p:spPr>
          <a:xfrm>
            <a:off x="5452255" y="2948940"/>
            <a:ext cx="288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Mínim privilegi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29"/>
          <p:cNvSpPr/>
          <p:nvPr/>
        </p:nvSpPr>
        <p:spPr>
          <a:xfrm>
            <a:off x="5452250" y="3230127"/>
            <a:ext cx="29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Dona només els permisos necessaris i millor a grups que a usuaris individuals.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036" name="Google Shape;1036;p30"/>
          <p:cNvSpPr/>
          <p:nvPr/>
        </p:nvSpPr>
        <p:spPr>
          <a:xfrm>
            <a:off x="545500" y="4021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 · Activitats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0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Pràctiques guiades per aplicar els permisos.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0"/>
          <p:cNvSpPr/>
          <p:nvPr/>
        </p:nvSpPr>
        <p:spPr>
          <a:xfrm>
            <a:off x="617236" y="1474470"/>
            <a:ext cx="2434800" cy="1508700"/>
          </a:xfrm>
          <a:prstGeom prst="roundRect">
            <a:avLst>
              <a:gd fmla="val 545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0"/>
          <p:cNvSpPr/>
          <p:nvPr/>
        </p:nvSpPr>
        <p:spPr>
          <a:xfrm>
            <a:off x="788691" y="1680210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Pràctica 1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0"/>
          <p:cNvSpPr/>
          <p:nvPr/>
        </p:nvSpPr>
        <p:spPr>
          <a:xfrm>
            <a:off x="788691" y="1988820"/>
            <a:ext cx="205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Arial"/>
              <a:buNone/>
            </a:pPr>
            <a:r>
              <a:rPr b="1" i="0" lang="ca" sz="1013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Màscara de permisos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0"/>
          <p:cNvSpPr/>
          <p:nvPr/>
        </p:nvSpPr>
        <p:spPr>
          <a:xfrm>
            <a:off x="788691" y="2276856"/>
            <a:ext cx="205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2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0"/>
          <p:cNvSpPr/>
          <p:nvPr/>
        </p:nvSpPr>
        <p:spPr>
          <a:xfrm>
            <a:off x="788691" y="2551176"/>
            <a:ext cx="205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umask, touch, mkdir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0"/>
          <p:cNvSpPr/>
          <p:nvPr/>
        </p:nvSpPr>
        <p:spPr>
          <a:xfrm>
            <a:off x="3360510" y="1474470"/>
            <a:ext cx="2434800" cy="1508700"/>
          </a:xfrm>
          <a:prstGeom prst="roundRect">
            <a:avLst>
              <a:gd fmla="val 545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3531964" y="1680210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Pràctica 2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0"/>
          <p:cNvSpPr/>
          <p:nvPr/>
        </p:nvSpPr>
        <p:spPr>
          <a:xfrm>
            <a:off x="3531964" y="1988820"/>
            <a:ext cx="205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Arial"/>
              <a:buNone/>
            </a:pPr>
            <a:r>
              <a:rPr b="1" i="0" lang="ca" sz="1013" u="none" cap="none" strike="noStrike">
                <a:solidFill>
                  <a:srgbClr val="0086CB"/>
                </a:solidFill>
                <a:latin typeface="Arial"/>
                <a:ea typeface="Arial"/>
                <a:cs typeface="Arial"/>
                <a:sym typeface="Arial"/>
              </a:rPr>
              <a:t>Permisos de directoris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0"/>
          <p:cNvSpPr/>
          <p:nvPr/>
        </p:nvSpPr>
        <p:spPr>
          <a:xfrm>
            <a:off x="3531964" y="2551176"/>
            <a:ext cx="205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chmod, directoris, lectura/esborrat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0"/>
          <p:cNvSpPr/>
          <p:nvPr/>
        </p:nvSpPr>
        <p:spPr>
          <a:xfrm>
            <a:off x="6103783" y="1474470"/>
            <a:ext cx="2434800" cy="1508700"/>
          </a:xfrm>
          <a:prstGeom prst="roundRect">
            <a:avLst>
              <a:gd fmla="val 545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0"/>
          <p:cNvSpPr/>
          <p:nvPr/>
        </p:nvSpPr>
        <p:spPr>
          <a:xfrm>
            <a:off x="6275237" y="1680210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Pràctica 3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0"/>
          <p:cNvSpPr/>
          <p:nvPr/>
        </p:nvSpPr>
        <p:spPr>
          <a:xfrm>
            <a:off x="6275225" y="1988825"/>
            <a:ext cx="2057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Arial"/>
              <a:buNone/>
            </a:pPr>
            <a:r>
              <a:rPr b="1" lang="ca" sz="1013">
                <a:solidFill>
                  <a:srgbClr val="0086CB"/>
                </a:solidFill>
              </a:rPr>
              <a:t>Permisos de fitxers i directoris</a:t>
            </a:r>
            <a:endParaRPr b="1" sz="1013">
              <a:solidFill>
                <a:srgbClr val="0086C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6CB"/>
              </a:buClr>
              <a:buSzPts val="1013"/>
              <a:buFont typeface="Arial"/>
              <a:buNone/>
            </a:pPr>
            <a:r>
              <a:t/>
            </a:r>
            <a:endParaRPr b="1" sz="1013">
              <a:solidFill>
                <a:srgbClr val="0086CB"/>
              </a:solidFill>
            </a:endParaRPr>
          </a:p>
        </p:txBody>
      </p:sp>
      <p:sp>
        <p:nvSpPr>
          <p:cNvPr id="1050" name="Google Shape;1050;p30"/>
          <p:cNvSpPr/>
          <p:nvPr/>
        </p:nvSpPr>
        <p:spPr>
          <a:xfrm>
            <a:off x="6275237" y="2551176"/>
            <a:ext cx="205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umask, </a:t>
            </a:r>
            <a:r>
              <a:rPr lang="ca" sz="863">
                <a:solidFill>
                  <a:srgbClr val="1A2836"/>
                </a:solidFill>
              </a:rPr>
              <a:t>fitxers i directoris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057" name="Google Shape;1057;p31"/>
          <p:cNvSpPr/>
          <p:nvPr/>
        </p:nvSpPr>
        <p:spPr>
          <a:xfrm>
            <a:off x="541800" y="349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1 · 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Màscara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permisos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1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15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1"/>
          <p:cNvSpPr/>
          <p:nvPr/>
        </p:nvSpPr>
        <p:spPr>
          <a:xfrm>
            <a:off x="514364" y="1337310"/>
            <a:ext cx="1097400" cy="520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1"/>
          <p:cNvSpPr/>
          <p:nvPr/>
        </p:nvSpPr>
        <p:spPr>
          <a:xfrm>
            <a:off x="541796" y="1371600"/>
            <a:ext cx="1042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1"/>
          <p:cNvSpPr/>
          <p:nvPr/>
        </p:nvSpPr>
        <p:spPr>
          <a:xfrm>
            <a:off x="1611673" y="1337310"/>
            <a:ext cx="7029600" cy="520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1"/>
          <p:cNvSpPr/>
          <p:nvPr/>
        </p:nvSpPr>
        <p:spPr>
          <a:xfrm>
            <a:off x="1639106" y="1371600"/>
            <a:ext cx="6974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Tasques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1"/>
          <p:cNvSpPr/>
          <p:nvPr/>
        </p:nvSpPr>
        <p:spPr>
          <a:xfrm>
            <a:off x="514364" y="1857375"/>
            <a:ext cx="1097400" cy="520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1"/>
          <p:cNvSpPr/>
          <p:nvPr/>
        </p:nvSpPr>
        <p:spPr>
          <a:xfrm>
            <a:off x="548655" y="1898523"/>
            <a:ext cx="1028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1–2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1"/>
          <p:cNvSpPr/>
          <p:nvPr/>
        </p:nvSpPr>
        <p:spPr>
          <a:xfrm>
            <a:off x="1611673" y="1857375"/>
            <a:ext cx="7029600" cy="520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1"/>
          <p:cNvSpPr/>
          <p:nvPr/>
        </p:nvSpPr>
        <p:spPr>
          <a:xfrm>
            <a:off x="1645964" y="1898523"/>
            <a:ext cx="6961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Establiu la màscara inicial 022 abans de crear els primers fitxers i carpetes.</a:t>
            </a:r>
            <a:endParaRPr sz="900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C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reeu la carp</a:t>
            </a:r>
            <a:r>
              <a:rPr lang="ca" sz="900">
                <a:solidFill>
                  <a:srgbClr val="1A2836"/>
                </a:solidFill>
              </a:rPr>
              <a:t>eta amb nom 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capitol5, entreu-hi i mostreu els permisos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1"/>
          <p:cNvSpPr/>
          <p:nvPr/>
        </p:nvSpPr>
        <p:spPr>
          <a:xfrm>
            <a:off x="514364" y="2377440"/>
            <a:ext cx="1097400" cy="520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1"/>
          <p:cNvSpPr/>
          <p:nvPr/>
        </p:nvSpPr>
        <p:spPr>
          <a:xfrm>
            <a:off x="548655" y="2418588"/>
            <a:ext cx="1028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3–4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1"/>
          <p:cNvSpPr/>
          <p:nvPr/>
        </p:nvSpPr>
        <p:spPr>
          <a:xfrm>
            <a:off x="1611673" y="2377440"/>
            <a:ext cx="7029600" cy="520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1"/>
          <p:cNvSpPr/>
          <p:nvPr/>
        </p:nvSpPr>
        <p:spPr>
          <a:xfrm>
            <a:off x="1645964" y="2418588"/>
            <a:ext cx="6961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Mostreu umask. Creeu fit</a:t>
            </a:r>
            <a:r>
              <a:rPr lang="ca" sz="900">
                <a:solidFill>
                  <a:srgbClr val="1A2836"/>
                </a:solidFill>
              </a:rPr>
              <a:t>xer 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fic1 i el directori dir1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1"/>
          <p:cNvSpPr/>
          <p:nvPr/>
        </p:nvSpPr>
        <p:spPr>
          <a:xfrm>
            <a:off x="514364" y="2897505"/>
            <a:ext cx="1097400" cy="520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1"/>
          <p:cNvSpPr/>
          <p:nvPr/>
        </p:nvSpPr>
        <p:spPr>
          <a:xfrm>
            <a:off x="1611673" y="2897505"/>
            <a:ext cx="7029600" cy="5202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31"/>
          <p:cNvSpPr/>
          <p:nvPr/>
        </p:nvSpPr>
        <p:spPr>
          <a:xfrm>
            <a:off x="514364" y="3417570"/>
            <a:ext cx="1097400" cy="520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1"/>
          <p:cNvSpPr/>
          <p:nvPr/>
        </p:nvSpPr>
        <p:spPr>
          <a:xfrm>
            <a:off x="542742" y="2924956"/>
            <a:ext cx="1028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5-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1"/>
          <p:cNvSpPr/>
          <p:nvPr/>
        </p:nvSpPr>
        <p:spPr>
          <a:xfrm>
            <a:off x="1611673" y="3417570"/>
            <a:ext cx="7029600" cy="520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1"/>
          <p:cNvSpPr/>
          <p:nvPr/>
        </p:nvSpPr>
        <p:spPr>
          <a:xfrm>
            <a:off x="1640051" y="2924956"/>
            <a:ext cx="6961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Canvieu la màscara a 027. Creeu fitxer fic2 i directori dir2</a:t>
            </a:r>
            <a:r>
              <a:rPr lang="ca" sz="900">
                <a:solidFill>
                  <a:srgbClr val="1A2836"/>
                </a:solidFill>
              </a:rPr>
              <a:t> ( fic2 i dir2 pengen directament de capitol5, no pengen de dir1)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1"/>
          <p:cNvSpPr/>
          <p:nvPr/>
        </p:nvSpPr>
        <p:spPr>
          <a:xfrm>
            <a:off x="542742" y="3445021"/>
            <a:ext cx="1028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1"/>
          <p:cNvSpPr/>
          <p:nvPr/>
        </p:nvSpPr>
        <p:spPr>
          <a:xfrm>
            <a:off x="1640051" y="3445021"/>
            <a:ext cx="6961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Verifiqueu nous permisos i comproveu si fic1 i dir1 han canviat.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h71b1cc9d41bba45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085" name="Google Shape;1085;h71b1cc9d41bba454_0_0"/>
          <p:cNvSpPr/>
          <p:nvPr/>
        </p:nvSpPr>
        <p:spPr>
          <a:xfrm>
            <a:off x="541800" y="349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1 · Soluci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ó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Màscara de permisos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h71b1cc9d41bba454_0_0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15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h71b1cc9d41bba454_0_0"/>
          <p:cNvSpPr/>
          <p:nvPr/>
        </p:nvSpPr>
        <p:spPr>
          <a:xfrm>
            <a:off x="514364" y="1337310"/>
            <a:ext cx="1097400" cy="520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h71b1cc9d41bba454_0_0"/>
          <p:cNvSpPr/>
          <p:nvPr/>
        </p:nvSpPr>
        <p:spPr>
          <a:xfrm>
            <a:off x="541796" y="1371600"/>
            <a:ext cx="1042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h71b1cc9d41bba454_0_0"/>
          <p:cNvSpPr/>
          <p:nvPr/>
        </p:nvSpPr>
        <p:spPr>
          <a:xfrm>
            <a:off x="1611673" y="1337310"/>
            <a:ext cx="7029600" cy="520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h71b1cc9d41bba454_0_0"/>
          <p:cNvSpPr/>
          <p:nvPr/>
        </p:nvSpPr>
        <p:spPr>
          <a:xfrm>
            <a:off x="1639106" y="1371600"/>
            <a:ext cx="6974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1300">
                <a:solidFill>
                  <a:srgbClr val="FFFFFF"/>
                </a:solidFill>
              </a:rPr>
              <a:t>Solució	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h71b1cc9d41bba454_0_0"/>
          <p:cNvSpPr/>
          <p:nvPr/>
        </p:nvSpPr>
        <p:spPr>
          <a:xfrm>
            <a:off x="514375" y="1857375"/>
            <a:ext cx="1097400" cy="12774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h71b1cc9d41bba454_0_0"/>
          <p:cNvSpPr/>
          <p:nvPr/>
        </p:nvSpPr>
        <p:spPr>
          <a:xfrm>
            <a:off x="548666" y="1958400"/>
            <a:ext cx="10287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1–2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h71b1cc9d41bba454_0_0"/>
          <p:cNvSpPr/>
          <p:nvPr/>
        </p:nvSpPr>
        <p:spPr>
          <a:xfrm>
            <a:off x="1611682" y="1857375"/>
            <a:ext cx="7029600" cy="12774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h71b1cc9d41bba454_0_0"/>
          <p:cNvSpPr/>
          <p:nvPr/>
        </p:nvSpPr>
        <p:spPr>
          <a:xfrm>
            <a:off x="1645975" y="1958400"/>
            <a:ext cx="69612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#Fico la umask per defecte per si de cas</a:t>
            </a:r>
            <a:endParaRPr sz="900">
              <a:solidFill>
                <a:srgbClr val="1A283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</a:t>
            </a:r>
            <a:r>
              <a:rPr b="1" lang="ca" sz="900">
                <a:solidFill>
                  <a:srgbClr val="1A2836"/>
                </a:solidFill>
              </a:rPr>
              <a:t>umask 022</a:t>
            </a:r>
            <a:endParaRPr b="1" sz="900">
              <a:solidFill>
                <a:srgbClr val="1A283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 capitol5</a:t>
            </a:r>
            <a:endParaRPr b="1" sz="900">
              <a:solidFill>
                <a:srgbClr val="1A283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cd capitol5</a:t>
            </a:r>
            <a:endParaRPr b="1" sz="900">
              <a:solidFill>
                <a:srgbClr val="1A283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#Veiem el que hi ha dintre de la carpeta, en teoría res</a:t>
            </a:r>
            <a:endParaRPr sz="900">
              <a:solidFill>
                <a:srgbClr val="1A283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ls -l</a:t>
            </a:r>
            <a:endParaRPr b="1" sz="900">
              <a:solidFill>
                <a:srgbClr val="1A2836"/>
              </a:solidFill>
            </a:endParaRPr>
          </a:p>
        </p:txBody>
      </p:sp>
      <p:sp>
        <p:nvSpPr>
          <p:cNvPr id="1095" name="Google Shape;1095;h71b1cc9d41bba454_0_0"/>
          <p:cNvSpPr/>
          <p:nvPr/>
        </p:nvSpPr>
        <p:spPr>
          <a:xfrm>
            <a:off x="548639" y="4284790"/>
            <a:ext cx="1097400" cy="520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h71b1cc9d41bba454_0_0"/>
          <p:cNvSpPr/>
          <p:nvPr/>
        </p:nvSpPr>
        <p:spPr>
          <a:xfrm>
            <a:off x="542825" y="3134700"/>
            <a:ext cx="10287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3–4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h71b1cc9d41bba454_0_0"/>
          <p:cNvSpPr/>
          <p:nvPr/>
        </p:nvSpPr>
        <p:spPr>
          <a:xfrm>
            <a:off x="1645948" y="4284790"/>
            <a:ext cx="7029600" cy="5202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h71b1cc9d41bba454_0_0"/>
          <p:cNvSpPr/>
          <p:nvPr/>
        </p:nvSpPr>
        <p:spPr>
          <a:xfrm>
            <a:off x="1640000" y="3185750"/>
            <a:ext cx="69612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 Miro la mascara actual</a:t>
            </a:r>
            <a:endParaRPr sz="900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umask</a:t>
            </a:r>
            <a:endParaRPr b="1" sz="900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#Creo el fitxer fic1 amb touch</a:t>
            </a:r>
            <a:endParaRPr sz="900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touch fic1</a:t>
            </a:r>
            <a:endParaRPr b="1" sz="900">
              <a:solidFill>
                <a:srgbClr val="1A283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#Creo la carpeta dir1 amb mkdir</a:t>
            </a:r>
            <a:endParaRPr sz="900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 $ mkdir dir1</a:t>
            </a:r>
            <a:endParaRPr b="1" sz="900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ls -l </a:t>
            </a:r>
            <a:r>
              <a:rPr lang="ca" sz="900">
                <a:solidFill>
                  <a:srgbClr val="1A2836"/>
                </a:solidFill>
              </a:rPr>
              <a:t>( mires el contingut de la carpeta, si  vols mostrar els permisos de la carpeta creada, afegeix</a:t>
            </a:r>
            <a:r>
              <a:rPr b="1" lang="ca" sz="900">
                <a:solidFill>
                  <a:srgbClr val="B6D7A8"/>
                </a:solidFill>
              </a:rPr>
              <a:t> </a:t>
            </a:r>
            <a:r>
              <a:rPr b="1" lang="ca" sz="900">
                <a:solidFill>
                  <a:schemeClr val="accent5"/>
                </a:solidFill>
              </a:rPr>
              <a:t>$ ls -ld .  </a:t>
            </a:r>
            <a:r>
              <a:rPr lang="ca" sz="900">
                <a:solidFill>
                  <a:srgbClr val="1A2836"/>
                </a:solidFill>
              </a:rPr>
              <a:t>)</a:t>
            </a:r>
            <a:endParaRPr sz="900">
              <a:solidFill>
                <a:srgbClr val="1A2836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h1cd135fc38cd46f6_0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105" name="Google Shape;1105;h1cd135fc38cd46f6_0_10"/>
          <p:cNvSpPr/>
          <p:nvPr/>
        </p:nvSpPr>
        <p:spPr>
          <a:xfrm>
            <a:off x="541800" y="349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1 · Soluci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ó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Màscara de permisos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h1cd135fc38cd46f6_0_10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15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h1cd135fc38cd46f6_0_10"/>
          <p:cNvSpPr/>
          <p:nvPr/>
        </p:nvSpPr>
        <p:spPr>
          <a:xfrm>
            <a:off x="514364" y="1337310"/>
            <a:ext cx="1097400" cy="520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h1cd135fc38cd46f6_0_10"/>
          <p:cNvSpPr/>
          <p:nvPr/>
        </p:nvSpPr>
        <p:spPr>
          <a:xfrm>
            <a:off x="541796" y="1371600"/>
            <a:ext cx="1042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h1cd135fc38cd46f6_0_10"/>
          <p:cNvSpPr/>
          <p:nvPr/>
        </p:nvSpPr>
        <p:spPr>
          <a:xfrm>
            <a:off x="1611673" y="1337310"/>
            <a:ext cx="7029600" cy="5202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h1cd135fc38cd46f6_0_10"/>
          <p:cNvSpPr/>
          <p:nvPr/>
        </p:nvSpPr>
        <p:spPr>
          <a:xfrm>
            <a:off x="1639106" y="1371600"/>
            <a:ext cx="6974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1300">
                <a:solidFill>
                  <a:srgbClr val="FFFFFF"/>
                </a:solidFill>
              </a:rPr>
              <a:t>Solució	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h1cd135fc38cd46f6_0_10"/>
          <p:cNvSpPr/>
          <p:nvPr/>
        </p:nvSpPr>
        <p:spPr>
          <a:xfrm>
            <a:off x="541800" y="1914917"/>
            <a:ext cx="1097400" cy="13023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h1cd135fc38cd46f6_0_10"/>
          <p:cNvSpPr/>
          <p:nvPr/>
        </p:nvSpPr>
        <p:spPr>
          <a:xfrm>
            <a:off x="1639108" y="1914917"/>
            <a:ext cx="7029600" cy="13023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h1cd135fc38cd46f6_0_10"/>
          <p:cNvSpPr/>
          <p:nvPr/>
        </p:nvSpPr>
        <p:spPr>
          <a:xfrm>
            <a:off x="486900" y="3295250"/>
            <a:ext cx="1104900" cy="93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h1cd135fc38cd46f6_0_10"/>
          <p:cNvSpPr/>
          <p:nvPr/>
        </p:nvSpPr>
        <p:spPr>
          <a:xfrm>
            <a:off x="570178" y="1983635"/>
            <a:ext cx="1028700" cy="11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   5-6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h1cd135fc38cd46f6_0_10"/>
          <p:cNvSpPr/>
          <p:nvPr/>
        </p:nvSpPr>
        <p:spPr>
          <a:xfrm>
            <a:off x="1591622" y="3295250"/>
            <a:ext cx="7077000" cy="9345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h1cd135fc38cd46f6_0_10"/>
          <p:cNvSpPr/>
          <p:nvPr/>
        </p:nvSpPr>
        <p:spPr>
          <a:xfrm>
            <a:off x="1667475" y="1983624"/>
            <a:ext cx="6961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#Canviem la màscara per defecte a 027</a:t>
            </a:r>
            <a:endParaRPr sz="900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umask 027</a:t>
            </a:r>
            <a:r>
              <a:rPr lang="ca" sz="900">
                <a:solidFill>
                  <a:srgbClr val="1A2836"/>
                </a:solidFill>
              </a:rPr>
              <a:t> </a:t>
            </a:r>
            <a:endParaRPr b="0" i="0" sz="900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 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Creeu fitxer fic2 amb touch </a:t>
            </a:r>
            <a:endParaRPr b="0" i="0" sz="900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1A2836"/>
                </a:solidFill>
              </a:rPr>
              <a:t>$ touch fic2</a:t>
            </a:r>
            <a:r>
              <a:rPr lang="ca" sz="900">
                <a:solidFill>
                  <a:srgbClr val="1A2836"/>
                </a:solidFill>
              </a:rPr>
              <a:t> </a:t>
            </a:r>
            <a:endParaRPr b="0" i="0" sz="900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 Creeu el 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directori dir2 amb m</a:t>
            </a:r>
            <a:r>
              <a:rPr lang="ca" sz="900">
                <a:solidFill>
                  <a:srgbClr val="1A2836"/>
                </a:solidFill>
              </a:rPr>
              <a:t>kdir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</a:t>
            </a:r>
            <a:r>
              <a:rPr b="1" i="0" lang="ca" sz="900" u="none" cap="none" strike="noStrike">
                <a:solidFill>
                  <a:srgbClr val="1A2836"/>
                </a:solidFill>
              </a:rPr>
              <a:t>mkdir dir2</a:t>
            </a:r>
            <a:r>
              <a:rPr b="1" lang="ca" sz="900">
                <a:solidFill>
                  <a:srgbClr val="1A2836"/>
                </a:solidFill>
              </a:rPr>
              <a:t> </a:t>
            </a:r>
            <a:endParaRPr b="1" i="0" sz="900" u="none" cap="none" strike="noStrike">
              <a:solidFill>
                <a:srgbClr val="1A283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rgbClr val="1A2836"/>
              </a:solidFill>
            </a:endParaRPr>
          </a:p>
        </p:txBody>
      </p:sp>
      <p:sp>
        <p:nvSpPr>
          <p:cNvPr id="1117" name="Google Shape;1117;h1cd135fc38cd46f6_0_10"/>
          <p:cNvSpPr/>
          <p:nvPr/>
        </p:nvSpPr>
        <p:spPr>
          <a:xfrm>
            <a:off x="515470" y="3344569"/>
            <a:ext cx="10356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h1cd135fc38cd46f6_0_10"/>
          <p:cNvSpPr/>
          <p:nvPr/>
        </p:nvSpPr>
        <p:spPr>
          <a:xfrm>
            <a:off x="1620192" y="3344569"/>
            <a:ext cx="70083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# </a:t>
            </a:r>
            <a:r>
              <a:rPr lang="ca" sz="900">
                <a:solidFill>
                  <a:srgbClr val="1A2836"/>
                </a:solidFill>
              </a:rPr>
              <a:t>Hem utilitzat ls -l, per veure els permisos, en principi fic1 i dir1 es mantenen, com que tenen diferent umask, dir2 i fic2 canvien els permisos per defecte.</a:t>
            </a:r>
            <a:endParaRPr sz="900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ls -l </a:t>
            </a:r>
            <a:endParaRPr sz="900">
              <a:solidFill>
                <a:srgbClr val="1A2836"/>
              </a:solidFill>
            </a:endParaRPr>
          </a:p>
        </p:txBody>
      </p:sp>
      <p:sp>
        <p:nvSpPr>
          <p:cNvPr id="1119" name="Google Shape;1119;h1cd135fc38cd46f6_0_10"/>
          <p:cNvSpPr txBox="1"/>
          <p:nvPr/>
        </p:nvSpPr>
        <p:spPr>
          <a:xfrm>
            <a:off x="541800" y="4542600"/>
            <a:ext cx="792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1"/>
                </a:solidFill>
              </a:rPr>
              <a:t>Important: </a:t>
            </a:r>
            <a:r>
              <a:rPr lang="ca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 -ld dir1</a:t>
            </a:r>
            <a:r>
              <a:rPr lang="ca" sz="1300">
                <a:solidFill>
                  <a:schemeClr val="dk1"/>
                </a:solidFill>
              </a:rPr>
              <a:t> mostra els permisos del directori. </a:t>
            </a:r>
            <a:r>
              <a:rPr lang="ca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 -l dir1</a:t>
            </a:r>
            <a:r>
              <a:rPr lang="ca" sz="1300">
                <a:solidFill>
                  <a:schemeClr val="dk1"/>
                </a:solidFill>
              </a:rPr>
              <a:t> mostra el seu contingut.</a:t>
            </a:r>
            <a:endParaRPr sz="1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126" name="Google Shape;1126;p32"/>
          <p:cNvSpPr/>
          <p:nvPr/>
        </p:nvSpPr>
        <p:spPr>
          <a:xfrm>
            <a:off x="514375" y="349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2 · Permisos dels directoris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2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15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2"/>
          <p:cNvSpPr/>
          <p:nvPr/>
        </p:nvSpPr>
        <p:spPr>
          <a:xfrm>
            <a:off x="514364" y="1337310"/>
            <a:ext cx="1097400" cy="6240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2"/>
          <p:cNvSpPr/>
          <p:nvPr/>
        </p:nvSpPr>
        <p:spPr>
          <a:xfrm>
            <a:off x="541796" y="1371600"/>
            <a:ext cx="1042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2"/>
          <p:cNvSpPr/>
          <p:nvPr/>
        </p:nvSpPr>
        <p:spPr>
          <a:xfrm>
            <a:off x="1611673" y="1337310"/>
            <a:ext cx="7029600" cy="6240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2"/>
          <p:cNvSpPr/>
          <p:nvPr/>
        </p:nvSpPr>
        <p:spPr>
          <a:xfrm>
            <a:off x="1639106" y="1371600"/>
            <a:ext cx="6974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Tasques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2"/>
          <p:cNvSpPr/>
          <p:nvPr/>
        </p:nvSpPr>
        <p:spPr>
          <a:xfrm>
            <a:off x="514364" y="1961388"/>
            <a:ext cx="1097400" cy="6240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2"/>
          <p:cNvSpPr/>
          <p:nvPr/>
        </p:nvSpPr>
        <p:spPr>
          <a:xfrm>
            <a:off x="548655" y="2002536"/>
            <a:ext cx="1028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1–2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2"/>
          <p:cNvSpPr/>
          <p:nvPr/>
        </p:nvSpPr>
        <p:spPr>
          <a:xfrm>
            <a:off x="1611673" y="1961388"/>
            <a:ext cx="7029600" cy="6240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2"/>
          <p:cNvSpPr/>
          <p:nvPr/>
        </p:nvSpPr>
        <p:spPr>
          <a:xfrm>
            <a:off x="1645964" y="2002536"/>
            <a:ext cx="6961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Doneu permisos rwx a altres usuaris a la ca</a:t>
            </a:r>
            <a:r>
              <a:rPr lang="ca" sz="900">
                <a:solidFill>
                  <a:srgbClr val="1A2836"/>
                </a:solidFill>
              </a:rPr>
              <a:t>rpeta 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dir1 amb notació simbòlica i ho repliqueu</a:t>
            </a:r>
            <a:r>
              <a:rPr lang="ca" sz="900">
                <a:solidFill>
                  <a:srgbClr val="1A2836"/>
                </a:solidFill>
              </a:rPr>
              <a:t> 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a la carpeta dir2 amb notació octal.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2"/>
          <p:cNvSpPr/>
          <p:nvPr/>
        </p:nvSpPr>
        <p:spPr>
          <a:xfrm>
            <a:off x="514364" y="2585466"/>
            <a:ext cx="1097400" cy="624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2"/>
          <p:cNvSpPr/>
          <p:nvPr/>
        </p:nvSpPr>
        <p:spPr>
          <a:xfrm>
            <a:off x="548655" y="2626614"/>
            <a:ext cx="1028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3–4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2"/>
          <p:cNvSpPr/>
          <p:nvPr/>
        </p:nvSpPr>
        <p:spPr>
          <a:xfrm>
            <a:off x="1611673" y="2585466"/>
            <a:ext cx="7029600" cy="624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2"/>
          <p:cNvSpPr/>
          <p:nvPr/>
        </p:nvSpPr>
        <p:spPr>
          <a:xfrm>
            <a:off x="1645964" y="2626614"/>
            <a:ext cx="6961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Creeu la carpeta: /tmp/&lt;usuari&gt; i un fitxer secret ( ocult) dins d’aquest directori. Nota: &lt;usuari&gt; </a:t>
            </a:r>
            <a:r>
              <a:rPr lang="ca" sz="900">
                <a:solidFill>
                  <a:srgbClr val="1A2836"/>
                </a:solidFill>
              </a:rPr>
              <a:t>és el teu nom usuari.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2"/>
          <p:cNvSpPr/>
          <p:nvPr/>
        </p:nvSpPr>
        <p:spPr>
          <a:xfrm>
            <a:off x="514364" y="3209544"/>
            <a:ext cx="1097400" cy="6240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2"/>
          <p:cNvSpPr/>
          <p:nvPr/>
        </p:nvSpPr>
        <p:spPr>
          <a:xfrm>
            <a:off x="548655" y="3250692"/>
            <a:ext cx="1028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2"/>
          <p:cNvSpPr/>
          <p:nvPr/>
        </p:nvSpPr>
        <p:spPr>
          <a:xfrm>
            <a:off x="1611673" y="3209544"/>
            <a:ext cx="7029600" cy="6240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2"/>
          <p:cNvSpPr/>
          <p:nvPr/>
        </p:nvSpPr>
        <p:spPr>
          <a:xfrm>
            <a:off x="1645964" y="3250692"/>
            <a:ext cx="6961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Deixeu només permís de lectura a l’usuari &lt;usuari&gt; sobre secret. </a:t>
            </a:r>
            <a:r>
              <a:rPr lang="ca" sz="900">
                <a:solidFill>
                  <a:srgbClr val="1A2836"/>
                </a:solidFill>
              </a:rPr>
              <a:t>Utilitzeu notació octal.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2"/>
          <p:cNvSpPr/>
          <p:nvPr/>
        </p:nvSpPr>
        <p:spPr>
          <a:xfrm>
            <a:off x="514364" y="3833622"/>
            <a:ext cx="1097400" cy="624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2"/>
          <p:cNvSpPr/>
          <p:nvPr/>
        </p:nvSpPr>
        <p:spPr>
          <a:xfrm>
            <a:off x="548655" y="3874770"/>
            <a:ext cx="1028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6</a:t>
            </a: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ca" sz="900">
                <a:solidFill>
                  <a:srgbClr val="1A2836"/>
                </a:solidFill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2"/>
          <p:cNvSpPr/>
          <p:nvPr/>
        </p:nvSpPr>
        <p:spPr>
          <a:xfrm>
            <a:off x="1611673" y="3833622"/>
            <a:ext cx="7029600" cy="624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32"/>
          <p:cNvSpPr/>
          <p:nvPr/>
        </p:nvSpPr>
        <p:spPr>
          <a:xfrm>
            <a:off x="1645964" y="3874770"/>
            <a:ext cx="6961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Connecteu-vos com &lt;usuari&gt;2 i comproveu si podeu llegir o suprimir secret. Justifiqueu-ho</a:t>
            </a:r>
            <a:endParaRPr b="0" i="0" sz="900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( Nota aquesta activitat </a:t>
            </a:r>
            <a:r>
              <a:rPr b="1" lang="ca" sz="900">
                <a:solidFill>
                  <a:srgbClr val="1A2836"/>
                </a:solidFill>
              </a:rPr>
              <a:t>és per més endavant quan sabeu gestionar usuaris i grups)</a:t>
            </a:r>
            <a:endParaRPr b="1"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h71b1cc9d41bba454_0_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154" name="Google Shape;1154;h71b1cc9d41bba454_0_35"/>
          <p:cNvSpPr/>
          <p:nvPr/>
        </p:nvSpPr>
        <p:spPr>
          <a:xfrm>
            <a:off x="514375" y="349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2 · Permisos dels directoris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h71b1cc9d41bba454_0_35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15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h71b1cc9d41bba454_0_35"/>
          <p:cNvSpPr/>
          <p:nvPr/>
        </p:nvSpPr>
        <p:spPr>
          <a:xfrm>
            <a:off x="514364" y="1337310"/>
            <a:ext cx="1097400" cy="6240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h71b1cc9d41bba454_0_35"/>
          <p:cNvSpPr/>
          <p:nvPr/>
        </p:nvSpPr>
        <p:spPr>
          <a:xfrm>
            <a:off x="541796" y="1371600"/>
            <a:ext cx="1042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h71b1cc9d41bba454_0_35"/>
          <p:cNvSpPr/>
          <p:nvPr/>
        </p:nvSpPr>
        <p:spPr>
          <a:xfrm>
            <a:off x="1611673" y="1337310"/>
            <a:ext cx="7029600" cy="6240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h71b1cc9d41bba454_0_35"/>
          <p:cNvSpPr/>
          <p:nvPr/>
        </p:nvSpPr>
        <p:spPr>
          <a:xfrm>
            <a:off x="1639106" y="1371600"/>
            <a:ext cx="6974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1200">
                <a:solidFill>
                  <a:srgbClr val="FFFFFF"/>
                </a:solidFill>
              </a:rPr>
              <a:t>Solució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h71b1cc9d41bba454_0_35"/>
          <p:cNvSpPr/>
          <p:nvPr/>
        </p:nvSpPr>
        <p:spPr>
          <a:xfrm>
            <a:off x="514375" y="1961402"/>
            <a:ext cx="1097400" cy="7233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h71b1cc9d41bba454_0_35"/>
          <p:cNvSpPr/>
          <p:nvPr/>
        </p:nvSpPr>
        <p:spPr>
          <a:xfrm>
            <a:off x="548666" y="2009101"/>
            <a:ext cx="10287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1–2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h71b1cc9d41bba454_0_35"/>
          <p:cNvSpPr/>
          <p:nvPr/>
        </p:nvSpPr>
        <p:spPr>
          <a:xfrm>
            <a:off x="1611683" y="1961402"/>
            <a:ext cx="7029600" cy="7233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h71b1cc9d41bba454_0_35"/>
          <p:cNvSpPr/>
          <p:nvPr/>
        </p:nvSpPr>
        <p:spPr>
          <a:xfrm>
            <a:off x="1645974" y="2009101"/>
            <a:ext cx="69612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   $ cd ~/capitol5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chmod o=rwx dir1 </a:t>
            </a:r>
            <a:r>
              <a:rPr lang="ca" sz="900">
                <a:solidFill>
                  <a:srgbClr val="1A2836"/>
                </a:solidFill>
              </a:rPr>
              <a:t> o </a:t>
            </a:r>
            <a:r>
              <a:rPr b="1" lang="ca" sz="900">
                <a:solidFill>
                  <a:srgbClr val="1A2836"/>
                </a:solidFill>
              </a:rPr>
              <a:t>chmod o+rwx</a:t>
            </a:r>
            <a:r>
              <a:rPr lang="ca" sz="900">
                <a:solidFill>
                  <a:srgbClr val="1A2836"/>
                </a:solidFill>
              </a:rPr>
              <a:t> </a:t>
            </a:r>
            <a:r>
              <a:rPr b="1" lang="ca" sz="900">
                <a:solidFill>
                  <a:srgbClr val="1A2836"/>
                </a:solidFill>
              </a:rPr>
              <a:t>dir1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</a:t>
            </a:r>
            <a:r>
              <a:rPr b="1" lang="ca" sz="900">
                <a:solidFill>
                  <a:srgbClr val="1A2836"/>
                </a:solidFill>
              </a:rPr>
              <a:t>chmod 007 dir2 </a:t>
            </a:r>
            <a:r>
              <a:rPr lang="ca" sz="900">
                <a:solidFill>
                  <a:srgbClr val="1A2836"/>
                </a:solidFill>
              </a:rPr>
              <a:t>( valors per usuari i grup no ens ho diuen, podriem ficar qualsevol cosa, he triat cenyir-me a l’enunciat i només donar permisos als altres)</a:t>
            </a:r>
            <a:endParaRPr sz="900">
              <a:solidFill>
                <a:srgbClr val="1A2836"/>
              </a:solidFill>
            </a:endParaRPr>
          </a:p>
        </p:txBody>
      </p:sp>
      <p:sp>
        <p:nvSpPr>
          <p:cNvPr id="1164" name="Google Shape;1164;h71b1cc9d41bba454_0_35"/>
          <p:cNvSpPr/>
          <p:nvPr/>
        </p:nvSpPr>
        <p:spPr>
          <a:xfrm>
            <a:off x="514375" y="2585475"/>
            <a:ext cx="1097400" cy="14271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h71b1cc9d41bba454_0_35"/>
          <p:cNvSpPr/>
          <p:nvPr/>
        </p:nvSpPr>
        <p:spPr>
          <a:xfrm>
            <a:off x="548666" y="2679582"/>
            <a:ext cx="10287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3–4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h71b1cc9d41bba454_0_35"/>
          <p:cNvSpPr/>
          <p:nvPr/>
        </p:nvSpPr>
        <p:spPr>
          <a:xfrm>
            <a:off x="1611681" y="2585475"/>
            <a:ext cx="7029600" cy="14271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h71b1cc9d41bba454_0_35"/>
          <p:cNvSpPr/>
          <p:nvPr/>
        </p:nvSpPr>
        <p:spPr>
          <a:xfrm>
            <a:off x="1645972" y="2679582"/>
            <a:ext cx="69612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L’usuari a linux ens surt al terminal, el meu usuari és </a:t>
            </a:r>
            <a:r>
              <a:rPr b="1" lang="ca" sz="900">
                <a:solidFill>
                  <a:srgbClr val="1A2836"/>
                </a:solidFill>
              </a:rPr>
              <a:t>eduard</a:t>
            </a:r>
            <a:r>
              <a:rPr lang="ca" sz="900">
                <a:solidFill>
                  <a:srgbClr val="1A2836"/>
                </a:solidFill>
              </a:rPr>
              <a:t> com veieu a la imatge : </a:t>
            </a:r>
            <a:endParaRPr sz="900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</a:t>
            </a:r>
            <a:r>
              <a:rPr b="1" i="0" lang="ca" sz="900" u="none" cap="none" strike="noStrike">
                <a:solidFill>
                  <a:srgbClr val="1A2836"/>
                </a:solidFill>
              </a:rPr>
              <a:t> /tmp/ </a:t>
            </a:r>
            <a:r>
              <a:rPr i="0" lang="ca" sz="900" u="none" cap="none" strike="noStrike">
                <a:solidFill>
                  <a:srgbClr val="1A2836"/>
                </a:solidFill>
              </a:rPr>
              <a:t>(</a:t>
            </a:r>
            <a:r>
              <a:rPr lang="ca" sz="900">
                <a:solidFill>
                  <a:srgbClr val="1A2836"/>
                </a:solidFill>
              </a:rPr>
              <a:t> ull si tmp ja existeix pot donar error, pero no passa res l’important es que hi hagi una carpeta /tmp). Si no la creeu. </a:t>
            </a:r>
            <a:endParaRPr i="0" sz="900" u="none" cap="none" strike="noStrike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cd /tmp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 usuari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cd usuari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touch .secret</a:t>
            </a:r>
            <a:r>
              <a:rPr lang="ca" sz="900">
                <a:solidFill>
                  <a:srgbClr val="1A2836"/>
                </a:solidFill>
              </a:rPr>
              <a:t> ( els fitxers i carpetes ocultes a Linux comencen el seu nom amb . 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h71b1cc9d41bba454_0_35"/>
          <p:cNvSpPr/>
          <p:nvPr/>
        </p:nvSpPr>
        <p:spPr>
          <a:xfrm>
            <a:off x="508550" y="4052148"/>
            <a:ext cx="1097400" cy="453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h71b1cc9d41bba454_0_35"/>
          <p:cNvSpPr/>
          <p:nvPr/>
        </p:nvSpPr>
        <p:spPr>
          <a:xfrm>
            <a:off x="542841" y="4082053"/>
            <a:ext cx="10287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h71b1cc9d41bba454_0_35"/>
          <p:cNvSpPr/>
          <p:nvPr/>
        </p:nvSpPr>
        <p:spPr>
          <a:xfrm>
            <a:off x="1605858" y="4052148"/>
            <a:ext cx="7029600" cy="453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h71b1cc9d41bba454_0_35"/>
          <p:cNvSpPr/>
          <p:nvPr/>
        </p:nvSpPr>
        <p:spPr>
          <a:xfrm>
            <a:off x="1640149" y="4082053"/>
            <a:ext cx="6961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chmod 400 .secret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( només lectura a usuari és r - - = 1 0 0 = 4. la resta com no diu res a zero.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h71b1cc9d41bba454_0_35"/>
          <p:cNvSpPr/>
          <p:nvPr/>
        </p:nvSpPr>
        <p:spPr>
          <a:xfrm>
            <a:off x="508539" y="4505722"/>
            <a:ext cx="1097400" cy="624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h71b1cc9d41bba454_0_35"/>
          <p:cNvSpPr/>
          <p:nvPr/>
        </p:nvSpPr>
        <p:spPr>
          <a:xfrm>
            <a:off x="542830" y="4546870"/>
            <a:ext cx="1028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0" i="0" lang="ca" sz="90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6–</a:t>
            </a:r>
            <a:r>
              <a:rPr lang="ca" sz="900">
                <a:solidFill>
                  <a:srgbClr val="1A2836"/>
                </a:solidFill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h71b1cc9d41bba454_0_35"/>
          <p:cNvSpPr/>
          <p:nvPr/>
        </p:nvSpPr>
        <p:spPr>
          <a:xfrm>
            <a:off x="1605848" y="4505722"/>
            <a:ext cx="7029600" cy="624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h71b1cc9d41bba454_0_35"/>
          <p:cNvSpPr/>
          <p:nvPr/>
        </p:nvSpPr>
        <p:spPr>
          <a:xfrm>
            <a:off x="1640139" y="4546870"/>
            <a:ext cx="6961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lang="ca" sz="900">
                <a:solidFill>
                  <a:srgbClr val="1A2836"/>
                </a:solidFill>
              </a:rPr>
              <a:t>Això és per més endavant quan sabeu gestionar usuaris i grups. Crear un usuari2, feu login amb aquest usuari2 i vas a la carpeta /tmp/usuari i fas ls -al i mires si veus el fitxer ocult.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6" name="Google Shape;1176;h71b1cc9d41bba454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5950" y="2684738"/>
            <a:ext cx="2555392" cy="28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183" name="Google Shape;1183;p33"/>
          <p:cNvSpPr/>
          <p:nvPr/>
        </p:nvSpPr>
        <p:spPr>
          <a:xfrm>
            <a:off x="8346408" y="123444"/>
            <a:ext cx="61800" cy="61800"/>
          </a:xfrm>
          <a:prstGeom prst="ellipse">
            <a:avLst/>
          </a:prstGeom>
          <a:solidFill>
            <a:srgbClr val="A7CEF6"/>
          </a:solidFill>
          <a:ln cap="flat" cmpd="sng" w="9525">
            <a:solidFill>
              <a:srgbClr val="A7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3"/>
          <p:cNvSpPr/>
          <p:nvPr/>
        </p:nvSpPr>
        <p:spPr>
          <a:xfrm>
            <a:off x="8483572" y="123444"/>
            <a:ext cx="61800" cy="61800"/>
          </a:xfrm>
          <a:prstGeom prst="ellipse">
            <a:avLst/>
          </a:prstGeom>
          <a:solidFill>
            <a:srgbClr val="A7CEF6"/>
          </a:solidFill>
          <a:ln cap="flat" cmpd="sng" w="9525">
            <a:solidFill>
              <a:srgbClr val="A7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3"/>
          <p:cNvSpPr/>
          <p:nvPr/>
        </p:nvSpPr>
        <p:spPr>
          <a:xfrm>
            <a:off x="8620736" y="123444"/>
            <a:ext cx="61800" cy="6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3"/>
          <p:cNvSpPr/>
          <p:nvPr/>
        </p:nvSpPr>
        <p:spPr>
          <a:xfrm>
            <a:off x="548650" y="315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3 · 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Permisos de fitxers i directoris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3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20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3"/>
          <p:cNvSpPr/>
          <p:nvPr/>
        </p:nvSpPr>
        <p:spPr>
          <a:xfrm>
            <a:off x="514364" y="1337310"/>
            <a:ext cx="1097400" cy="531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33"/>
          <p:cNvSpPr/>
          <p:nvPr/>
        </p:nvSpPr>
        <p:spPr>
          <a:xfrm>
            <a:off x="541796" y="1371600"/>
            <a:ext cx="1042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1190" name="Google Shape;1190;p33"/>
          <p:cNvSpPr/>
          <p:nvPr/>
        </p:nvSpPr>
        <p:spPr>
          <a:xfrm>
            <a:off x="1611673" y="1337310"/>
            <a:ext cx="7029600" cy="531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3"/>
          <p:cNvSpPr/>
          <p:nvPr/>
        </p:nvSpPr>
        <p:spPr>
          <a:xfrm>
            <a:off x="1639106" y="1371600"/>
            <a:ext cx="6974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Tasques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1192" name="Google Shape;1192;p33"/>
          <p:cNvSpPr/>
          <p:nvPr/>
        </p:nvSpPr>
        <p:spPr>
          <a:xfrm>
            <a:off x="514364" y="1868805"/>
            <a:ext cx="1097400" cy="53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33"/>
          <p:cNvSpPr/>
          <p:nvPr/>
        </p:nvSpPr>
        <p:spPr>
          <a:xfrm>
            <a:off x="548655" y="1909953"/>
            <a:ext cx="1028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3"/>
          <p:cNvSpPr/>
          <p:nvPr/>
        </p:nvSpPr>
        <p:spPr>
          <a:xfrm>
            <a:off x="1611673" y="1868805"/>
            <a:ext cx="7029600" cy="53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33"/>
          <p:cNvSpPr/>
          <p:nvPr/>
        </p:nvSpPr>
        <p:spPr>
          <a:xfrm>
            <a:off x="1645964" y="1909953"/>
            <a:ext cx="69612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Torneu a /home/&lt;usuari&gt;/capitol5, poseu umask 002 i creeu la carpeta docpersonal amb permisos 700.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3"/>
          <p:cNvSpPr/>
          <p:nvPr/>
        </p:nvSpPr>
        <p:spPr>
          <a:xfrm>
            <a:off x="514364" y="2400300"/>
            <a:ext cx="1097400" cy="53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3"/>
          <p:cNvSpPr/>
          <p:nvPr/>
        </p:nvSpPr>
        <p:spPr>
          <a:xfrm>
            <a:off x="548655" y="2441448"/>
            <a:ext cx="1028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lang="ca" sz="863">
                <a:solidFill>
                  <a:srgbClr val="1A2836"/>
                </a:solidFill>
              </a:rPr>
              <a:t>2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3"/>
          <p:cNvSpPr/>
          <p:nvPr/>
        </p:nvSpPr>
        <p:spPr>
          <a:xfrm>
            <a:off x="1611673" y="2400300"/>
            <a:ext cx="7029600" cy="53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33"/>
          <p:cNvSpPr/>
          <p:nvPr/>
        </p:nvSpPr>
        <p:spPr>
          <a:xfrm>
            <a:off x="1645964" y="2441448"/>
            <a:ext cx="69612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Creeu les carpetes fica, ficb, ficc i ficd dins l</a:t>
            </a:r>
            <a:r>
              <a:rPr lang="ca" sz="863">
                <a:solidFill>
                  <a:srgbClr val="1A2836"/>
                </a:solidFill>
              </a:rPr>
              <a:t>’esmentada carpeta </a:t>
            </a: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docpersonal i llist</a:t>
            </a:r>
            <a:r>
              <a:rPr lang="ca" sz="863">
                <a:solidFill>
                  <a:srgbClr val="1A2836"/>
                </a:solidFill>
              </a:rPr>
              <a:t>e</a:t>
            </a: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u en format detallat.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3"/>
          <p:cNvSpPr/>
          <p:nvPr/>
        </p:nvSpPr>
        <p:spPr>
          <a:xfrm>
            <a:off x="514364" y="2931795"/>
            <a:ext cx="1097400" cy="53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850"/>
              <a:t>   3</a:t>
            </a:r>
            <a:endParaRPr sz="850"/>
          </a:p>
        </p:txBody>
      </p:sp>
      <p:sp>
        <p:nvSpPr>
          <p:cNvPr id="1201" name="Google Shape;1201;p33"/>
          <p:cNvSpPr/>
          <p:nvPr/>
        </p:nvSpPr>
        <p:spPr>
          <a:xfrm>
            <a:off x="1611673" y="2931795"/>
            <a:ext cx="7029600" cy="53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3"/>
          <p:cNvSpPr/>
          <p:nvPr/>
        </p:nvSpPr>
        <p:spPr>
          <a:xfrm>
            <a:off x="1645964" y="2972943"/>
            <a:ext cx="69612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lang="ca" sz="863">
                <a:solidFill>
                  <a:schemeClr val="dk1"/>
                </a:solidFill>
              </a:rPr>
              <a:t>Canvieu els permisos de fica a 755, de ficb a 700, de ficc a 750 i de ficd a 777. Comproveu el resultat amb ls -ld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3"/>
          <p:cNvSpPr/>
          <p:nvPr/>
        </p:nvSpPr>
        <p:spPr>
          <a:xfrm>
            <a:off x="514364" y="3463290"/>
            <a:ext cx="1097400" cy="53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3"/>
          <p:cNvSpPr/>
          <p:nvPr/>
        </p:nvSpPr>
        <p:spPr>
          <a:xfrm>
            <a:off x="548655" y="3504438"/>
            <a:ext cx="1028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lang="ca" sz="863">
                <a:solidFill>
                  <a:srgbClr val="1A2836"/>
                </a:solidFill>
              </a:rPr>
              <a:t>4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3"/>
          <p:cNvSpPr/>
          <p:nvPr/>
        </p:nvSpPr>
        <p:spPr>
          <a:xfrm>
            <a:off x="1611673" y="3463290"/>
            <a:ext cx="7029600" cy="53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33"/>
          <p:cNvSpPr/>
          <p:nvPr/>
        </p:nvSpPr>
        <p:spPr>
          <a:xfrm>
            <a:off x="1645964" y="3504438"/>
            <a:ext cx="69612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lang="ca" sz="863">
                <a:solidFill>
                  <a:srgbClr val="1A2836"/>
                </a:solidFill>
              </a:rPr>
              <a:t>Dins de fica, creeu el fitxer prova.txt. Comproveu els seus permisos. Després canvieu-los a 600 i finalment a 644. En cada cas, expliqueu quins permisos té cada tipus d’usuari sobre el fitxer.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3"/>
          <p:cNvSpPr/>
          <p:nvPr/>
        </p:nvSpPr>
        <p:spPr>
          <a:xfrm>
            <a:off x="514364" y="3994785"/>
            <a:ext cx="1097400" cy="53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3"/>
          <p:cNvSpPr/>
          <p:nvPr/>
        </p:nvSpPr>
        <p:spPr>
          <a:xfrm>
            <a:off x="1611673" y="3994785"/>
            <a:ext cx="7029600" cy="5316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h71b1cc9d41bba454_0_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215" name="Google Shape;1215;h71b1cc9d41bba454_0_62"/>
          <p:cNvSpPr/>
          <p:nvPr/>
        </p:nvSpPr>
        <p:spPr>
          <a:xfrm>
            <a:off x="8346408" y="123444"/>
            <a:ext cx="61800" cy="61800"/>
          </a:xfrm>
          <a:prstGeom prst="ellipse">
            <a:avLst/>
          </a:prstGeom>
          <a:solidFill>
            <a:srgbClr val="A7CEF6"/>
          </a:solidFill>
          <a:ln cap="flat" cmpd="sng" w="9525">
            <a:solidFill>
              <a:srgbClr val="A7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h71b1cc9d41bba454_0_62"/>
          <p:cNvSpPr/>
          <p:nvPr/>
        </p:nvSpPr>
        <p:spPr>
          <a:xfrm>
            <a:off x="8483572" y="123444"/>
            <a:ext cx="61800" cy="61800"/>
          </a:xfrm>
          <a:prstGeom prst="ellipse">
            <a:avLst/>
          </a:prstGeom>
          <a:solidFill>
            <a:srgbClr val="A7CEF6"/>
          </a:solidFill>
          <a:ln cap="flat" cmpd="sng" w="9525">
            <a:solidFill>
              <a:srgbClr val="A7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h71b1cc9d41bba454_0_62"/>
          <p:cNvSpPr/>
          <p:nvPr/>
        </p:nvSpPr>
        <p:spPr>
          <a:xfrm>
            <a:off x="8620736" y="123444"/>
            <a:ext cx="61800" cy="6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h71b1cc9d41bba454_0_62"/>
          <p:cNvSpPr/>
          <p:nvPr/>
        </p:nvSpPr>
        <p:spPr>
          <a:xfrm>
            <a:off x="548650" y="315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3 ·  Soluci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ó Permisos de fitxers i directoris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h71b1cc9d41bba454_0_62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20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h71b1cc9d41bba454_0_62"/>
          <p:cNvSpPr/>
          <p:nvPr/>
        </p:nvSpPr>
        <p:spPr>
          <a:xfrm>
            <a:off x="514364" y="1337310"/>
            <a:ext cx="1097400" cy="531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h71b1cc9d41bba454_0_62"/>
          <p:cNvSpPr/>
          <p:nvPr/>
        </p:nvSpPr>
        <p:spPr>
          <a:xfrm>
            <a:off x="541796" y="1371600"/>
            <a:ext cx="1042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1222" name="Google Shape;1222;h71b1cc9d41bba454_0_62"/>
          <p:cNvSpPr/>
          <p:nvPr/>
        </p:nvSpPr>
        <p:spPr>
          <a:xfrm>
            <a:off x="1611673" y="1337310"/>
            <a:ext cx="7029600" cy="5316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h71b1cc9d41bba454_0_62"/>
          <p:cNvSpPr/>
          <p:nvPr/>
        </p:nvSpPr>
        <p:spPr>
          <a:xfrm>
            <a:off x="1639106" y="1371600"/>
            <a:ext cx="6974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1400">
                <a:solidFill>
                  <a:schemeClr val="lt1"/>
                </a:solidFill>
              </a:rPr>
              <a:t>Solució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1224" name="Google Shape;1224;h71b1cc9d41bba454_0_62"/>
          <p:cNvSpPr/>
          <p:nvPr/>
        </p:nvSpPr>
        <p:spPr>
          <a:xfrm>
            <a:off x="514375" y="1868792"/>
            <a:ext cx="1097400" cy="1342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h71b1cc9d41bba454_0_62"/>
          <p:cNvSpPr/>
          <p:nvPr/>
        </p:nvSpPr>
        <p:spPr>
          <a:xfrm>
            <a:off x="548666" y="1972701"/>
            <a:ext cx="10287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h71b1cc9d41bba454_0_62"/>
          <p:cNvSpPr/>
          <p:nvPr/>
        </p:nvSpPr>
        <p:spPr>
          <a:xfrm>
            <a:off x="1611683" y="1868792"/>
            <a:ext cx="7029600" cy="13425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h71b1cc9d41bba454_0_62"/>
          <p:cNvSpPr/>
          <p:nvPr/>
        </p:nvSpPr>
        <p:spPr>
          <a:xfrm>
            <a:off x="1645974" y="1972701"/>
            <a:ext cx="69612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Torneu a /home/&lt;usuari&gt;/capitol5, poseu umask 002 i creeu docpersonal amb permisos 700.</a:t>
            </a:r>
            <a:endParaRPr b="0" i="0" sz="863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cd /home/usuari/capitol5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pwd ( per assegurar-me on soc)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umask 0002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 docpersonal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chmod 700 docpersonal</a:t>
            </a:r>
            <a:endParaRPr sz="863">
              <a:solidFill>
                <a:srgbClr val="1A2836"/>
              </a:solidFill>
            </a:endParaRPr>
          </a:p>
        </p:txBody>
      </p:sp>
      <p:sp>
        <p:nvSpPr>
          <p:cNvPr id="1228" name="Google Shape;1228;h71b1cc9d41bba454_0_62"/>
          <p:cNvSpPr/>
          <p:nvPr/>
        </p:nvSpPr>
        <p:spPr>
          <a:xfrm>
            <a:off x="508550" y="3281875"/>
            <a:ext cx="1097400" cy="173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h71b1cc9d41bba454_0_62"/>
          <p:cNvSpPr/>
          <p:nvPr/>
        </p:nvSpPr>
        <p:spPr>
          <a:xfrm>
            <a:off x="542841" y="3415902"/>
            <a:ext cx="10287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lang="ca" sz="863">
                <a:solidFill>
                  <a:srgbClr val="1A2836"/>
                </a:solidFill>
              </a:rPr>
              <a:t>2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h71b1cc9d41bba454_0_62"/>
          <p:cNvSpPr/>
          <p:nvPr/>
        </p:nvSpPr>
        <p:spPr>
          <a:xfrm>
            <a:off x="1605858" y="3281875"/>
            <a:ext cx="7029600" cy="17316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h71b1cc9d41bba454_0_62"/>
          <p:cNvSpPr/>
          <p:nvPr/>
        </p:nvSpPr>
        <p:spPr>
          <a:xfrm>
            <a:off x="1640150" y="3415900"/>
            <a:ext cx="6961200" cy="16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Creeu fica, ficb, ficc i ficd dins docpersonal i llist</a:t>
            </a:r>
            <a:r>
              <a:rPr lang="ca" sz="863">
                <a:solidFill>
                  <a:srgbClr val="1A2836"/>
                </a:solidFill>
              </a:rPr>
              <a:t>eu</a:t>
            </a: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 en format detallat.</a:t>
            </a:r>
            <a:endParaRPr b="0" i="0" sz="863" u="none" cap="none" strike="noStrike">
              <a:solidFill>
                <a:srgbClr val="1A28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1" lang="ca" sz="863">
                <a:solidFill>
                  <a:srgbClr val="1A2836"/>
                </a:solidFill>
              </a:rPr>
              <a:t>$ cd docpersonal</a:t>
            </a:r>
            <a:endParaRPr b="1" sz="863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pwd ( per assegurar-me on soc) -&gt; des de dintre de capitol5 i dintre de la carpeta docpersonal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 fica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 ficb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 ficc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mkdir ficd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ls -l</a:t>
            </a:r>
            <a:endParaRPr sz="863">
              <a:solidFill>
                <a:srgbClr val="1A2836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h71b1cc9d41bba454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238" name="Google Shape;1238;h71b1cc9d41bba454_1_0"/>
          <p:cNvSpPr/>
          <p:nvPr/>
        </p:nvSpPr>
        <p:spPr>
          <a:xfrm>
            <a:off x="8346408" y="123444"/>
            <a:ext cx="61800" cy="61800"/>
          </a:xfrm>
          <a:prstGeom prst="ellipse">
            <a:avLst/>
          </a:prstGeom>
          <a:solidFill>
            <a:srgbClr val="A7CEF6"/>
          </a:solidFill>
          <a:ln cap="flat" cmpd="sng" w="9525">
            <a:solidFill>
              <a:srgbClr val="A7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h71b1cc9d41bba454_1_0"/>
          <p:cNvSpPr/>
          <p:nvPr/>
        </p:nvSpPr>
        <p:spPr>
          <a:xfrm>
            <a:off x="8483572" y="123444"/>
            <a:ext cx="61800" cy="61800"/>
          </a:xfrm>
          <a:prstGeom prst="ellipse">
            <a:avLst/>
          </a:prstGeom>
          <a:solidFill>
            <a:srgbClr val="A7CEF6"/>
          </a:solidFill>
          <a:ln cap="flat" cmpd="sng" w="9525">
            <a:solidFill>
              <a:srgbClr val="A7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h71b1cc9d41bba454_1_0"/>
          <p:cNvSpPr/>
          <p:nvPr/>
        </p:nvSpPr>
        <p:spPr>
          <a:xfrm>
            <a:off x="8620736" y="123444"/>
            <a:ext cx="61800" cy="6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h71b1cc9d41bba454_1_0"/>
          <p:cNvSpPr/>
          <p:nvPr/>
        </p:nvSpPr>
        <p:spPr>
          <a:xfrm>
            <a:off x="548650" y="315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3 ·  Solució Permisos de fitxers i directoris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h71b1cc9d41bba454_1_0"/>
          <p:cNvSpPr/>
          <p:nvPr/>
        </p:nvSpPr>
        <p:spPr>
          <a:xfrm>
            <a:off x="384058" y="91211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Durada estimada: 20 minuts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h71b1cc9d41bba454_1_0"/>
          <p:cNvSpPr/>
          <p:nvPr/>
        </p:nvSpPr>
        <p:spPr>
          <a:xfrm>
            <a:off x="511464" y="1215700"/>
            <a:ext cx="1097400" cy="5490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h71b1cc9d41bba454_1_0"/>
          <p:cNvSpPr/>
          <p:nvPr/>
        </p:nvSpPr>
        <p:spPr>
          <a:xfrm>
            <a:off x="538896" y="1251109"/>
            <a:ext cx="1042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1245" name="Google Shape;1245;h71b1cc9d41bba454_1_0"/>
          <p:cNvSpPr/>
          <p:nvPr/>
        </p:nvSpPr>
        <p:spPr>
          <a:xfrm>
            <a:off x="1608772" y="1215700"/>
            <a:ext cx="7029600" cy="549000"/>
          </a:xfrm>
          <a:prstGeom prst="rect">
            <a:avLst/>
          </a:prstGeom>
          <a:solidFill>
            <a:srgbClr val="123E6D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h71b1cc9d41bba454_1_0"/>
          <p:cNvSpPr/>
          <p:nvPr/>
        </p:nvSpPr>
        <p:spPr>
          <a:xfrm>
            <a:off x="1636205" y="1251109"/>
            <a:ext cx="6974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1400">
                <a:solidFill>
                  <a:schemeClr val="lt1"/>
                </a:solidFill>
              </a:rPr>
              <a:t>Solució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1247" name="Google Shape;1247;h71b1cc9d41bba454_1_0"/>
          <p:cNvSpPr/>
          <p:nvPr/>
        </p:nvSpPr>
        <p:spPr>
          <a:xfrm>
            <a:off x="511475" y="1764537"/>
            <a:ext cx="1097400" cy="13863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h71b1cc9d41bba454_1_0"/>
          <p:cNvSpPr/>
          <p:nvPr/>
        </p:nvSpPr>
        <p:spPr>
          <a:xfrm>
            <a:off x="545766" y="1871838"/>
            <a:ext cx="10287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h71b1cc9d41bba454_1_0"/>
          <p:cNvSpPr/>
          <p:nvPr/>
        </p:nvSpPr>
        <p:spPr>
          <a:xfrm>
            <a:off x="1608782" y="1764537"/>
            <a:ext cx="7029600" cy="1386300"/>
          </a:xfrm>
          <a:prstGeom prst="rect">
            <a:avLst/>
          </a:prstGeom>
          <a:solidFill>
            <a:srgbClr val="F4FA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h71b1cc9d41bba454_1_0"/>
          <p:cNvSpPr/>
          <p:nvPr/>
        </p:nvSpPr>
        <p:spPr>
          <a:xfrm>
            <a:off x="1643073" y="1871838"/>
            <a:ext cx="69612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t/>
            </a:r>
            <a:endParaRPr sz="863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pwd -&gt; per saber on estem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chmod 755 fica 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chmod 700 ficb 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chmod 750 ficc 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chmod 777 ficd 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ls -ld fica ficb ficc ficd</a:t>
            </a:r>
            <a:endParaRPr sz="863">
              <a:solidFill>
                <a:srgbClr val="1A2836"/>
              </a:solidFill>
            </a:endParaRPr>
          </a:p>
        </p:txBody>
      </p:sp>
      <p:sp>
        <p:nvSpPr>
          <p:cNvPr id="1251" name="Google Shape;1251;h71b1cc9d41bba454_1_0"/>
          <p:cNvSpPr/>
          <p:nvPr/>
        </p:nvSpPr>
        <p:spPr>
          <a:xfrm>
            <a:off x="505650" y="3223761"/>
            <a:ext cx="1097400" cy="1833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h71b1cc9d41bba454_1_0"/>
          <p:cNvSpPr/>
          <p:nvPr/>
        </p:nvSpPr>
        <p:spPr>
          <a:xfrm>
            <a:off x="539941" y="3365638"/>
            <a:ext cx="10287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h71b1cc9d41bba454_1_0"/>
          <p:cNvSpPr/>
          <p:nvPr/>
        </p:nvSpPr>
        <p:spPr>
          <a:xfrm>
            <a:off x="1602955" y="3223761"/>
            <a:ext cx="7029600" cy="1833000"/>
          </a:xfrm>
          <a:prstGeom prst="rect">
            <a:avLst/>
          </a:prstGeom>
          <a:solidFill>
            <a:srgbClr val="EAF4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h71b1cc9d41bba454_1_0"/>
          <p:cNvSpPr/>
          <p:nvPr/>
        </p:nvSpPr>
        <p:spPr>
          <a:xfrm>
            <a:off x="1637246" y="3365638"/>
            <a:ext cx="69612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pwd -&gt; per saber on estem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cd fica</a:t>
            </a:r>
            <a:br>
              <a:rPr b="1" lang="ca" sz="900">
                <a:solidFill>
                  <a:srgbClr val="1A2836"/>
                </a:solidFill>
              </a:rPr>
            </a:br>
            <a:r>
              <a:rPr b="1" lang="ca" sz="900">
                <a:solidFill>
                  <a:srgbClr val="1A2836"/>
                </a:solidFill>
              </a:rPr>
              <a:t>$ touch prova.txt</a:t>
            </a:r>
            <a:br>
              <a:rPr b="1" lang="ca" sz="900">
                <a:solidFill>
                  <a:srgbClr val="1A2836"/>
                </a:solidFill>
              </a:rPr>
            </a:br>
            <a:r>
              <a:rPr b="1" lang="ca" sz="900">
                <a:solidFill>
                  <a:srgbClr val="1A2836"/>
                </a:solidFill>
              </a:rPr>
              <a:t>$ ls -l</a:t>
            </a:r>
            <a:br>
              <a:rPr b="1" lang="ca" sz="900">
                <a:solidFill>
                  <a:srgbClr val="1A2836"/>
                </a:solidFill>
              </a:rPr>
            </a:br>
            <a:r>
              <a:rPr b="1" lang="ca" sz="900">
                <a:solidFill>
                  <a:srgbClr val="1A2836"/>
                </a:solidFill>
              </a:rPr>
              <a:t>$ chmod 600 prova.txt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1A2836"/>
                </a:solidFill>
              </a:rPr>
              <a:t>$ ls -l</a:t>
            </a:r>
            <a:br>
              <a:rPr b="1" lang="ca" sz="900">
                <a:solidFill>
                  <a:srgbClr val="1A2836"/>
                </a:solidFill>
              </a:rPr>
            </a:br>
            <a:r>
              <a:rPr b="1" lang="ca" sz="900">
                <a:solidFill>
                  <a:srgbClr val="1A2836"/>
                </a:solidFill>
              </a:rPr>
              <a:t>$ chmod 644 prova.txt</a:t>
            </a:r>
            <a:br>
              <a:rPr b="1" lang="ca" sz="900">
                <a:solidFill>
                  <a:srgbClr val="1A2836"/>
                </a:solidFill>
              </a:rPr>
            </a:br>
            <a:r>
              <a:rPr b="1" lang="ca" sz="900">
                <a:solidFill>
                  <a:srgbClr val="1A2836"/>
                </a:solidFill>
              </a:rPr>
              <a:t>$ ls -l </a:t>
            </a:r>
            <a:endParaRPr b="1" sz="900">
              <a:solidFill>
                <a:srgbClr val="1A2836"/>
              </a:solidFill>
            </a:endParaRPr>
          </a:p>
          <a:p>
            <a:pPr indent="0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t/>
            </a:r>
            <a:endParaRPr sz="863">
              <a:solidFill>
                <a:srgbClr val="1A2836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hc3dfbce1ed3d8fc_0_1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261" name="Google Shape;1261;hc3dfbce1ed3d8fc_0_188"/>
          <p:cNvSpPr/>
          <p:nvPr/>
        </p:nvSpPr>
        <p:spPr>
          <a:xfrm>
            <a:off x="548650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Annex I: Gestionar usuaris a linux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hc3dfbce1ed3d8fc_0_188"/>
          <p:cNvSpPr/>
          <p:nvPr/>
        </p:nvSpPr>
        <p:spPr>
          <a:xfrm>
            <a:off x="548655" y="120015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hc3dfbce1ed3d8fc_0_188"/>
          <p:cNvSpPr/>
          <p:nvPr/>
        </p:nvSpPr>
        <p:spPr>
          <a:xfrm>
            <a:off x="672102" y="135102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hc3dfbce1ed3d8fc_0_188"/>
          <p:cNvSpPr/>
          <p:nvPr/>
        </p:nvSpPr>
        <p:spPr>
          <a:xfrm>
            <a:off x="672102" y="140589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hc3dfbce1ed3d8fc_0_188"/>
          <p:cNvSpPr/>
          <p:nvPr/>
        </p:nvSpPr>
        <p:spPr>
          <a:xfrm>
            <a:off x="1131600" y="137160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hc3dfbce1ed3d8fc_0_188"/>
          <p:cNvSpPr/>
          <p:nvPr/>
        </p:nvSpPr>
        <p:spPr>
          <a:xfrm>
            <a:off x="1172749" y="142646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🖥️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hc3dfbce1ed3d8fc_0_188"/>
          <p:cNvSpPr/>
          <p:nvPr/>
        </p:nvSpPr>
        <p:spPr>
          <a:xfrm>
            <a:off x="1591098" y="132359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Obrir Configuració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hc3dfbce1ed3d8fc_0_188"/>
          <p:cNvSpPr/>
          <p:nvPr/>
        </p:nvSpPr>
        <p:spPr>
          <a:xfrm>
            <a:off x="1591098" y="154305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Menú del sistema → Configuració.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hc3dfbce1ed3d8fc_0_188"/>
          <p:cNvSpPr/>
          <p:nvPr/>
        </p:nvSpPr>
        <p:spPr>
          <a:xfrm>
            <a:off x="548655" y="226314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hc3dfbce1ed3d8fc_0_188"/>
          <p:cNvSpPr/>
          <p:nvPr/>
        </p:nvSpPr>
        <p:spPr>
          <a:xfrm>
            <a:off x="672102" y="241401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hc3dfbce1ed3d8fc_0_188"/>
          <p:cNvSpPr/>
          <p:nvPr/>
        </p:nvSpPr>
        <p:spPr>
          <a:xfrm>
            <a:off x="672102" y="246888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hc3dfbce1ed3d8fc_0_188"/>
          <p:cNvSpPr/>
          <p:nvPr/>
        </p:nvSpPr>
        <p:spPr>
          <a:xfrm>
            <a:off x="1131600" y="243459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hc3dfbce1ed3d8fc_0_188"/>
          <p:cNvSpPr/>
          <p:nvPr/>
        </p:nvSpPr>
        <p:spPr>
          <a:xfrm>
            <a:off x="1172749" y="248945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🖥️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hc3dfbce1ed3d8fc_0_188"/>
          <p:cNvSpPr/>
          <p:nvPr/>
        </p:nvSpPr>
        <p:spPr>
          <a:xfrm>
            <a:off x="1591098" y="238658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Entrar a Usuaris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hc3dfbce1ed3d8fc_0_188"/>
          <p:cNvSpPr/>
          <p:nvPr/>
        </p:nvSpPr>
        <p:spPr>
          <a:xfrm>
            <a:off x="1591098" y="260604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Apartat Usuaris o Comptes d’usuari.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hc3dfbce1ed3d8fc_0_188"/>
          <p:cNvSpPr/>
          <p:nvPr/>
        </p:nvSpPr>
        <p:spPr>
          <a:xfrm>
            <a:off x="548655" y="332613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hc3dfbce1ed3d8fc_0_188"/>
          <p:cNvSpPr/>
          <p:nvPr/>
        </p:nvSpPr>
        <p:spPr>
          <a:xfrm>
            <a:off x="672102" y="347700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hc3dfbce1ed3d8fc_0_188"/>
          <p:cNvSpPr/>
          <p:nvPr/>
        </p:nvSpPr>
        <p:spPr>
          <a:xfrm>
            <a:off x="672102" y="353187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hc3dfbce1ed3d8fc_0_188"/>
          <p:cNvSpPr/>
          <p:nvPr/>
        </p:nvSpPr>
        <p:spPr>
          <a:xfrm>
            <a:off x="1131600" y="349758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hc3dfbce1ed3d8fc_0_188"/>
          <p:cNvSpPr/>
          <p:nvPr/>
        </p:nvSpPr>
        <p:spPr>
          <a:xfrm>
            <a:off x="1172749" y="355244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🖥️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hc3dfbce1ed3d8fc_0_188"/>
          <p:cNvSpPr/>
          <p:nvPr/>
        </p:nvSpPr>
        <p:spPr>
          <a:xfrm>
            <a:off x="1591098" y="344957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Desbloquejar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hc3dfbce1ed3d8fc_0_188"/>
          <p:cNvSpPr/>
          <p:nvPr/>
        </p:nvSpPr>
        <p:spPr>
          <a:xfrm>
            <a:off x="1591098" y="366903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Clic a “Desbloqueja” i escriure la contrasenya d’administrador.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hc3dfbce1ed3d8fc_0_188"/>
          <p:cNvSpPr/>
          <p:nvPr/>
        </p:nvSpPr>
        <p:spPr>
          <a:xfrm>
            <a:off x="4697855" y="120015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hc3dfbce1ed3d8fc_0_188"/>
          <p:cNvSpPr/>
          <p:nvPr/>
        </p:nvSpPr>
        <p:spPr>
          <a:xfrm>
            <a:off x="4821303" y="135102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hc3dfbce1ed3d8fc_0_188"/>
          <p:cNvSpPr/>
          <p:nvPr/>
        </p:nvSpPr>
        <p:spPr>
          <a:xfrm>
            <a:off x="4821303" y="140589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hc3dfbce1ed3d8fc_0_188"/>
          <p:cNvSpPr/>
          <p:nvPr/>
        </p:nvSpPr>
        <p:spPr>
          <a:xfrm>
            <a:off x="5280801" y="137160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hc3dfbce1ed3d8fc_0_188"/>
          <p:cNvSpPr/>
          <p:nvPr/>
        </p:nvSpPr>
        <p:spPr>
          <a:xfrm>
            <a:off x="5321950" y="142646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hc3dfbce1ed3d8fc_0_188"/>
          <p:cNvSpPr/>
          <p:nvPr/>
        </p:nvSpPr>
        <p:spPr>
          <a:xfrm>
            <a:off x="5740299" y="132359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Afegir usuari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hc3dfbce1ed3d8fc_0_188"/>
          <p:cNvSpPr/>
          <p:nvPr/>
        </p:nvSpPr>
        <p:spPr>
          <a:xfrm>
            <a:off x="5740299" y="154305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Botó “Afegeix usuari” o “+”.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hc3dfbce1ed3d8fc_0_188"/>
          <p:cNvSpPr/>
          <p:nvPr/>
        </p:nvSpPr>
        <p:spPr>
          <a:xfrm>
            <a:off x="4697855" y="226314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hc3dfbce1ed3d8fc_0_188"/>
          <p:cNvSpPr/>
          <p:nvPr/>
        </p:nvSpPr>
        <p:spPr>
          <a:xfrm>
            <a:off x="4821303" y="241401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hc3dfbce1ed3d8fc_0_188"/>
          <p:cNvSpPr/>
          <p:nvPr/>
        </p:nvSpPr>
        <p:spPr>
          <a:xfrm>
            <a:off x="4821303" y="246888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hc3dfbce1ed3d8fc_0_188"/>
          <p:cNvSpPr/>
          <p:nvPr/>
        </p:nvSpPr>
        <p:spPr>
          <a:xfrm>
            <a:off x="5280801" y="243459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hc3dfbce1ed3d8fc_0_188"/>
          <p:cNvSpPr/>
          <p:nvPr/>
        </p:nvSpPr>
        <p:spPr>
          <a:xfrm>
            <a:off x="5321950" y="248945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hc3dfbce1ed3d8fc_0_188"/>
          <p:cNvSpPr/>
          <p:nvPr/>
        </p:nvSpPr>
        <p:spPr>
          <a:xfrm>
            <a:off x="5740299" y="238658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Triar tipus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hc3dfbce1ed3d8fc_0_188"/>
          <p:cNvSpPr/>
          <p:nvPr/>
        </p:nvSpPr>
        <p:spPr>
          <a:xfrm>
            <a:off x="5740299" y="260604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Estàndard o administrador, segons el rol.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hc3dfbce1ed3d8fc_0_188"/>
          <p:cNvSpPr/>
          <p:nvPr/>
        </p:nvSpPr>
        <p:spPr>
          <a:xfrm>
            <a:off x="4697855" y="3326130"/>
            <a:ext cx="4046400" cy="788700"/>
          </a:xfrm>
          <a:prstGeom prst="roundRect">
            <a:avLst>
              <a:gd fmla="val 10435" name="adj"/>
            </a:avLst>
          </a:prstGeom>
          <a:solidFill>
            <a:srgbClr val="F5FA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hc3dfbce1ed3d8fc_0_188"/>
          <p:cNvSpPr/>
          <p:nvPr/>
        </p:nvSpPr>
        <p:spPr>
          <a:xfrm>
            <a:off x="4821303" y="3477006"/>
            <a:ext cx="377100" cy="377100"/>
          </a:xfrm>
          <a:prstGeom prst="ellipse">
            <a:avLst/>
          </a:prstGeom>
          <a:solidFill>
            <a:srgbClr val="0086CB"/>
          </a:solidFill>
          <a:ln cap="flat" cmpd="sng" w="9525">
            <a:solidFill>
              <a:srgbClr val="008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hc3dfbce1ed3d8fc_0_188"/>
          <p:cNvSpPr/>
          <p:nvPr/>
        </p:nvSpPr>
        <p:spPr>
          <a:xfrm>
            <a:off x="4821303" y="3531870"/>
            <a:ext cx="37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hc3dfbce1ed3d8fc_0_188"/>
          <p:cNvSpPr/>
          <p:nvPr/>
        </p:nvSpPr>
        <p:spPr>
          <a:xfrm>
            <a:off x="5280801" y="3497580"/>
            <a:ext cx="425100" cy="425100"/>
          </a:xfrm>
          <a:prstGeom prst="ellipse">
            <a:avLst/>
          </a:prstGeom>
          <a:solidFill>
            <a:srgbClr val="E3F0FD"/>
          </a:solidFill>
          <a:ln cap="flat" cmpd="sng" w="9525">
            <a:solidFill>
              <a:srgbClr val="E3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hc3dfbce1ed3d8fc_0_188"/>
          <p:cNvSpPr/>
          <p:nvPr/>
        </p:nvSpPr>
        <p:spPr>
          <a:xfrm>
            <a:off x="5321950" y="3552444"/>
            <a:ext cx="342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350"/>
              <a:buFont typeface="Quattrocento Sans"/>
              <a:buNone/>
            </a:pPr>
            <a:r>
              <a:rPr b="0" i="0" lang="ca" sz="1350" u="none" cap="none" strike="noStrike">
                <a:solidFill>
                  <a:srgbClr val="123E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hc3dfbce1ed3d8fc_0_188"/>
          <p:cNvSpPr/>
          <p:nvPr/>
        </p:nvSpPr>
        <p:spPr>
          <a:xfrm>
            <a:off x="5740299" y="3449574"/>
            <a:ext cx="2777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Crear contrasenya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hc3dfbce1ed3d8fc_0_188"/>
          <p:cNvSpPr/>
          <p:nvPr/>
        </p:nvSpPr>
        <p:spPr>
          <a:xfrm>
            <a:off x="5740299" y="3669030"/>
            <a:ext cx="277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Definir contrasenya i comprovar que pot iniciar sessió.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hc3dfbce1ed3d8fc_0_188"/>
          <p:cNvSpPr/>
          <p:nvPr/>
        </p:nvSpPr>
        <p:spPr>
          <a:xfrm>
            <a:off x="685818" y="4491990"/>
            <a:ext cx="7818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27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4E6276"/>
                </a:solidFill>
                <a:latin typeface="Arial"/>
                <a:ea typeface="Arial"/>
                <a:cs typeface="Arial"/>
                <a:sym typeface="Arial"/>
              </a:rPr>
              <a:t>Nota: segons la distribució Linux, els noms exactes dels menús poden variar.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hc3dfbce1ed3d8fc_0_188"/>
          <p:cNvSpPr/>
          <p:nvPr/>
        </p:nvSpPr>
        <p:spPr>
          <a:xfrm>
            <a:off x="410250" y="883925"/>
            <a:ext cx="8323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lang="ca" sz="1125">
                <a:solidFill>
                  <a:srgbClr val="123E6D"/>
                </a:solidFill>
              </a:rPr>
              <a:t>Per gestionar usuaris i grups a Linux/Ubuntu , faig un spoiler del que veureu a Sistemes operatius: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12" name="Google Shape;1312;p20"/>
          <p:cNvSpPr/>
          <p:nvPr/>
        </p:nvSpPr>
        <p:spPr>
          <a:xfrm>
            <a:off x="548650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Annex I: Gestionar usuaris a linux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0"/>
          <p:cNvSpPr/>
          <p:nvPr/>
        </p:nvSpPr>
        <p:spPr>
          <a:xfrm>
            <a:off x="662843" y="4729090"/>
            <a:ext cx="7818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27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4E6276"/>
                </a:solidFill>
                <a:latin typeface="Arial"/>
                <a:ea typeface="Arial"/>
                <a:cs typeface="Arial"/>
                <a:sym typeface="Arial"/>
              </a:rPr>
              <a:t>Nota: segons la distribució Linux, els noms exactes dels menús poden variar.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20"/>
          <p:cNvSpPr/>
          <p:nvPr/>
        </p:nvSpPr>
        <p:spPr>
          <a:xfrm>
            <a:off x="410250" y="981200"/>
            <a:ext cx="8323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lang="ca" sz="1125">
                <a:solidFill>
                  <a:srgbClr val="123E6D"/>
                </a:solidFill>
              </a:rPr>
              <a:t>Per gestionar usuaris i grups a Linux/Ubuntu , faig un spoiler del que veureu a Sistemes operatius. Comencem amb </a:t>
            </a:r>
            <a:r>
              <a:rPr lang="ca" sz="1125">
                <a:solidFill>
                  <a:srgbClr val="123E6D"/>
                </a:solidFill>
              </a:rPr>
              <a:t>interfície</a:t>
            </a:r>
            <a:r>
              <a:rPr lang="ca" sz="1125">
                <a:solidFill>
                  <a:srgbClr val="123E6D"/>
                </a:solidFill>
              </a:rPr>
              <a:t> gr</a:t>
            </a:r>
            <a:r>
              <a:rPr lang="ca" sz="1125">
                <a:solidFill>
                  <a:srgbClr val="123E6D"/>
                </a:solidFill>
              </a:rPr>
              <a:t>àfica. Anem a dalt a la dreta de tot, al botó Tancar Sistema, i donem a una rodeta “Ajustos” :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5" name="Google Shape;13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827275"/>
            <a:ext cx="1978763" cy="18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278" y="1789975"/>
            <a:ext cx="3755364" cy="263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20"/>
          <p:cNvSpPr/>
          <p:nvPr/>
        </p:nvSpPr>
        <p:spPr>
          <a:xfrm>
            <a:off x="2541102" y="2759575"/>
            <a:ext cx="1842000" cy="32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0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00" lIns="99200" spcFirstLastPara="1" rIns="99200" wrap="square" tIns="9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9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hc3dfbce1ed3d8fc_0_2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24" name="Google Shape;1324;hc3dfbce1ed3d8fc_0_240"/>
          <p:cNvSpPr/>
          <p:nvPr/>
        </p:nvSpPr>
        <p:spPr>
          <a:xfrm>
            <a:off x="548650" y="3635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Annex I: Gestionar usuaris a linux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hc3dfbce1ed3d8fc_0_240"/>
          <p:cNvSpPr/>
          <p:nvPr/>
        </p:nvSpPr>
        <p:spPr>
          <a:xfrm>
            <a:off x="410250" y="959775"/>
            <a:ext cx="83235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lang="ca" sz="1125">
                <a:solidFill>
                  <a:srgbClr val="123E6D"/>
                </a:solidFill>
              </a:rPr>
              <a:t>Un cop anem a Usuaris, si ens surt el botó “Desbloca” és perquè no tenim prou permisos i ens hem d'autenticar com administrador.</a:t>
            </a:r>
            <a:endParaRPr sz="1125">
              <a:solidFill>
                <a:srgbClr val="123E6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lang="ca" sz="1125">
                <a:solidFill>
                  <a:srgbClr val="123E6D"/>
                </a:solidFill>
              </a:rPr>
              <a:t>Un cop fet ja s’allibera l’opció d’Afegir usuaris ( podem afegir usuaris tant amb permisos d’Administrador com no):</a:t>
            </a:r>
            <a:endParaRPr sz="1125">
              <a:solidFill>
                <a:srgbClr val="123E6D"/>
              </a:solidFill>
            </a:endParaRPr>
          </a:p>
        </p:txBody>
      </p:sp>
      <p:pic>
        <p:nvPicPr>
          <p:cNvPr id="1326" name="Google Shape;1326;hc3dfbce1ed3d8fc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50" y="1728050"/>
            <a:ext cx="3419474" cy="240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hc3dfbce1ed3d8fc_0_2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8475" y="1592550"/>
            <a:ext cx="3766801" cy="30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hc3dfbce1ed3d8fc_0_240"/>
          <p:cNvSpPr/>
          <p:nvPr/>
        </p:nvSpPr>
        <p:spPr>
          <a:xfrm>
            <a:off x="3934850" y="2853850"/>
            <a:ext cx="796500" cy="26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B"/>
        </a:solidFill>
      </p:bgPr>
    </p:bg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hc3dfbce1ed3d8fc_0_168"/>
          <p:cNvSpPr/>
          <p:nvPr/>
        </p:nvSpPr>
        <p:spPr>
          <a:xfrm>
            <a:off x="301760" y="205740"/>
            <a:ext cx="8538600" cy="630900"/>
          </a:xfrm>
          <a:prstGeom prst="roundRect">
            <a:avLst>
              <a:gd fmla="val 8696" name="adj"/>
            </a:avLst>
          </a:prstGeom>
          <a:solidFill>
            <a:srgbClr val="123B69"/>
          </a:solidFill>
          <a:ln cap="flat" cmpd="sng" w="9525">
            <a:solidFill>
              <a:srgbClr val="123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hc3dfbce1ed3d8fc_0_168"/>
          <p:cNvSpPr/>
          <p:nvPr/>
        </p:nvSpPr>
        <p:spPr>
          <a:xfrm>
            <a:off x="493789" y="336042"/>
            <a:ext cx="7475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rPr b="1" i="0" lang="c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 I : Usuaris a Linux: terminal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hc3dfbce1ed3d8fc_0_168"/>
          <p:cNvSpPr/>
          <p:nvPr/>
        </p:nvSpPr>
        <p:spPr>
          <a:xfrm>
            <a:off x="363484" y="1014984"/>
            <a:ext cx="7132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9"/>
              </a:buClr>
              <a:buSzPts val="1200"/>
              <a:buFont typeface="Arial"/>
              <a:buNone/>
            </a:pPr>
            <a:r>
              <a:rPr b="0" i="0" lang="ca" sz="1200" u="none" cap="none" strike="noStrike">
                <a:solidFill>
                  <a:srgbClr val="123B69"/>
                </a:solidFill>
                <a:latin typeface="Arial"/>
                <a:ea typeface="Arial"/>
                <a:cs typeface="Arial"/>
                <a:sym typeface="Arial"/>
              </a:rPr>
              <a:t>Aquí veiem com gestionar usuaris: crear, modificar i eliminar usuaris des del terminal.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hc3dfbce1ed3d8fc_0_168"/>
          <p:cNvSpPr/>
          <p:nvPr/>
        </p:nvSpPr>
        <p:spPr>
          <a:xfrm>
            <a:off x="342909" y="1337310"/>
            <a:ext cx="4560600" cy="3806100"/>
          </a:xfrm>
          <a:prstGeom prst="roundRect">
            <a:avLst>
              <a:gd fmla="val 1441" name="adj"/>
            </a:avLst>
          </a:prstGeom>
          <a:solidFill>
            <a:srgbClr val="0D2A45"/>
          </a:solidFill>
          <a:ln cap="flat" cmpd="sng" w="9525">
            <a:solidFill>
              <a:srgbClr val="183C5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38101">
              <a:srgbClr val="B4C6D9">
                <a:alpha val="180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hc3dfbce1ed3d8fc_0_168"/>
          <p:cNvSpPr/>
          <p:nvPr/>
        </p:nvSpPr>
        <p:spPr>
          <a:xfrm>
            <a:off x="473215" y="1440180"/>
            <a:ext cx="4266000" cy="3600600"/>
          </a:xfrm>
          <a:prstGeom prst="rect">
            <a:avLst/>
          </a:prstGeom>
          <a:solidFill>
            <a:srgbClr val="0D2A45">
              <a:alpha val="0"/>
            </a:srgbClr>
          </a:solidFill>
          <a:ln cap="flat" cmpd="sng" w="7150">
            <a:solidFill>
              <a:srgbClr val="5B759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hc3dfbce1ed3d8fc_0_168"/>
          <p:cNvSpPr/>
          <p:nvPr/>
        </p:nvSpPr>
        <p:spPr>
          <a:xfrm>
            <a:off x="473225" y="1508750"/>
            <a:ext cx="41490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Crear un usuari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adduser joan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Comprovar informació de l'usuari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id joan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getent passwd joan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Eliminar l'usuari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deluser joan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Eliminar usuari i carpeta personal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deluser --remove-home joan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hc3dfbce1ed3d8fc_0_168"/>
          <p:cNvSpPr/>
          <p:nvPr/>
        </p:nvSpPr>
        <p:spPr>
          <a:xfrm>
            <a:off x="5109346" y="1351026"/>
            <a:ext cx="3689700" cy="1885800"/>
          </a:xfrm>
          <a:prstGeom prst="roundRect">
            <a:avLst>
              <a:gd fmla="val 2909" name="adj"/>
            </a:avLst>
          </a:prstGeom>
          <a:solidFill>
            <a:srgbClr val="FFF4D5"/>
          </a:solidFill>
          <a:ln cap="flat" cmpd="sng" w="11425">
            <a:solidFill>
              <a:srgbClr val="F0C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hc3dfbce1ed3d8fc_0_168"/>
          <p:cNvSpPr/>
          <p:nvPr/>
        </p:nvSpPr>
        <p:spPr>
          <a:xfrm>
            <a:off x="5272800" y="1412610"/>
            <a:ext cx="3154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9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23B69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hc3dfbce1ed3d8fc_0_168"/>
          <p:cNvSpPr/>
          <p:nvPr/>
        </p:nvSpPr>
        <p:spPr>
          <a:xfrm>
            <a:off x="5207325" y="1844800"/>
            <a:ext cx="3548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A46"/>
              </a:buClr>
              <a:buSzPts val="1100"/>
              <a:buFont typeface="Arial"/>
              <a:buChar char="●"/>
            </a:pPr>
            <a:r>
              <a:rPr b="1" i="0" lang="ca" sz="1100" u="none" cap="none" strike="noStrike">
                <a:solidFill>
                  <a:srgbClr val="082A46"/>
                </a:solidFill>
              </a:rPr>
              <a:t>adduser</a:t>
            </a:r>
            <a:r>
              <a:rPr b="0" i="0" lang="ca" sz="1100" u="none" cap="none" strike="noStrike">
                <a:solidFill>
                  <a:srgbClr val="082A46"/>
                </a:solidFill>
                <a:latin typeface="Arial"/>
                <a:ea typeface="Arial"/>
                <a:cs typeface="Arial"/>
                <a:sym typeface="Arial"/>
              </a:rPr>
              <a:t> és més senzill i recomanable a Ubuntu.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A46"/>
              </a:buClr>
              <a:buSzPts val="1100"/>
              <a:buFont typeface="Arial"/>
              <a:buChar char="●"/>
            </a:pPr>
            <a:r>
              <a:rPr b="1" i="0" lang="ca" sz="1100" u="none" cap="none" strike="noStrike">
                <a:solidFill>
                  <a:srgbClr val="082A46"/>
                </a:solidFill>
              </a:rPr>
              <a:t>useradd</a:t>
            </a:r>
            <a:r>
              <a:rPr b="0" i="0" lang="ca" sz="1100" u="none" cap="none" strike="noStrike">
                <a:solidFill>
                  <a:srgbClr val="082A46"/>
                </a:solidFill>
                <a:latin typeface="Arial"/>
                <a:ea typeface="Arial"/>
                <a:cs typeface="Arial"/>
                <a:sym typeface="Arial"/>
              </a:rPr>
              <a:t> és més tècnic i sovint requereix opcions addicionals.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A46"/>
              </a:buClr>
              <a:buSzPts val="1100"/>
              <a:buFont typeface="Arial"/>
              <a:buChar char="●"/>
            </a:pPr>
            <a:r>
              <a:rPr b="0" i="0" lang="ca" sz="1100" u="none" cap="none" strike="noStrike">
                <a:solidFill>
                  <a:srgbClr val="082A46"/>
                </a:solidFill>
                <a:latin typeface="Arial"/>
                <a:ea typeface="Arial"/>
                <a:cs typeface="Arial"/>
                <a:sym typeface="Arial"/>
              </a:rPr>
              <a:t>Amb </a:t>
            </a:r>
            <a:r>
              <a:rPr b="1" i="0" lang="ca" sz="1100" u="none" cap="none" strike="noStrike">
                <a:solidFill>
                  <a:srgbClr val="082A46"/>
                </a:solidFill>
              </a:rPr>
              <a:t>deluser --remove-home</a:t>
            </a:r>
            <a:r>
              <a:rPr b="0" i="0" lang="ca" sz="1100" u="none" cap="none" strike="noStrike">
                <a:solidFill>
                  <a:srgbClr val="082A46"/>
                </a:solidFill>
                <a:latin typeface="Arial"/>
                <a:ea typeface="Arial"/>
                <a:cs typeface="Arial"/>
                <a:sym typeface="Arial"/>
              </a:rPr>
              <a:t> també s’esborra la</a:t>
            </a:r>
            <a:r>
              <a:rPr lang="ca" sz="1100">
                <a:solidFill>
                  <a:schemeClr val="dk1"/>
                </a:solidFill>
              </a:rPr>
              <a:t> </a:t>
            </a:r>
            <a:r>
              <a:rPr b="0" i="0" lang="ca" sz="1100" u="none" cap="none" strike="noStrike">
                <a:solidFill>
                  <a:srgbClr val="082A46"/>
                </a:solidFill>
                <a:latin typeface="Arial"/>
                <a:ea typeface="Arial"/>
                <a:cs typeface="Arial"/>
                <a:sym typeface="Arial"/>
              </a:rPr>
              <a:t>carpeta personal de l’usuari.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hc3dfbce1ed3d8fc_0_168"/>
          <p:cNvSpPr/>
          <p:nvPr/>
        </p:nvSpPr>
        <p:spPr>
          <a:xfrm>
            <a:off x="5109346" y="3387852"/>
            <a:ext cx="3689700" cy="168030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11425">
            <a:solidFill>
              <a:srgbClr val="BBD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hc3dfbce1ed3d8fc_0_168"/>
          <p:cNvSpPr/>
          <p:nvPr/>
        </p:nvSpPr>
        <p:spPr>
          <a:xfrm>
            <a:off x="5301375" y="3538728"/>
            <a:ext cx="28806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9"/>
              </a:buClr>
              <a:buSzPts val="1400"/>
              <a:buFont typeface="Arial"/>
              <a:buNone/>
            </a:pPr>
            <a:r>
              <a:rPr b="1" i="0" lang="ca" sz="1400" u="none" cap="none" strike="noStrike">
                <a:solidFill>
                  <a:srgbClr val="123B69"/>
                </a:solidFill>
                <a:latin typeface="Arial"/>
                <a:ea typeface="Arial"/>
                <a:cs typeface="Arial"/>
                <a:sym typeface="Arial"/>
              </a:rPr>
              <a:t>Debian/Ubuntu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hc3dfbce1ed3d8fc_0_168"/>
          <p:cNvSpPr/>
          <p:nvPr/>
        </p:nvSpPr>
        <p:spPr>
          <a:xfrm>
            <a:off x="5301375" y="3826764"/>
            <a:ext cx="3326400" cy="1138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hc3dfbce1ed3d8fc_0_168"/>
          <p:cNvSpPr/>
          <p:nvPr/>
        </p:nvSpPr>
        <p:spPr>
          <a:xfrm>
            <a:off x="5397390" y="3943350"/>
            <a:ext cx="31203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rgbClr val="FFFFFF"/>
                </a:solidFill>
                <a:latin typeface="Cascadia Mono"/>
                <a:ea typeface="Cascadia Mono"/>
                <a:cs typeface="Cascadia Mono"/>
                <a:sym typeface="Cascadia Mono"/>
              </a:rPr>
              <a:t>També es pot fer amb: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rgbClr val="FFFFFF"/>
                </a:solidFill>
                <a:latin typeface="Cascadia Mono"/>
                <a:ea typeface="Cascadia Mono"/>
                <a:cs typeface="Cascadia Mono"/>
                <a:sym typeface="Cascadia Mono"/>
              </a:rPr>
              <a:t>$ sudo useradd -m joan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scadia Mono"/>
              <a:buNone/>
            </a:pPr>
            <a:r>
              <a:rPr b="1" i="0" lang="ca" sz="1100" u="none" cap="none" strike="noStrike">
                <a:solidFill>
                  <a:srgbClr val="FFFFFF"/>
                </a:solidFill>
                <a:latin typeface="Cascadia Mono"/>
                <a:ea typeface="Cascadia Mono"/>
                <a:cs typeface="Cascadia Mono"/>
                <a:sym typeface="Cascadia Mono"/>
              </a:rPr>
              <a:t>$ sudo passwd joan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hc3dfbce1ed3d8fc_0_168"/>
          <p:cNvSpPr/>
          <p:nvPr/>
        </p:nvSpPr>
        <p:spPr>
          <a:xfrm>
            <a:off x="8867630" y="4985766"/>
            <a:ext cx="1716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F65"/>
              </a:buClr>
              <a:buSzPts val="1000"/>
              <a:buFont typeface="Arial"/>
              <a:buNone/>
            </a:pPr>
            <a:r>
              <a:rPr b="0" i="0" lang="ca" sz="1000" u="none" cap="none" strike="noStrike">
                <a:solidFill>
                  <a:srgbClr val="3A4F65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9"/>
          <p:cNvSpPr txBox="1"/>
          <p:nvPr>
            <p:ph idx="12" type="sldNum"/>
          </p:nvPr>
        </p:nvSpPr>
        <p:spPr>
          <a:xfrm>
            <a:off x="8472458" y="47057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54" name="Google Shape;1354;p19"/>
          <p:cNvSpPr/>
          <p:nvPr/>
        </p:nvSpPr>
        <p:spPr>
          <a:xfrm>
            <a:off x="548650" y="3273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Annex I :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Usuaris i grups a Linux: terminal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19"/>
          <p:cNvSpPr/>
          <p:nvPr/>
        </p:nvSpPr>
        <p:spPr>
          <a:xfrm>
            <a:off x="506100" y="1331750"/>
            <a:ext cx="4286400" cy="3656100"/>
          </a:xfrm>
          <a:prstGeom prst="roundRect">
            <a:avLst>
              <a:gd fmla="val 1579" name="adj"/>
            </a:avLst>
          </a:prstGeom>
          <a:solidFill>
            <a:srgbClr val="10243B"/>
          </a:solidFill>
          <a:ln cap="flat" cmpd="sng" w="9525">
            <a:solidFill>
              <a:srgbClr val="102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9"/>
          <p:cNvSpPr/>
          <p:nvPr/>
        </p:nvSpPr>
        <p:spPr>
          <a:xfrm>
            <a:off x="609000" y="1441500"/>
            <a:ext cx="4080600" cy="3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Crear un grup</a:t>
            </a:r>
            <a:endParaRPr b="1" i="0" sz="111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sudo groupadd desenvolupament</a:t>
            </a:r>
            <a:endParaRPr b="1" i="0" sz="1110" u="none" cap="none" strike="noStrike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t/>
            </a:r>
            <a:endParaRPr b="1" sz="1110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Afegir joan al grup sense treure altres grups</a:t>
            </a:r>
            <a:endParaRPr b="1" i="0" sz="111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sudo usermod -aG desenvolupament joan</a:t>
            </a:r>
            <a:endParaRPr b="1" i="0" sz="1110" u="none" cap="none" strike="noStrike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t/>
            </a:r>
            <a:endParaRPr b="1" sz="1110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Treure joan del grup</a:t>
            </a:r>
            <a:endParaRPr b="1" i="0" sz="111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sudo gpasswd -d joan desenvolupament</a:t>
            </a:r>
            <a:endParaRPr b="1" i="0" sz="1110" u="none" cap="none" strike="noStrike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t/>
            </a:r>
            <a:endParaRPr b="1" sz="1110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Comprovar</a:t>
            </a:r>
            <a:endParaRPr b="1" i="0" sz="111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id joan</a:t>
            </a:r>
            <a:endParaRPr b="1" i="0" sz="1110" u="none" cap="none" strike="noStrike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t/>
            </a:r>
            <a:endParaRPr b="1" sz="1110">
              <a:solidFill>
                <a:srgbClr val="E9F4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# Eliminar el grup</a:t>
            </a:r>
            <a:endParaRPr b="1" i="0" sz="111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4FF"/>
              </a:buClr>
              <a:buSzPts val="810"/>
              <a:buFont typeface="Cascadia Mono"/>
              <a:buNone/>
            </a:pPr>
            <a:r>
              <a:rPr b="1" i="0" lang="ca" sz="1110" u="none" cap="none" strike="noStrike">
                <a:solidFill>
                  <a:srgbClr val="E9F4FF"/>
                </a:solidFill>
                <a:latin typeface="Consolas"/>
                <a:ea typeface="Consolas"/>
                <a:cs typeface="Consolas"/>
                <a:sym typeface="Consolas"/>
              </a:rPr>
              <a:t>sudo groupdel desenvolupament</a:t>
            </a:r>
            <a:endParaRPr b="1" i="0" sz="111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7" name="Google Shape;1357;p19"/>
          <p:cNvSpPr/>
          <p:nvPr/>
        </p:nvSpPr>
        <p:spPr>
          <a:xfrm>
            <a:off x="5125875" y="1345478"/>
            <a:ext cx="3257700" cy="1512600"/>
          </a:xfrm>
          <a:prstGeom prst="roundRect">
            <a:avLst>
              <a:gd fmla="val 8571" name="adj"/>
            </a:avLst>
          </a:prstGeom>
          <a:solidFill>
            <a:srgbClr val="FFF4D8"/>
          </a:solidFill>
          <a:ln cap="flat" cmpd="sng" w="9525">
            <a:solidFill>
              <a:srgbClr val="F5D5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9"/>
          <p:cNvSpPr/>
          <p:nvPr/>
        </p:nvSpPr>
        <p:spPr>
          <a:xfrm>
            <a:off x="5314585" y="1493364"/>
            <a:ext cx="288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9"/>
          <p:cNvSpPr/>
          <p:nvPr/>
        </p:nvSpPr>
        <p:spPr>
          <a:xfrm>
            <a:off x="5382975" y="1746374"/>
            <a:ext cx="28119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t/>
            </a:r>
            <a:endParaRPr sz="1238">
              <a:solidFill>
                <a:srgbClr val="1A283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-a és imprescindible: sense -a, -G pot substituir els grups secundaris de l’usuari.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9"/>
          <p:cNvSpPr/>
          <p:nvPr/>
        </p:nvSpPr>
        <p:spPr>
          <a:xfrm>
            <a:off x="5125875" y="3013250"/>
            <a:ext cx="3463500" cy="1877700"/>
          </a:xfrm>
          <a:prstGeom prst="roundRect">
            <a:avLst>
              <a:gd fmla="val 8571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9"/>
          <p:cNvSpPr/>
          <p:nvPr/>
        </p:nvSpPr>
        <p:spPr>
          <a:xfrm>
            <a:off x="5314585" y="3169280"/>
            <a:ext cx="288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Debian/Ubuntu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19"/>
          <p:cNvSpPr/>
          <p:nvPr/>
        </p:nvSpPr>
        <p:spPr>
          <a:xfrm>
            <a:off x="5331600" y="3486150"/>
            <a:ext cx="3141000" cy="111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13"/>
              <a:buFont typeface="Cascadia Mono"/>
              <a:buNone/>
            </a:pPr>
            <a:r>
              <a:rPr i="0" lang="ca" sz="1213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També es pot fer amb:</a:t>
            </a:r>
            <a:endParaRPr i="0" sz="1213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13"/>
              <a:buFont typeface="Cascadia Mono"/>
              <a:buNone/>
            </a:pPr>
            <a:r>
              <a:rPr b="1" lang="ca" sz="1213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213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adduser joan desenvolupament</a:t>
            </a:r>
            <a:endParaRPr b="1" i="0" sz="1213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713"/>
              <a:buFont typeface="Cascadia Mono"/>
              <a:buNone/>
            </a:pPr>
            <a:r>
              <a:rPr b="1" lang="ca" sz="1213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i="0" lang="ca" sz="1213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deluser joan desenvolupament</a:t>
            </a:r>
            <a:endParaRPr b="1" i="0" sz="1213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3" name="Google Shape;1363;p19"/>
          <p:cNvSpPr/>
          <p:nvPr/>
        </p:nvSpPr>
        <p:spPr>
          <a:xfrm>
            <a:off x="410250" y="939025"/>
            <a:ext cx="83235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lang="ca" sz="1125">
                <a:solidFill>
                  <a:srgbClr val="123E6D"/>
                </a:solidFill>
              </a:rPr>
              <a:t>Aquí</a:t>
            </a:r>
            <a:r>
              <a:rPr lang="ca" sz="1125">
                <a:solidFill>
                  <a:srgbClr val="123E6D"/>
                </a:solidFill>
              </a:rPr>
              <a:t> veiem com gestionar grups, crear i eliminar grup, i afegir o treure membres del grup :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70" name="Google Shape;1370;p23"/>
          <p:cNvSpPr/>
          <p:nvPr/>
        </p:nvSpPr>
        <p:spPr>
          <a:xfrm>
            <a:off x="541825" y="349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Annex II :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Crear un usuari i un grup a Windows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3"/>
          <p:cNvSpPr/>
          <p:nvPr/>
        </p:nvSpPr>
        <p:spPr>
          <a:xfrm>
            <a:off x="384050" y="912125"/>
            <a:ext cx="8323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lang="ca" sz="1125">
                <a:solidFill>
                  <a:srgbClr val="123E6D"/>
                </a:solidFill>
              </a:rPr>
              <a:t>Per gestionar usuaris i grups a Windows, faig un spoiler del que veureu a Sistemes operatius: al terminal de Windows executeu: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2" name="Google Shape;1372;p23"/>
          <p:cNvPicPr preferRelativeResize="0"/>
          <p:nvPr/>
        </p:nvPicPr>
        <p:blipFill rotWithShape="1">
          <a:blip r:embed="rId3">
            <a:alphaModFix/>
          </a:blip>
          <a:srcRect b="0" l="0" r="557" t="0"/>
          <a:stretch/>
        </p:blipFill>
        <p:spPr>
          <a:xfrm>
            <a:off x="408375" y="1395725"/>
            <a:ext cx="6706201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23"/>
          <p:cNvPicPr preferRelativeResize="0"/>
          <p:nvPr/>
        </p:nvPicPr>
        <p:blipFill rotWithShape="1">
          <a:blip r:embed="rId4">
            <a:alphaModFix/>
          </a:blip>
          <a:srcRect b="0" l="1818" r="-603" t="2847"/>
          <a:stretch/>
        </p:blipFill>
        <p:spPr>
          <a:xfrm>
            <a:off x="445050" y="1966200"/>
            <a:ext cx="4960499" cy="29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23"/>
          <p:cNvSpPr/>
          <p:nvPr/>
        </p:nvSpPr>
        <p:spPr>
          <a:xfrm>
            <a:off x="5669675" y="2610525"/>
            <a:ext cx="2793000" cy="1519500"/>
          </a:xfrm>
          <a:prstGeom prst="roundRect">
            <a:avLst>
              <a:gd fmla="val 2909" name="adj"/>
            </a:avLst>
          </a:prstGeom>
          <a:solidFill>
            <a:srgbClr val="FFF4D5"/>
          </a:solidFill>
          <a:ln cap="flat" cmpd="sng" w="9200">
            <a:solidFill>
              <a:srgbClr val="F0C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250" lIns="55250" spcFirstLastPara="1" rIns="55250" wrap="square" tIns="5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23"/>
          <p:cNvSpPr/>
          <p:nvPr/>
        </p:nvSpPr>
        <p:spPr>
          <a:xfrm>
            <a:off x="5743844" y="2756710"/>
            <a:ext cx="2963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9"/>
              </a:buClr>
              <a:buSzPts val="1400"/>
              <a:buFont typeface="Arial"/>
              <a:buNone/>
            </a:pPr>
            <a:r>
              <a:rPr b="1" lang="ca">
                <a:solidFill>
                  <a:srgbClr val="123B69"/>
                </a:solidFill>
              </a:rPr>
              <a:t>Nota: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23"/>
          <p:cNvSpPr/>
          <p:nvPr/>
        </p:nvSpPr>
        <p:spPr>
          <a:xfrm>
            <a:off x="5776768" y="3162826"/>
            <a:ext cx="26859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6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lusrmgr.msc</a:t>
            </a:r>
            <a:r>
              <a:rPr lang="ca" sz="1167">
                <a:solidFill>
                  <a:schemeClr val="dk1"/>
                </a:solidFill>
              </a:rPr>
              <a:t> està disponible a Windows Pro, Enterprise i Education, però no a Home</a:t>
            </a:r>
            <a:endParaRPr sz="1167">
              <a:solidFill>
                <a:schemeClr val="dk1"/>
              </a:solidFill>
            </a:endParaRPr>
          </a:p>
          <a:p>
            <a:pPr indent="0" lvl="0" marL="36840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86">
              <a:solidFill>
                <a:srgbClr val="082A46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hc3dfbce1ed3d8fc_0_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83" name="Google Shape;1383;hc3dfbce1ed3d8fc_0_124"/>
          <p:cNvSpPr/>
          <p:nvPr/>
        </p:nvSpPr>
        <p:spPr>
          <a:xfrm>
            <a:off x="541825" y="34985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Annex II :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Crear un usuari i un grup a Windows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hc3dfbce1ed3d8fc_0_124"/>
          <p:cNvSpPr/>
          <p:nvPr/>
        </p:nvSpPr>
        <p:spPr>
          <a:xfrm>
            <a:off x="384050" y="912125"/>
            <a:ext cx="8323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1125"/>
              <a:buFont typeface="Arial"/>
              <a:buNone/>
            </a:pPr>
            <a:r>
              <a:rPr lang="ca" sz="1125">
                <a:solidFill>
                  <a:srgbClr val="123E6D"/>
                </a:solidFill>
              </a:rPr>
              <a:t>Si cliqueu sobre grups, podeu veure els grups del sistema. Podeu afegir grups, afegir persones a un grup, eliminar grup….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5" name="Google Shape;1385;hc3dfbce1ed3d8fc_0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400" y="1765775"/>
            <a:ext cx="5082723" cy="304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92" name="Google Shape;1392;p34"/>
          <p:cNvSpPr/>
          <p:nvPr/>
        </p:nvSpPr>
        <p:spPr>
          <a:xfrm>
            <a:off x="564200" y="342900"/>
            <a:ext cx="8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Crèdits i material de consulta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4"/>
          <p:cNvSpPr/>
          <p:nvPr/>
        </p:nvSpPr>
        <p:spPr>
          <a:xfrm>
            <a:off x="415750" y="1200150"/>
            <a:ext cx="4264800" cy="1748700"/>
          </a:xfrm>
          <a:prstGeom prst="roundRect">
            <a:avLst>
              <a:gd fmla="val 470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4"/>
          <p:cNvSpPr/>
          <p:nvPr/>
        </p:nvSpPr>
        <p:spPr>
          <a:xfrm>
            <a:off x="667944" y="1440180"/>
            <a:ext cx="3675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Crèdits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34"/>
          <p:cNvSpPr/>
          <p:nvPr/>
        </p:nvSpPr>
        <p:spPr>
          <a:xfrm>
            <a:off x="667950" y="1783075"/>
            <a:ext cx="4012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ca" sz="975">
                <a:solidFill>
                  <a:srgbClr val="13315C"/>
                </a:solidFill>
              </a:rPr>
              <a:t>dea original: Ivan Basart Carrillo. Carles Caño Valls i Carles Franquesa</a:t>
            </a:r>
            <a:endParaRPr sz="975">
              <a:solidFill>
                <a:srgbClr val="13315C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ca" sz="975">
                <a:solidFill>
                  <a:srgbClr val="13315C"/>
                </a:solidFill>
              </a:rPr>
              <a:t>Modificació: Amanda Fontana</a:t>
            </a:r>
            <a:endParaRPr sz="975">
              <a:solidFill>
                <a:srgbClr val="13315C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ca" sz="975">
                <a:solidFill>
                  <a:srgbClr val="13315C"/>
                </a:solidFill>
              </a:rPr>
              <a:t>Adaptació, modificació  i reorganització: Eduard Gutiérrez</a:t>
            </a:r>
            <a:endParaRPr sz="1050">
              <a:solidFill>
                <a:srgbClr val="1A2836"/>
              </a:solidFill>
            </a:endParaRPr>
          </a:p>
        </p:txBody>
      </p:sp>
      <p:sp>
        <p:nvSpPr>
          <p:cNvPr id="1396" name="Google Shape;1396;p34"/>
          <p:cNvSpPr/>
          <p:nvPr/>
        </p:nvSpPr>
        <p:spPr>
          <a:xfrm>
            <a:off x="4952253" y="1200150"/>
            <a:ext cx="3703500" cy="1748700"/>
          </a:xfrm>
          <a:prstGeom prst="roundRect">
            <a:avLst>
              <a:gd fmla="val 4706" name="adj"/>
            </a:avLst>
          </a:prstGeom>
          <a:solidFill>
            <a:schemeClr val="lt1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4"/>
          <p:cNvSpPr/>
          <p:nvPr/>
        </p:nvSpPr>
        <p:spPr>
          <a:xfrm>
            <a:off x="5192289" y="1440180"/>
            <a:ext cx="322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54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B2E54"/>
                </a:solidFill>
                <a:latin typeface="Arial"/>
                <a:ea typeface="Arial"/>
                <a:cs typeface="Arial"/>
                <a:sym typeface="Arial"/>
              </a:rPr>
              <a:t>Llicència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34"/>
          <p:cNvSpPr/>
          <p:nvPr/>
        </p:nvSpPr>
        <p:spPr>
          <a:xfrm>
            <a:off x="5192300" y="1783073"/>
            <a:ext cx="32919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Creative Commons BY-NC-SA 4.0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A2836"/>
                </a:solidFill>
                <a:latin typeface="Arial"/>
                <a:ea typeface="Arial"/>
                <a:cs typeface="Arial"/>
                <a:sym typeface="Arial"/>
              </a:rPr>
              <a:t>Material adaptat per a 1r CFGM SMX · M0226 · Seguretat Informàtica.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34"/>
          <p:cNvSpPr/>
          <p:nvPr/>
        </p:nvSpPr>
        <p:spPr>
          <a:xfrm>
            <a:off x="891564" y="3429000"/>
            <a:ext cx="7338300" cy="514500"/>
          </a:xfrm>
          <a:prstGeom prst="roundRect">
            <a:avLst>
              <a:gd fmla="val 16000" name="adj"/>
            </a:avLst>
          </a:prstGeom>
          <a:solidFill>
            <a:srgbClr val="EAF4FF"/>
          </a:solidFill>
          <a:ln cap="flat" cmpd="sng" w="9525">
            <a:solidFill>
              <a:srgbClr val="D5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34"/>
          <p:cNvSpPr/>
          <p:nvPr/>
        </p:nvSpPr>
        <p:spPr>
          <a:xfrm>
            <a:off x="1097300" y="3275400"/>
            <a:ext cx="69267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D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E6D"/>
                </a:solidFill>
                <a:latin typeface="Arial"/>
                <a:ea typeface="Arial"/>
                <a:cs typeface="Arial"/>
                <a:sym typeface="Arial"/>
              </a:rPr>
              <a:t>Consulta sempre la documentació del sistema operatiu i treballa amb comptes sense privilegis quan facis proves.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laFontanal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2026-09-27T16:57:50Z</dcterms:created>
  <dc:creator>Eduard Gutiérrez</dc:creator>
</cp:coreProperties>
</file>