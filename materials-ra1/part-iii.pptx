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Roboto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70" roundtripDataSignature="AMtx7mh86KBQDLRfQwwzejbaCbCjmdj6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A5E236-F88D-4E05-BB41-9C2D3993B466}">
  <a:tblStyle styleId="{AEA5E236-F88D-4E05-BB41-9C2D3993B4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787FB69-86A1-4C5D-B84A-D355D22D1D7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customschemas.google.com/relationships/presentationmetadata" Target="meta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Roboto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-italic.fntdata"/><Relationship Id="rId23" Type="http://schemas.openxmlformats.org/officeDocument/2006/relationships/slide" Target="slides/slide17.xml"/><Relationship Id="rId67" Type="http://schemas.openxmlformats.org/officeDocument/2006/relationships/font" Target="fonts/Roboto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5809c451046e6e6c_0_0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h5809c451046e6e6c_0_0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3" name="Google Shape;23;h5809c451046e6e6c_0_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5809c451046e6e6c_0_186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" name="Google Shape;37;h5809c451046e6e6c_0_186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38" name="Google Shape;38;h5809c451046e6e6c_0_18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5809c451046e6e6c_0_286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" name="Google Shape;55;h5809c451046e6e6c_0_286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56" name="Google Shape;56;h5809c451046e6e6c_0_28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" name="Google Shape;76;p5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4" name="Google Shape;234;p11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8" name="Google Shape;318;p15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8" name="Google Shape;338;p16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339" name="Google Shape;339;p1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5d76b0bcde729d58_0_36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0" name="Google Shape;360;h5d76b0bcde729d58_0_36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361" name="Google Shape;361;h5d76b0bcde729d58_0_3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5d76b0bcde729d58_0_45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8" name="Google Shape;378;h5d76b0bcde729d58_0_45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379" name="Google Shape;379;h5d76b0bcde729d58_0_45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5d76b0bcde729d58_0_56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9" name="Google Shape;399;h5d76b0bcde729d58_0_56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00" name="Google Shape;400;h5d76b0bcde729d58_0_5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5d76b0bcde729d58_0_108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3" name="Google Shape;423;h5d76b0bcde729d58_0_108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24" name="Google Shape;424;h5d76b0bcde729d58_0_108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h5d76b0bcde729d58_0_150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0" name="Google Shape;450;h5d76b0bcde729d58_0_150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51" name="Google Shape;451;h5d76b0bcde729d58_0_15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5d76b0bcde729d58_0_209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h5d76b0bcde729d5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5d76b0bcde729d58_0_19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h5d76b0bcde729d5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1" name="Google Shape;491;p18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492" name="Google Shape;492;p18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7" name="Google Shape;507;p19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508" name="Google Shape;508;p19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0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0" name="Google Shape;520;p20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521" name="Google Shape;521;p2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2" name="Google Shape;532;p21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533" name="Google Shape;533;p21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2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5" name="Google Shape;555;p22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556" name="Google Shape;556;p22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3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9" name="Google Shape;569;p23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570" name="Google Shape;570;p23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4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3" name="Google Shape;593;p24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594" name="Google Shape;594;p24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5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7" name="Google Shape;607;p25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608" name="Google Shape;608;p25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7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3" name="Google Shape;623;p27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624" name="Google Shape;624;p27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8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8" name="Google Shape;648;p28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649" name="Google Shape;649;p28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9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7" name="Google Shape;677;p29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678" name="Google Shape;678;p29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0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5" name="Google Shape;695;p30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696" name="Google Shape;696;p3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1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1" name="Google Shape;741;p31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742" name="Google Shape;742;p31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2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7" name="Google Shape;767;p32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768" name="Google Shape;768;p32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3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5" name="Google Shape;785;p33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786" name="Google Shape;786;p33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4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6" name="Google Shape;806;p34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807" name="Google Shape;807;p34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1" name="Google Shape;841;p35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842" name="Google Shape;842;p35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6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8" name="Google Shape;858;p36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859" name="Google Shape;859;p3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h5809c451046e6e6c_0_483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6" name="Google Shape;876;h5809c451046e6e6c_0_483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877" name="Google Shape;877;h5809c451046e6e6c_0_483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7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9" name="Google Shape;889;p37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890" name="Google Shape;890;p37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h626f9ea2796bc2f3_0_6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h626f9ea2796bc2f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8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2" name="Google Shape;912;p38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913" name="Google Shape;913;p38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9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2" name="Google Shape;922;p39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923" name="Google Shape;923;p39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0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7" name="Google Shape;937;p40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938" name="Google Shape;938;p4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1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000" u="none">
                <a:latin typeface="Arial"/>
                <a:ea typeface="Arial"/>
                <a:cs typeface="Arial"/>
                <a:sym typeface="Arial"/>
              </a:rPr>
              <a:t>La potència nominal de la font d’un PC no equival al consum real del PC. En pràctica, obtenir el consum previst amb fitxa o mesura.</a:t>
            </a:r>
            <a:endParaRPr sz="1800"/>
          </a:p>
        </p:txBody>
      </p:sp>
      <p:sp>
        <p:nvSpPr>
          <p:cNvPr id="954" name="Google Shape;954;p41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955" name="Google Shape;955;p41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2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2" name="Google Shape;972;p42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973" name="Google Shape;973;p42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3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8" name="Google Shape;988;p43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989" name="Google Shape;989;p43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4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9" name="Google Shape;1009;p44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010" name="Google Shape;1010;p44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5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7" name="Google Shape;1037;p45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038" name="Google Shape;1038;p45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46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2" name="Google Shape;1052;p46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053" name="Google Shape;1053;p46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7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5" name="Google Shape;1075;p47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076" name="Google Shape;1076;p47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8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0" name="Google Shape;1100;p48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101" name="Google Shape;1101;p48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9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7" name="Google Shape;1137;p49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138" name="Google Shape;1138;p49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50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000" u="none">
                <a:latin typeface="Arial"/>
                <a:ea typeface="Arial"/>
                <a:cs typeface="Arial"/>
                <a:sym typeface="Arial"/>
              </a:rPr>
              <a:t>FP 0,7 és una hipòtesi explícita de la tasca, no una dada universal. Si no es troba autonomia documentada a la càrrega demanada, l’alumne ha de marcar pendent de confirmar. No s’ha de penalitzar una conclusió honestament pendent.</a:t>
            </a:r>
            <a:endParaRPr sz="1800"/>
          </a:p>
        </p:txBody>
      </p:sp>
      <p:sp>
        <p:nvSpPr>
          <p:cNvPr id="1163" name="Google Shape;1163;p50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164" name="Google Shape;1164;p50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1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3" name="Google Shape;1193;p51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194" name="Google Shape;1194;p51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52:notes"/>
          <p:cNvSpPr txBox="1"/>
          <p:nvPr>
            <p:ph idx="1" type="body"/>
          </p:nvPr>
        </p:nvSpPr>
        <p:spPr>
          <a:xfrm>
            <a:off x="685756" y="4400362"/>
            <a:ext cx="5485694" cy="35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1" name="Google Shape;1221;p52:notes"/>
          <p:cNvSpPr txBox="1"/>
          <p:nvPr>
            <p:ph idx="12" type="sldNum"/>
          </p:nvPr>
        </p:nvSpPr>
        <p:spPr>
          <a:xfrm>
            <a:off x="3884515" y="8684812"/>
            <a:ext cx="2971252" cy="458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222" name="Google Shape;1222;p52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h680225e668bdddc0_0_13:notes"/>
          <p:cNvSpPr txBox="1"/>
          <p:nvPr>
            <p:ph idx="1" type="body"/>
          </p:nvPr>
        </p:nvSpPr>
        <p:spPr>
          <a:xfrm>
            <a:off x="685756" y="4400362"/>
            <a:ext cx="54858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3" name="Google Shape;1233;h680225e668bdddc0_0_13:notes"/>
          <p:cNvSpPr txBox="1"/>
          <p:nvPr>
            <p:ph idx="12" type="sldNum"/>
          </p:nvPr>
        </p:nvSpPr>
        <p:spPr>
          <a:xfrm>
            <a:off x="3884515" y="8684812"/>
            <a:ext cx="297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 sz="1800"/>
          </a:p>
        </p:txBody>
      </p:sp>
      <p:sp>
        <p:nvSpPr>
          <p:cNvPr id="1234" name="Google Shape;1234;h680225e668bdddc0_0_13:notes"/>
          <p:cNvSpPr/>
          <p:nvPr>
            <p:ph idx="2" type="sldImg"/>
          </p:nvPr>
        </p:nvSpPr>
        <p:spPr>
          <a:xfrm>
            <a:off x="1143183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h5d76b0bcde729d58_0_2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10" name="Google Shape;10;h5d76b0bcde729d58_0_2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EBF3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5d76b0bcde729d58_0_2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3" name="Google Shape;13;h5d76b0bcde729d58_0_225"/>
          <p:cNvSpPr/>
          <p:nvPr/>
        </p:nvSpPr>
        <p:spPr>
          <a:xfrm>
            <a:off x="365575" y="274324"/>
            <a:ext cx="8412000" cy="6030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5d76b0bcde729d58_0_2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5d76b0bcde729d58_0_231"/>
          <p:cNvSpPr txBox="1"/>
          <p:nvPr>
            <p:ph idx="12" type="sldNum"/>
          </p:nvPr>
        </p:nvSpPr>
        <p:spPr>
          <a:xfrm>
            <a:off x="8229503" y="4800342"/>
            <a:ext cx="456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25" lIns="67475" spcFirstLastPara="1" rIns="67475" wrap="square" tIns="337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strike="noStrike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_31__5f_DEFAULT">
  <p:cSld name="_31__5f_DEFAUL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5d76b0bcde729d58_0_233"/>
          <p:cNvSpPr txBox="1"/>
          <p:nvPr>
            <p:ph idx="12" type="sldNum"/>
          </p:nvPr>
        </p:nvSpPr>
        <p:spPr>
          <a:xfrm>
            <a:off x="8534025" y="4749850"/>
            <a:ext cx="571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200"/>
            </a:lvl1pPr>
            <a:lvl2pPr lvl="1">
              <a:buNone/>
              <a:defRPr sz="1200"/>
            </a:lvl2pPr>
            <a:lvl3pPr lvl="2">
              <a:buNone/>
              <a:defRPr sz="1200"/>
            </a:lvl3pPr>
            <a:lvl4pPr lvl="3">
              <a:buNone/>
              <a:defRPr sz="1200"/>
            </a:lvl4pPr>
            <a:lvl5pPr lvl="4">
              <a:buNone/>
              <a:defRPr sz="1200"/>
            </a:lvl5pPr>
            <a:lvl6pPr lvl="5">
              <a:buNone/>
              <a:defRPr sz="1200"/>
            </a:lvl6pPr>
            <a:lvl7pPr lvl="6">
              <a:buNone/>
              <a:defRPr sz="1200"/>
            </a:lvl7pPr>
            <a:lvl8pPr lvl="7">
              <a:buNone/>
              <a:defRPr sz="1200"/>
            </a:lvl8pPr>
            <a:lvl9pPr lvl="8">
              <a:buNone/>
              <a:defRPr sz="12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CF7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5d76b0bcde729d58_0_2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h5d76b0bcde729d58_0_2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jpg"/><Relationship Id="rId6" Type="http://schemas.openxmlformats.org/officeDocument/2006/relationships/image" Target="../media/image13.jpg"/><Relationship Id="rId7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Relationship Id="rId4" Type="http://schemas.openxmlformats.org/officeDocument/2006/relationships/hyperlink" Target="https://www.laparaups.com/recomendador-de-sais-ups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www.youtube.com/watch?v=tMAAkqq-oPY" TargetMode="External"/><Relationship Id="rId4" Type="http://schemas.openxmlformats.org/officeDocument/2006/relationships/image" Target="../media/image32.jpg"/><Relationship Id="rId5" Type="http://schemas.openxmlformats.org/officeDocument/2006/relationships/hyperlink" Target="https://www.youtube.com/watch?v=rp492vPid2E&amp;t=12s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jpg"/><Relationship Id="rId4" Type="http://schemas.openxmlformats.org/officeDocument/2006/relationships/image" Target="../media/image2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1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www.pccomponentes.com/apc-back-ups-pro-1500-230v?utm_source=chatgpt.com" TargetMode="External"/><Relationship Id="rId4" Type="http://schemas.openxmlformats.org/officeDocument/2006/relationships/hyperlink" Target="https://www.cyberpower.com/eu/es/product/sku/cp1500epfclcd?utm_source=chatgpt.com" TargetMode="External"/><Relationship Id="rId11" Type="http://schemas.openxmlformats.org/officeDocument/2006/relationships/image" Target="../media/image38.jpg"/><Relationship Id="rId10" Type="http://schemas.openxmlformats.org/officeDocument/2006/relationships/image" Target="../media/image37.jpg"/><Relationship Id="rId12" Type="http://schemas.openxmlformats.org/officeDocument/2006/relationships/image" Target="../media/image39.jpg"/><Relationship Id="rId9" Type="http://schemas.openxmlformats.org/officeDocument/2006/relationships/hyperlink" Target="https://www.ldlc.com/es-es/ficha/PB00627465.html?utm_source=chatgpt.com" TargetMode="External"/><Relationship Id="rId5" Type="http://schemas.openxmlformats.org/officeDocument/2006/relationships/hyperlink" Target="https://electricshop.es/tienda/perifericos/s-a-i/sais/sai-linea-interactiva-cyberpower-cp1500epfclcd-1500va-900w-6-salidas-formato-torre/?utm_source=chatgpt.com" TargetMode="External"/><Relationship Id="rId6" Type="http://schemas.openxmlformats.org/officeDocument/2006/relationships/hyperlink" Target="https://electricshop.es/tienda/perifericos/s-a-i/sais/sai-linea-interactiva-cyberpower-cp1500epfclcd-1500va-900w-6-salidas-formato-torre/?utm_source=chatgpt.com" TargetMode="External"/><Relationship Id="rId7" Type="http://schemas.openxmlformats.org/officeDocument/2006/relationships/hyperlink" Target="https://www.eaton.com/es/es-es/skuPage.5P1150IG2.html?utm_source=chatgpt.com" TargetMode="External"/><Relationship Id="rId8" Type="http://schemas.openxmlformats.org/officeDocument/2006/relationships/hyperlink" Target="https://www.ldlc.com/es-es/ficha/PB00627465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5809c451046e6e6c_0_0"/>
          <p:cNvSpPr/>
          <p:nvPr/>
        </p:nvSpPr>
        <p:spPr>
          <a:xfrm>
            <a:off x="377198" y="582931"/>
            <a:ext cx="74067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ca" sz="2550">
                <a:solidFill>
                  <a:srgbClr val="0B2E6D"/>
                </a:solidFill>
              </a:rPr>
              <a:t>Sistemes d’alimentació</a:t>
            </a:r>
            <a:r>
              <a:rPr lang="ca" sz="1350">
                <a:solidFill>
                  <a:schemeClr val="dk1"/>
                </a:solidFill>
              </a:rPr>
              <a:t> </a:t>
            </a:r>
            <a:r>
              <a:rPr b="1" lang="ca" sz="2550">
                <a:solidFill>
                  <a:srgbClr val="0B2E6D"/>
                </a:solidFill>
              </a:rPr>
              <a:t>ininterrompuda (SAI)</a:t>
            </a:r>
            <a:endParaRPr b="1" sz="2400">
              <a:solidFill>
                <a:srgbClr val="174A6B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0B2E6D"/>
              </a:solidFill>
            </a:endParaRPr>
          </a:p>
        </p:txBody>
      </p:sp>
      <p:sp>
        <p:nvSpPr>
          <p:cNvPr id="26" name="Google Shape;26;h5809c451046e6e6c_0_0"/>
          <p:cNvSpPr/>
          <p:nvPr/>
        </p:nvSpPr>
        <p:spPr>
          <a:xfrm>
            <a:off x="429630" y="1371689"/>
            <a:ext cx="7886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1r CFGM SMX · M0226 · Seguretat Informàtica</a:t>
            </a:r>
            <a:endParaRPr sz="1350"/>
          </a:p>
        </p:txBody>
      </p:sp>
      <p:sp>
        <p:nvSpPr>
          <p:cNvPr id="27" name="Google Shape;27;h5809c451046e6e6c_0_0"/>
          <p:cNvSpPr/>
          <p:nvPr/>
        </p:nvSpPr>
        <p:spPr>
          <a:xfrm>
            <a:off x="429630" y="1851812"/>
            <a:ext cx="7886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u="none">
                <a:solidFill>
                  <a:srgbClr val="13315C"/>
                </a:solidFill>
              </a:rPr>
              <a:t>RA1 · Seguretat passiva en equips informàtics - P</a:t>
            </a:r>
            <a:r>
              <a:rPr b="1" lang="ca">
                <a:solidFill>
                  <a:srgbClr val="13315C"/>
                </a:solidFill>
              </a:rPr>
              <a:t>art III</a:t>
            </a:r>
            <a:endParaRPr b="1"/>
          </a:p>
        </p:txBody>
      </p:sp>
      <p:sp>
        <p:nvSpPr>
          <p:cNvPr id="28" name="Google Shape;28;h5809c451046e6e6c_0_0"/>
          <p:cNvSpPr/>
          <p:nvPr/>
        </p:nvSpPr>
        <p:spPr>
          <a:xfrm>
            <a:off x="5128025" y="2434601"/>
            <a:ext cx="3513000" cy="136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9" name="Google Shape;29;h5809c451046e6e6c_0_0"/>
          <p:cNvSpPr/>
          <p:nvPr/>
        </p:nvSpPr>
        <p:spPr>
          <a:xfrm>
            <a:off x="5486516" y="2571757"/>
            <a:ext cx="26058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Autors i crèdits</a:t>
            </a:r>
            <a:endParaRPr sz="1200"/>
          </a:p>
        </p:txBody>
      </p:sp>
      <p:sp>
        <p:nvSpPr>
          <p:cNvPr id="30" name="Google Shape;30;h5809c451046e6e6c_0_0"/>
          <p:cNvSpPr/>
          <p:nvPr/>
        </p:nvSpPr>
        <p:spPr>
          <a:xfrm>
            <a:off x="5486525" y="2905490"/>
            <a:ext cx="29487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Idea original: Xavier Sala Pujolar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Modificació: Amanda Fontana</a:t>
            </a:r>
            <a:endParaRPr sz="1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Adaptació i reorganització: Eduard Gutiérrez</a:t>
            </a:r>
            <a:endParaRPr sz="1000"/>
          </a:p>
        </p:txBody>
      </p:sp>
      <p:pic>
        <p:nvPicPr>
          <p:cNvPr id="31" name="Google Shape;31;h5809c451046e6e6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632" y="4632326"/>
            <a:ext cx="1062721" cy="3087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h5809c451046e6e6c_0_0"/>
          <p:cNvSpPr/>
          <p:nvPr/>
        </p:nvSpPr>
        <p:spPr>
          <a:xfrm>
            <a:off x="1547454" y="4687080"/>
            <a:ext cx="51432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7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Llicència del material: Creative Commons BY-NC-SA 4.0</a:t>
            </a:r>
            <a:endParaRPr sz="1350"/>
          </a:p>
        </p:txBody>
      </p:sp>
      <p:sp>
        <p:nvSpPr>
          <p:cNvPr id="33" name="Google Shape;33;h5809c451046e6e6c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300"/>
              <a:t>‹#›</a:t>
            </a:fld>
            <a:endParaRPr sz="1300"/>
          </a:p>
        </p:txBody>
      </p:sp>
      <p:pic>
        <p:nvPicPr>
          <p:cNvPr id="34" name="Google Shape;34;h5809c451046e6e6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625" y="2297774"/>
            <a:ext cx="3731812" cy="21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h5809c451046e6e6c_0_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5746" y="479791"/>
            <a:ext cx="455499" cy="6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h5809c451046e6e6c_0_186"/>
          <p:cNvSpPr/>
          <p:nvPr/>
        </p:nvSpPr>
        <p:spPr>
          <a:xfrm>
            <a:off x="361231" y="746702"/>
            <a:ext cx="83109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Criteris d’avaluació i continguts que treballarem amb els SAI</a:t>
            </a:r>
            <a:endParaRPr sz="1350"/>
          </a:p>
        </p:txBody>
      </p:sp>
      <p:sp>
        <p:nvSpPr>
          <p:cNvPr id="42" name="Google Shape;42;h5809c451046e6e6c_0_186"/>
          <p:cNvSpPr/>
          <p:nvPr/>
        </p:nvSpPr>
        <p:spPr>
          <a:xfrm>
            <a:off x="396614" y="3757326"/>
            <a:ext cx="8240100" cy="690300"/>
          </a:xfrm>
          <a:prstGeom prst="roundRect">
            <a:avLst>
              <a:gd fmla="val 16667" name="adj"/>
            </a:avLst>
          </a:prstGeom>
          <a:solidFill>
            <a:srgbClr val="EDF7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3" name="Google Shape;43;h5809c451046e6e6c_0_186"/>
          <p:cNvSpPr/>
          <p:nvPr/>
        </p:nvSpPr>
        <p:spPr>
          <a:xfrm>
            <a:off x="182712" y="198301"/>
            <a:ext cx="11155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RA1 · </a:t>
            </a: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Seguretat passiva en equips informàtics</a:t>
            </a:r>
            <a:endParaRPr sz="1350"/>
          </a:p>
        </p:txBody>
      </p:sp>
      <p:graphicFrame>
        <p:nvGraphicFramePr>
          <p:cNvPr id="44" name="Google Shape;44;h5809c451046e6e6c_0_186"/>
          <p:cNvGraphicFramePr/>
          <p:nvPr/>
        </p:nvGraphicFramePr>
        <p:xfrm>
          <a:off x="396623" y="11602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{AEA5E236-F88D-4E05-BB41-9C2D3993B466}</a:tableStyleId>
              </a:tblPr>
              <a:tblGrid>
                <a:gridCol w="4044825"/>
                <a:gridCol w="4044825"/>
              </a:tblGrid>
              <a:tr h="607250">
                <a:tc gridSpan="2">
                  <a:txBody>
                    <a:bodyPr/>
                    <a:lstStyle/>
                    <a:p>
                      <a:pPr indent="0" lvl="0" marL="13716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 hMerge="1"/>
              </a:tr>
              <a:tr h="49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Criteris d’avaluació</a:t>
                      </a:r>
                      <a:endParaRPr sz="1050"/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500">
                          <a:solidFill>
                            <a:srgbClr val="13315C"/>
                          </a:solidFill>
                        </a:rPr>
                        <a:t>Continguts</a:t>
                      </a:r>
                      <a:endParaRPr sz="1050"/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C"/>
                    </a:solidFill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13716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</a:t>
                      </a:r>
                      <a:r>
                        <a:rPr b="1" lang="ca" sz="1125">
                          <a:solidFill>
                            <a:srgbClr val="13315C"/>
                          </a:solidFill>
                        </a:rPr>
                        <a:t>Identifica la necessitat de protegir físicament    </a:t>
                      </a:r>
                      <a:endParaRPr b="1" sz="1125">
                        <a:solidFill>
                          <a:srgbClr val="13315C"/>
                        </a:solidFill>
                      </a:endParaRPr>
                    </a:p>
                    <a:p>
                      <a:pPr indent="0" lvl="0" marL="13716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>
                          <a:solidFill>
                            <a:srgbClr val="13315C"/>
                          </a:solidFill>
                        </a:rPr>
                        <a:t>              els sistemes informàtics.</a:t>
                      </a:r>
                      <a:endParaRPr sz="1050"/>
                    </a:p>
                  </a:txBody>
                  <a:tcPr marT="1764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Protecció física dels sistemes informàtics.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 </a:t>
                      </a: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Verifica el funcionament dels sistemes  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 d’alimentació ininterrompuda.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</a:txBody>
                  <a:tcPr marT="1764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Els sistemes d’alimentació ininterrompuda.</a:t>
                      </a:r>
                      <a:endParaRPr sz="1200"/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 </a:t>
                      </a: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Selecciona els punts d’aplicació dels 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275">
                          <a:solidFill>
                            <a:srgbClr val="13315C"/>
                          </a:solidFill>
                        </a:rPr>
                        <a:t>               sistemes d’alimentació ininterrompuda.</a:t>
                      </a:r>
                      <a:endParaRPr b="1" sz="1275">
                        <a:solidFill>
                          <a:srgbClr val="13315C"/>
                        </a:solidFill>
                      </a:endParaRPr>
                    </a:p>
                  </a:txBody>
                  <a:tcPr marT="176400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</a:t>
                      </a: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 dels sistemes d’alimentació </a:t>
                      </a:r>
                      <a:endParaRPr sz="1200">
                        <a:solidFill>
                          <a:srgbClr val="14284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ininterrompuda.</a:t>
                      </a:r>
                      <a:endParaRPr sz="1200"/>
                    </a:p>
                  </a:txBody>
                  <a:tcPr marT="68575" marB="68575" marR="68575" marL="68575">
                    <a:lnL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" name="Google Shape;45;h5809c451046e6e6c_0_186"/>
          <p:cNvSpPr/>
          <p:nvPr/>
        </p:nvSpPr>
        <p:spPr>
          <a:xfrm>
            <a:off x="510025" y="2457424"/>
            <a:ext cx="502800" cy="3936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350"/>
          </a:p>
        </p:txBody>
      </p:sp>
      <p:sp>
        <p:nvSpPr>
          <p:cNvPr id="46" name="Google Shape;46;h5809c451046e6e6c_0_186"/>
          <p:cNvSpPr/>
          <p:nvPr/>
        </p:nvSpPr>
        <p:spPr>
          <a:xfrm>
            <a:off x="510025" y="3060399"/>
            <a:ext cx="502800" cy="3936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350"/>
          </a:p>
        </p:txBody>
      </p:sp>
      <p:sp>
        <p:nvSpPr>
          <p:cNvPr id="47" name="Google Shape;47;h5809c451046e6e6c_0_186"/>
          <p:cNvSpPr/>
          <p:nvPr/>
        </p:nvSpPr>
        <p:spPr>
          <a:xfrm>
            <a:off x="396625" y="1169825"/>
            <a:ext cx="8089500" cy="6198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· Seguretat passiva en equips informàtics - Part III</a:t>
            </a:r>
            <a:endParaRPr sz="1350"/>
          </a:p>
        </p:txBody>
      </p:sp>
      <p:sp>
        <p:nvSpPr>
          <p:cNvPr id="48" name="Google Shape;48;h5809c451046e6e6c_0_186"/>
          <p:cNvSpPr/>
          <p:nvPr/>
        </p:nvSpPr>
        <p:spPr>
          <a:xfrm>
            <a:off x="510025" y="3770024"/>
            <a:ext cx="502800" cy="3936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lang="ca" sz="9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350"/>
          </a:p>
        </p:txBody>
      </p:sp>
      <p:sp>
        <p:nvSpPr>
          <p:cNvPr id="49" name="Google Shape;49;h5809c451046e6e6c_0_186"/>
          <p:cNvSpPr/>
          <p:nvPr/>
        </p:nvSpPr>
        <p:spPr>
          <a:xfrm>
            <a:off x="4586184" y="2326965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1.2</a:t>
            </a:r>
            <a:endParaRPr sz="1350"/>
          </a:p>
        </p:txBody>
      </p:sp>
      <p:sp>
        <p:nvSpPr>
          <p:cNvPr id="50" name="Google Shape;50;h5809c451046e6e6c_0_186"/>
          <p:cNvSpPr/>
          <p:nvPr/>
        </p:nvSpPr>
        <p:spPr>
          <a:xfrm>
            <a:off x="4586184" y="3079803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endParaRPr sz="1350"/>
          </a:p>
        </p:txBody>
      </p:sp>
      <p:sp>
        <p:nvSpPr>
          <p:cNvPr id="51" name="Google Shape;51;h5809c451046e6e6c_0_186"/>
          <p:cNvSpPr/>
          <p:nvPr/>
        </p:nvSpPr>
        <p:spPr>
          <a:xfrm>
            <a:off x="4586184" y="3832635"/>
            <a:ext cx="502800" cy="411300"/>
          </a:xfrm>
          <a:prstGeom prst="roundRect">
            <a:avLst>
              <a:gd fmla="val 16667" name="adj"/>
            </a:avLst>
          </a:prstGeom>
          <a:solidFill>
            <a:srgbClr val="9FBC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1.4</a:t>
            </a:r>
            <a:endParaRPr sz="1350"/>
          </a:p>
        </p:txBody>
      </p:sp>
      <p:sp>
        <p:nvSpPr>
          <p:cNvPr id="52" name="Google Shape;52;h5809c451046e6e6c_0_1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300"/>
              <a:t>‹#›</a:t>
            </a:fld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809c451046e6e6c_0_286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9" name="Google Shape;59;h5809c451046e6e6c_0_286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Què aprendrem?</a:t>
            </a:r>
            <a:endParaRPr sz="1350"/>
          </a:p>
        </p:txBody>
      </p:sp>
      <p:sp>
        <p:nvSpPr>
          <p:cNvPr id="60" name="Google Shape;60;h5809c451046e6e6c_0_286"/>
          <p:cNvSpPr/>
          <p:nvPr/>
        </p:nvSpPr>
        <p:spPr>
          <a:xfrm>
            <a:off x="457125" y="1280075"/>
            <a:ext cx="51882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1" name="Google Shape;61;h5809c451046e6e6c_0_286"/>
          <p:cNvSpPr/>
          <p:nvPr/>
        </p:nvSpPr>
        <p:spPr>
          <a:xfrm>
            <a:off x="639925" y="1492300"/>
            <a:ext cx="4937400" cy="27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5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Objectiu de la sessió:</a:t>
            </a:r>
            <a:endParaRPr b="1" sz="1650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38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284B"/>
              </a:buClr>
              <a:buSzPts val="1650"/>
              <a:buFont typeface="Calibri"/>
              <a:buChar char="●"/>
            </a:pPr>
            <a:r>
              <a:rPr b="1" lang="ca" sz="165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identificar necessitat d’un SAI per protegir equips de problemes amb el subministrament de llum. </a:t>
            </a:r>
            <a:endParaRPr b="1" sz="1650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38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284B"/>
              </a:buClr>
              <a:buSzPts val="1650"/>
              <a:buFont typeface="Calibri"/>
              <a:buChar char="●"/>
            </a:pPr>
            <a:r>
              <a:rPr b="1" lang="ca" sz="165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veurem diferents tipus de SAI </a:t>
            </a:r>
            <a:endParaRPr b="1" sz="1650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38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284B"/>
              </a:buClr>
              <a:buSzPts val="1650"/>
              <a:buFont typeface="Calibri"/>
              <a:buChar char="●"/>
            </a:pPr>
            <a:r>
              <a:rPr b="1" lang="ca" sz="165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calcular quin SAI s'adapta a les nostres necessitats</a:t>
            </a:r>
            <a:endParaRPr b="1" sz="1650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338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284B"/>
              </a:buClr>
              <a:buSzPts val="1650"/>
              <a:buFont typeface="Calibri"/>
              <a:buChar char="●"/>
            </a:pPr>
            <a:r>
              <a:rPr b="1" lang="ca" sz="165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criteris per triar un SAI</a:t>
            </a:r>
            <a:r>
              <a:rPr b="1" lang="ca" sz="16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/>
          </a:p>
        </p:txBody>
      </p:sp>
      <p:sp>
        <p:nvSpPr>
          <p:cNvPr id="62" name="Google Shape;62;h5809c451046e6e6c_0_286"/>
          <p:cNvSpPr/>
          <p:nvPr/>
        </p:nvSpPr>
        <p:spPr>
          <a:xfrm>
            <a:off x="5894650" y="1280075"/>
            <a:ext cx="27918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63" name="Google Shape;63;h5809c451046e6e6c_0_2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713" y="1676225"/>
            <a:ext cx="2007675" cy="2594675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h5809c451046e6e6c_0_2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0" y="0"/>
            <a:ext cx="5120400" cy="5143200"/>
          </a:xfrm>
          <a:prstGeom prst="rect">
            <a:avLst/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1" name="Google Shape;71;p4"/>
          <p:cNvSpPr/>
          <p:nvPr/>
        </p:nvSpPr>
        <p:spPr>
          <a:xfrm>
            <a:off x="548651" y="1097012"/>
            <a:ext cx="41142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5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Els sistemes informàtics depenen totalment de l’</a:t>
            </a:r>
            <a:r>
              <a:rPr b="1" lang="ca" sz="255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electricitat</a:t>
            </a:r>
            <a:endParaRPr sz="1350"/>
          </a:p>
        </p:txBody>
      </p:sp>
      <p:pic>
        <p:nvPicPr>
          <p:cNvPr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245" y="822691"/>
            <a:ext cx="3108518" cy="323676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300"/>
              <a:t>‹#›</a:t>
            </a:fld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0" name="Google Shape;80;p5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Problemes del subministrament elèctric</a:t>
            </a:r>
            <a:endParaRPr sz="1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119" y="1371603"/>
            <a:ext cx="3017100" cy="1051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2" name="Google Shape;82;p5"/>
          <p:cNvSpPr/>
          <p:nvPr/>
        </p:nvSpPr>
        <p:spPr>
          <a:xfrm>
            <a:off x="639913" y="1645654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596" y="1776334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1325727" y="1371333"/>
            <a:ext cx="2057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Falta de subministrament</a:t>
            </a:r>
            <a:endParaRPr sz="1350"/>
          </a:p>
        </p:txBody>
      </p:sp>
      <p:sp>
        <p:nvSpPr>
          <p:cNvPr id="85" name="Google Shape;85;p5"/>
          <p:cNvSpPr/>
          <p:nvPr/>
        </p:nvSpPr>
        <p:spPr>
          <a:xfrm>
            <a:off x="5669039" y="1371603"/>
            <a:ext cx="3017100" cy="1051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6" name="Google Shape;86;p5"/>
          <p:cNvSpPr/>
          <p:nvPr/>
        </p:nvSpPr>
        <p:spPr>
          <a:xfrm>
            <a:off x="5852103" y="1645654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87" name="Google Shape;8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2786" y="1776334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6537647" y="1371333"/>
            <a:ext cx="2057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Pujades de tensió</a:t>
            </a:r>
            <a:endParaRPr sz="1350"/>
          </a:p>
        </p:txBody>
      </p:sp>
      <p:sp>
        <p:nvSpPr>
          <p:cNvPr id="89" name="Google Shape;89;p5"/>
          <p:cNvSpPr/>
          <p:nvPr/>
        </p:nvSpPr>
        <p:spPr>
          <a:xfrm>
            <a:off x="457119" y="2697307"/>
            <a:ext cx="3017100" cy="1051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0" name="Google Shape;90;p5"/>
          <p:cNvSpPr/>
          <p:nvPr/>
        </p:nvSpPr>
        <p:spPr>
          <a:xfrm>
            <a:off x="639913" y="2971357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596" y="3102308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1325727" y="2697307"/>
            <a:ext cx="2057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Baixades de tensió</a:t>
            </a:r>
            <a:endParaRPr sz="1350"/>
          </a:p>
        </p:txBody>
      </p:sp>
      <p:sp>
        <p:nvSpPr>
          <p:cNvPr id="93" name="Google Shape;93;p5"/>
          <p:cNvSpPr/>
          <p:nvPr/>
        </p:nvSpPr>
        <p:spPr>
          <a:xfrm>
            <a:off x="5669039" y="2697307"/>
            <a:ext cx="3017100" cy="1051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4" name="Google Shape;94;p5"/>
          <p:cNvSpPr/>
          <p:nvPr/>
        </p:nvSpPr>
        <p:spPr>
          <a:xfrm>
            <a:off x="5852103" y="2971357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82786" y="3102308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6537647" y="2697307"/>
            <a:ext cx="20571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Microtalls</a:t>
            </a:r>
            <a:endParaRPr sz="1350"/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23355" y="1280073"/>
            <a:ext cx="1097012" cy="199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5" name="Google Shape;105;p6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garantim l’electricitat?</a:t>
            </a:r>
            <a:endParaRPr sz="1350"/>
          </a:p>
        </p:txBody>
      </p:sp>
      <p:pic>
        <p:nvPicPr>
          <p:cNvPr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19" y="2011505"/>
            <a:ext cx="776792" cy="1407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274055" y="3519999"/>
            <a:ext cx="118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Tall de corrent</a:t>
            </a:r>
            <a:endParaRPr sz="1350"/>
          </a:p>
        </p:txBody>
      </p:sp>
      <p:sp>
        <p:nvSpPr>
          <p:cNvPr id="108" name="Google Shape;108;p6"/>
          <p:cNvSpPr/>
          <p:nvPr/>
        </p:nvSpPr>
        <p:spPr>
          <a:xfrm>
            <a:off x="1417259" y="2514246"/>
            <a:ext cx="365400" cy="365700"/>
          </a:xfrm>
          <a:prstGeom prst="ellipse">
            <a:avLst/>
          </a:prstGeom>
          <a:solidFill>
            <a:srgbClr val="0081BF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301" y="2609286"/>
            <a:ext cx="175230" cy="1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1920010" y="1280073"/>
            <a:ext cx="21027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173" y="1417233"/>
            <a:ext cx="1828478" cy="21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920010" y="3748690"/>
            <a:ext cx="2102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Generadors</a:t>
            </a:r>
            <a:endParaRPr sz="1350"/>
          </a:p>
        </p:txBody>
      </p:sp>
      <p:sp>
        <p:nvSpPr>
          <p:cNvPr id="113" name="Google Shape;113;p6"/>
          <p:cNvSpPr/>
          <p:nvPr/>
        </p:nvSpPr>
        <p:spPr>
          <a:xfrm>
            <a:off x="4206148" y="1280073"/>
            <a:ext cx="21027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4" name="Google Shape;11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3311" y="1417233"/>
            <a:ext cx="1828479" cy="21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4206148" y="3748690"/>
            <a:ext cx="2102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UPS / SAI</a:t>
            </a:r>
            <a:endParaRPr sz="1350"/>
          </a:p>
        </p:txBody>
      </p:sp>
      <p:sp>
        <p:nvSpPr>
          <p:cNvPr id="116" name="Google Shape;116;p6"/>
          <p:cNvSpPr/>
          <p:nvPr/>
        </p:nvSpPr>
        <p:spPr>
          <a:xfrm>
            <a:off x="6492016" y="1280073"/>
            <a:ext cx="21027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180" y="1417233"/>
            <a:ext cx="1828478" cy="21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6492016" y="3748690"/>
            <a:ext cx="2102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Línies extres</a:t>
            </a:r>
            <a:endParaRPr sz="1350"/>
          </a:p>
        </p:txBody>
      </p:sp>
      <p:sp>
        <p:nvSpPr>
          <p:cNvPr id="119" name="Google Shape;1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6" name="Google Shape;126;p7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SAI davant d’un tall de corrent</a:t>
            </a:r>
            <a:endParaRPr sz="1350"/>
          </a:p>
        </p:txBody>
      </p:sp>
      <p:sp>
        <p:nvSpPr>
          <p:cNvPr id="127" name="Google Shape;127;p7"/>
          <p:cNvSpPr/>
          <p:nvPr/>
        </p:nvSpPr>
        <p:spPr>
          <a:xfrm>
            <a:off x="457119" y="1280073"/>
            <a:ext cx="49374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8" name="Google Shape;128;p7"/>
          <p:cNvSpPr/>
          <p:nvPr/>
        </p:nvSpPr>
        <p:spPr>
          <a:xfrm>
            <a:off x="777076" y="1279803"/>
            <a:ext cx="4297200" cy="3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9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En cas de tall de corrent, els </a:t>
            </a:r>
            <a:r>
              <a:rPr b="1" lang="ca" sz="195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SAI</a:t>
            </a:r>
            <a:r>
              <a:rPr b="1" lang="ca" sz="19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poden </a:t>
            </a:r>
            <a:r>
              <a:rPr b="1" lang="ca" sz="195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alimentar els sistemes connectats</a:t>
            </a:r>
            <a:r>
              <a:rPr b="1" lang="ca" sz="19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ca" sz="195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durant un temps</a:t>
            </a:r>
            <a:r>
              <a:rPr b="1" lang="ca" sz="19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129" name="Google Shape;129;p7"/>
          <p:cNvSpPr/>
          <p:nvPr/>
        </p:nvSpPr>
        <p:spPr>
          <a:xfrm>
            <a:off x="5577777" y="1280073"/>
            <a:ext cx="31086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202" y="1737184"/>
            <a:ext cx="2651456" cy="237708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38" name="Google Shape;138;p8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corrent altern a la bateria</a:t>
            </a:r>
            <a:endParaRPr sz="1350"/>
          </a:p>
        </p:txBody>
      </p:sp>
      <p:sp>
        <p:nvSpPr>
          <p:cNvPr id="139" name="Google Shape;139;p8"/>
          <p:cNvSpPr/>
          <p:nvPr/>
        </p:nvSpPr>
        <p:spPr>
          <a:xfrm>
            <a:off x="1965911" y="1188543"/>
            <a:ext cx="5211600" cy="351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173" y="1280073"/>
            <a:ext cx="5028764" cy="3355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457119" y="1462864"/>
            <a:ext cx="1371300" cy="27426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42" name="Google Shape;142;p8"/>
          <p:cNvSpPr/>
          <p:nvPr/>
        </p:nvSpPr>
        <p:spPr>
          <a:xfrm>
            <a:off x="548651" y="1462864"/>
            <a:ext cx="11883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Carregar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El carregador o rectificador passa el corrent de la xarxa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CA → CC</a:t>
            </a: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/>
          </a:p>
        </p:txBody>
      </p:sp>
      <p:sp>
        <p:nvSpPr>
          <p:cNvPr id="143" name="Google Shape;143;p8"/>
          <p:cNvSpPr/>
          <p:nvPr/>
        </p:nvSpPr>
        <p:spPr>
          <a:xfrm>
            <a:off x="7314994" y="1462864"/>
            <a:ext cx="1371300" cy="27426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44" name="Google Shape;144;p8"/>
          <p:cNvSpPr/>
          <p:nvPr/>
        </p:nvSpPr>
        <p:spPr>
          <a:xfrm>
            <a:off x="7406525" y="1462864"/>
            <a:ext cx="11883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Quan falla la xarxa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L’inversor passa la bateria 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CC → CA</a:t>
            </a: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per als equips</a:t>
            </a: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52" name="Google Shape;152;p9"/>
          <p:cNvSpPr/>
          <p:nvPr/>
        </p:nvSpPr>
        <p:spPr>
          <a:xfrm>
            <a:off x="428568" y="1045137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Primer carrega la bateria; quan falla la xarxa, la bateria alimenta els equips.</a:t>
            </a:r>
            <a:endParaRPr sz="1350"/>
          </a:p>
        </p:txBody>
      </p:sp>
      <p:sp>
        <p:nvSpPr>
          <p:cNvPr id="153" name="Google Shape;153;p9"/>
          <p:cNvSpPr/>
          <p:nvPr/>
        </p:nvSpPr>
        <p:spPr>
          <a:xfrm>
            <a:off x="445779" y="1508764"/>
            <a:ext cx="1337100" cy="8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54" name="Google Shape;154;p9"/>
          <p:cNvSpPr/>
          <p:nvPr/>
        </p:nvSpPr>
        <p:spPr>
          <a:xfrm>
            <a:off x="514360" y="1659694"/>
            <a:ext cx="1200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Xarxa elèctrica</a:t>
            </a:r>
            <a:endParaRPr sz="135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230 V CA</a:t>
            </a:r>
            <a:endParaRPr sz="1350"/>
          </a:p>
        </p:txBody>
      </p:sp>
      <p:sp>
        <p:nvSpPr>
          <p:cNvPr id="155" name="Google Shape;155;p9"/>
          <p:cNvSpPr/>
          <p:nvPr/>
        </p:nvSpPr>
        <p:spPr>
          <a:xfrm>
            <a:off x="822977" y="2125985"/>
            <a:ext cx="582600" cy="177900"/>
          </a:xfrm>
          <a:prstGeom prst="roundRect">
            <a:avLst>
              <a:gd fmla="val 16667" name="adj"/>
            </a:avLst>
          </a:prstGeom>
          <a:solidFill>
            <a:srgbClr val="2F78C7"/>
          </a:solidFill>
          <a:ln cap="flat" cmpd="sng" w="9425">
            <a:solidFill>
              <a:srgbClr val="2F7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56" name="Google Shape;156;p9"/>
          <p:cNvSpPr/>
          <p:nvPr/>
        </p:nvSpPr>
        <p:spPr>
          <a:xfrm>
            <a:off x="822977" y="2139755"/>
            <a:ext cx="582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</a:t>
            </a:r>
            <a:endParaRPr sz="1350"/>
          </a:p>
        </p:txBody>
      </p:sp>
      <p:sp>
        <p:nvSpPr>
          <p:cNvPr id="157" name="Google Shape;157;p9"/>
          <p:cNvSpPr/>
          <p:nvPr/>
        </p:nvSpPr>
        <p:spPr>
          <a:xfrm>
            <a:off x="2091734" y="1508764"/>
            <a:ext cx="1337100" cy="8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58" name="Google Shape;158;p9"/>
          <p:cNvSpPr/>
          <p:nvPr/>
        </p:nvSpPr>
        <p:spPr>
          <a:xfrm>
            <a:off x="2160325" y="1659703"/>
            <a:ext cx="1200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Carregador / rectificador</a:t>
            </a:r>
            <a:endParaRPr sz="135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CA → CC</a:t>
            </a:r>
            <a:endParaRPr sz="1350"/>
          </a:p>
        </p:txBody>
      </p:sp>
      <p:sp>
        <p:nvSpPr>
          <p:cNvPr id="159" name="Google Shape;159;p9"/>
          <p:cNvSpPr/>
          <p:nvPr/>
        </p:nvSpPr>
        <p:spPr>
          <a:xfrm>
            <a:off x="3771979" y="1508764"/>
            <a:ext cx="1337100" cy="8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0" name="Google Shape;160;p9"/>
          <p:cNvSpPr/>
          <p:nvPr/>
        </p:nvSpPr>
        <p:spPr>
          <a:xfrm>
            <a:off x="3840561" y="1659694"/>
            <a:ext cx="1200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Bateria</a:t>
            </a:r>
            <a:endParaRPr sz="135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12 V CC</a:t>
            </a:r>
            <a:endParaRPr sz="1350"/>
          </a:p>
        </p:txBody>
      </p:sp>
      <p:sp>
        <p:nvSpPr>
          <p:cNvPr id="161" name="Google Shape;161;p9"/>
          <p:cNvSpPr/>
          <p:nvPr/>
        </p:nvSpPr>
        <p:spPr>
          <a:xfrm>
            <a:off x="4149177" y="2125985"/>
            <a:ext cx="582600" cy="177900"/>
          </a:xfrm>
          <a:prstGeom prst="roundRect">
            <a:avLst>
              <a:gd fmla="val 16667" name="adj"/>
            </a:avLst>
          </a:prstGeom>
          <a:solidFill>
            <a:srgbClr val="1C9B70"/>
          </a:solidFill>
          <a:ln cap="flat" cmpd="sng" w="9425">
            <a:solidFill>
              <a:srgbClr val="1C9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2" name="Google Shape;162;p9"/>
          <p:cNvSpPr/>
          <p:nvPr/>
        </p:nvSpPr>
        <p:spPr>
          <a:xfrm>
            <a:off x="4149177" y="2139755"/>
            <a:ext cx="582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CC</a:t>
            </a:r>
            <a:endParaRPr sz="1350"/>
          </a:p>
        </p:txBody>
      </p:sp>
      <p:sp>
        <p:nvSpPr>
          <p:cNvPr id="163" name="Google Shape;163;p9"/>
          <p:cNvSpPr/>
          <p:nvPr/>
        </p:nvSpPr>
        <p:spPr>
          <a:xfrm>
            <a:off x="5417933" y="1508764"/>
            <a:ext cx="1337100" cy="8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4" name="Google Shape;164;p9"/>
          <p:cNvSpPr/>
          <p:nvPr/>
        </p:nvSpPr>
        <p:spPr>
          <a:xfrm>
            <a:off x="5486516" y="1659694"/>
            <a:ext cx="1200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Inversor</a:t>
            </a:r>
            <a:endParaRPr sz="135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CC → CA</a:t>
            </a:r>
            <a:endParaRPr sz="1350"/>
          </a:p>
        </p:txBody>
      </p:sp>
      <p:sp>
        <p:nvSpPr>
          <p:cNvPr id="165" name="Google Shape;165;p9"/>
          <p:cNvSpPr/>
          <p:nvPr/>
        </p:nvSpPr>
        <p:spPr>
          <a:xfrm>
            <a:off x="7029598" y="1508764"/>
            <a:ext cx="1337100" cy="89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6" name="Google Shape;166;p9"/>
          <p:cNvSpPr/>
          <p:nvPr/>
        </p:nvSpPr>
        <p:spPr>
          <a:xfrm>
            <a:off x="7098179" y="1659694"/>
            <a:ext cx="1200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Ordinador / equips</a:t>
            </a:r>
            <a:endParaRPr sz="135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230 V CA</a:t>
            </a:r>
            <a:endParaRPr sz="1350"/>
          </a:p>
        </p:txBody>
      </p:sp>
      <p:sp>
        <p:nvSpPr>
          <p:cNvPr id="167" name="Google Shape;167;p9"/>
          <p:cNvSpPr/>
          <p:nvPr/>
        </p:nvSpPr>
        <p:spPr>
          <a:xfrm>
            <a:off x="7406795" y="2125985"/>
            <a:ext cx="582600" cy="177900"/>
          </a:xfrm>
          <a:prstGeom prst="roundRect">
            <a:avLst>
              <a:gd fmla="val 16667" name="adj"/>
            </a:avLst>
          </a:prstGeom>
          <a:solidFill>
            <a:srgbClr val="2F78C7"/>
          </a:solidFill>
          <a:ln cap="flat" cmpd="sng" w="9425">
            <a:solidFill>
              <a:srgbClr val="2F7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68" name="Google Shape;168;p9"/>
          <p:cNvSpPr/>
          <p:nvPr/>
        </p:nvSpPr>
        <p:spPr>
          <a:xfrm>
            <a:off x="7406795" y="2139755"/>
            <a:ext cx="5826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</a:t>
            </a:r>
            <a:endParaRPr sz="1350"/>
          </a:p>
        </p:txBody>
      </p:sp>
      <p:cxnSp>
        <p:nvCxnSpPr>
          <p:cNvPr id="169" name="Google Shape;169;p9"/>
          <p:cNvCxnSpPr/>
          <p:nvPr/>
        </p:nvCxnSpPr>
        <p:spPr>
          <a:xfrm>
            <a:off x="1851699" y="1954535"/>
            <a:ext cx="445800" cy="300"/>
          </a:xfrm>
          <a:prstGeom prst="straightConnector1">
            <a:avLst/>
          </a:prstGeom>
          <a:noFill/>
          <a:ln cap="flat" cmpd="sng" w="19175">
            <a:solidFill>
              <a:srgbClr val="2F78C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9"/>
          <p:cNvCxnSpPr/>
          <p:nvPr/>
        </p:nvCxnSpPr>
        <p:spPr>
          <a:xfrm>
            <a:off x="3497654" y="1954535"/>
            <a:ext cx="445800" cy="300"/>
          </a:xfrm>
          <a:prstGeom prst="straightConnector1">
            <a:avLst/>
          </a:prstGeom>
          <a:noFill/>
          <a:ln cap="flat" cmpd="sng" w="19175">
            <a:solidFill>
              <a:srgbClr val="F28C2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9"/>
          <p:cNvCxnSpPr/>
          <p:nvPr/>
        </p:nvCxnSpPr>
        <p:spPr>
          <a:xfrm>
            <a:off x="5177899" y="1954535"/>
            <a:ext cx="445800" cy="300"/>
          </a:xfrm>
          <a:prstGeom prst="straightConnector1">
            <a:avLst/>
          </a:prstGeom>
          <a:noFill/>
          <a:ln cap="flat" cmpd="sng" w="19175">
            <a:solidFill>
              <a:srgbClr val="2F78C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9"/>
          <p:cNvCxnSpPr/>
          <p:nvPr/>
        </p:nvCxnSpPr>
        <p:spPr>
          <a:xfrm>
            <a:off x="6823853" y="1954535"/>
            <a:ext cx="445800" cy="300"/>
          </a:xfrm>
          <a:prstGeom prst="straightConnector1">
            <a:avLst/>
          </a:prstGeom>
          <a:noFill/>
          <a:ln cap="flat" cmpd="sng" w="19175">
            <a:solidFill>
              <a:srgbClr val="2F78C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" name="Google Shape;173;p9"/>
          <p:cNvSpPr/>
          <p:nvPr/>
        </p:nvSpPr>
        <p:spPr>
          <a:xfrm>
            <a:off x="548651" y="2948948"/>
            <a:ext cx="3909000" cy="99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74" name="Google Shape;174;p9"/>
          <p:cNvSpPr/>
          <p:nvPr/>
        </p:nvSpPr>
        <p:spPr>
          <a:xfrm>
            <a:off x="754395" y="3120398"/>
            <a:ext cx="1714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Quan hi ha xarxa</a:t>
            </a:r>
            <a:endParaRPr sz="1350"/>
          </a:p>
        </p:txBody>
      </p:sp>
      <p:sp>
        <p:nvSpPr>
          <p:cNvPr id="175" name="Google Shape;175;p9"/>
          <p:cNvSpPr/>
          <p:nvPr/>
        </p:nvSpPr>
        <p:spPr>
          <a:xfrm>
            <a:off x="754395" y="3360428"/>
            <a:ext cx="336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La xarxa alimenta el SAI i el carregador manté la bateria carregada.</a:t>
            </a:r>
            <a:endParaRPr sz="1350"/>
          </a:p>
        </p:txBody>
      </p:sp>
      <p:sp>
        <p:nvSpPr>
          <p:cNvPr id="176" name="Google Shape;176;p9"/>
          <p:cNvSpPr/>
          <p:nvPr/>
        </p:nvSpPr>
        <p:spPr>
          <a:xfrm>
            <a:off x="4697829" y="2948948"/>
            <a:ext cx="3909000" cy="9942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77" name="Google Shape;177;p9"/>
          <p:cNvSpPr/>
          <p:nvPr/>
        </p:nvSpPr>
        <p:spPr>
          <a:xfrm>
            <a:off x="4903573" y="3120398"/>
            <a:ext cx="17142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Quan falla la xarxa</a:t>
            </a:r>
            <a:endParaRPr sz="1350"/>
          </a:p>
        </p:txBody>
      </p:sp>
      <p:sp>
        <p:nvSpPr>
          <p:cNvPr id="178" name="Google Shape;178;p9"/>
          <p:cNvSpPr/>
          <p:nvPr/>
        </p:nvSpPr>
        <p:spPr>
          <a:xfrm>
            <a:off x="4903573" y="3360428"/>
            <a:ext cx="342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La bateria dona CC i l’inversor la converteix en CA perquè funcionin els equips.</a:t>
            </a:r>
            <a:endParaRPr sz="1350"/>
          </a:p>
        </p:txBody>
      </p:sp>
      <p:sp>
        <p:nvSpPr>
          <p:cNvPr id="179" name="Google Shape;179;p9"/>
          <p:cNvSpPr/>
          <p:nvPr/>
        </p:nvSpPr>
        <p:spPr>
          <a:xfrm>
            <a:off x="1234475" y="4149100"/>
            <a:ext cx="6583500" cy="459600"/>
          </a:xfrm>
          <a:prstGeom prst="roundRect">
            <a:avLst>
              <a:gd fmla="val 16667" name="adj"/>
            </a:avLst>
          </a:prstGeom>
          <a:solidFill>
            <a:srgbClr val="EDF7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80" name="Google Shape;180;p9"/>
          <p:cNvSpPr/>
          <p:nvPr/>
        </p:nvSpPr>
        <p:spPr>
          <a:xfrm>
            <a:off x="1371628" y="4251971"/>
            <a:ext cx="63093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La bateria emmagatzema energia química i proporciona corrent continu.</a:t>
            </a:r>
            <a:endParaRPr sz="1350"/>
          </a:p>
        </p:txBody>
      </p:sp>
      <p:sp>
        <p:nvSpPr>
          <p:cNvPr id="181" name="Google Shape;18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51713" y="186225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camí de la corrent</a:t>
            </a:r>
            <a:endParaRPr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7543959" y="43214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89" name="Google Shape;189;p10"/>
          <p:cNvSpPr/>
          <p:nvPr/>
        </p:nvSpPr>
        <p:spPr>
          <a:xfrm>
            <a:off x="82352" y="466359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90" name="Google Shape;190;p10"/>
          <p:cNvSpPr/>
          <p:nvPr/>
        </p:nvSpPr>
        <p:spPr>
          <a:xfrm>
            <a:off x="445768" y="1024449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Primer distingim potència, capacitat aparent i dades de la bateria.</a:t>
            </a:r>
            <a:endParaRPr sz="1350"/>
          </a:p>
        </p:txBody>
      </p:sp>
      <p:sp>
        <p:nvSpPr>
          <p:cNvPr id="191" name="Google Shape;191;p10"/>
          <p:cNvSpPr/>
          <p:nvPr/>
        </p:nvSpPr>
        <p:spPr>
          <a:xfrm>
            <a:off x="445779" y="1323683"/>
            <a:ext cx="1810500" cy="468600"/>
          </a:xfrm>
          <a:prstGeom prst="rect">
            <a:avLst/>
          </a:prstGeom>
          <a:solidFill>
            <a:srgbClr val="DCE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92" name="Google Shape;192;p10"/>
          <p:cNvSpPr/>
          <p:nvPr/>
        </p:nvSpPr>
        <p:spPr>
          <a:xfrm>
            <a:off x="480070" y="1344203"/>
            <a:ext cx="1741800" cy="434100"/>
          </a:xfrm>
          <a:prstGeom prst="rect">
            <a:avLst/>
          </a:prstGeom>
          <a:solidFill>
            <a:srgbClr val="0B2E6D"/>
          </a:solidFill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Concepte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256437" y="1323683"/>
            <a:ext cx="3374100" cy="468600"/>
          </a:xfrm>
          <a:prstGeom prst="rect">
            <a:avLst/>
          </a:prstGeom>
          <a:solidFill>
            <a:srgbClr val="DCE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94" name="Google Shape;194;p10"/>
          <p:cNvSpPr/>
          <p:nvPr/>
        </p:nvSpPr>
        <p:spPr>
          <a:xfrm>
            <a:off x="2290728" y="1344203"/>
            <a:ext cx="3305400" cy="434100"/>
          </a:xfrm>
          <a:prstGeom prst="rect">
            <a:avLst/>
          </a:prstGeom>
          <a:solidFill>
            <a:srgbClr val="0B2E6D"/>
          </a:solidFill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Què és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630429" y="1323683"/>
            <a:ext cx="3045000" cy="468600"/>
          </a:xfrm>
          <a:prstGeom prst="rect">
            <a:avLst/>
          </a:prstGeom>
          <a:solidFill>
            <a:srgbClr val="DCE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96" name="Google Shape;196;p10"/>
          <p:cNvSpPr/>
          <p:nvPr/>
        </p:nvSpPr>
        <p:spPr>
          <a:xfrm>
            <a:off x="5664719" y="1344203"/>
            <a:ext cx="2976300" cy="434100"/>
          </a:xfrm>
          <a:prstGeom prst="rect">
            <a:avLst/>
          </a:prstGeom>
          <a:solidFill>
            <a:srgbClr val="0B2E6D"/>
          </a:solidFill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Què cal mirar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45779" y="1792405"/>
            <a:ext cx="18105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98" name="Google Shape;198;p10"/>
          <p:cNvSpPr/>
          <p:nvPr/>
        </p:nvSpPr>
        <p:spPr>
          <a:xfrm>
            <a:off x="480070" y="1812924"/>
            <a:ext cx="1741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W (watts)</a:t>
            </a:r>
            <a:endParaRPr sz="1350"/>
          </a:p>
        </p:txBody>
      </p:sp>
      <p:sp>
        <p:nvSpPr>
          <p:cNvPr id="199" name="Google Shape;199;p10"/>
          <p:cNvSpPr/>
          <p:nvPr/>
        </p:nvSpPr>
        <p:spPr>
          <a:xfrm>
            <a:off x="2256437" y="1792405"/>
            <a:ext cx="33741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00" name="Google Shape;200;p10"/>
          <p:cNvSpPr/>
          <p:nvPr/>
        </p:nvSpPr>
        <p:spPr>
          <a:xfrm>
            <a:off x="2290728" y="1812924"/>
            <a:ext cx="3305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Potència real que consumeixen els equips.</a:t>
            </a:r>
            <a:endParaRPr sz="1350"/>
          </a:p>
        </p:txBody>
      </p:sp>
      <p:sp>
        <p:nvSpPr>
          <p:cNvPr id="201" name="Google Shape;201;p10"/>
          <p:cNvSpPr/>
          <p:nvPr/>
        </p:nvSpPr>
        <p:spPr>
          <a:xfrm>
            <a:off x="5630429" y="1792405"/>
            <a:ext cx="30450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02" name="Google Shape;202;p10"/>
          <p:cNvSpPr/>
          <p:nvPr/>
        </p:nvSpPr>
        <p:spPr>
          <a:xfrm>
            <a:off x="5664719" y="1812924"/>
            <a:ext cx="2976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El SAI ha de tenir més W que la suma dels equips.</a:t>
            </a:r>
            <a:endParaRPr sz="1350"/>
          </a:p>
        </p:txBody>
      </p:sp>
      <p:sp>
        <p:nvSpPr>
          <p:cNvPr id="203" name="Google Shape;203;p10"/>
          <p:cNvSpPr/>
          <p:nvPr/>
        </p:nvSpPr>
        <p:spPr>
          <a:xfrm>
            <a:off x="445779" y="2260855"/>
            <a:ext cx="1810500" cy="4686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04" name="Google Shape;204;p10"/>
          <p:cNvSpPr/>
          <p:nvPr/>
        </p:nvSpPr>
        <p:spPr>
          <a:xfrm>
            <a:off x="480070" y="2281645"/>
            <a:ext cx="1741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VA (voltampers)</a:t>
            </a:r>
            <a:endParaRPr sz="1350"/>
          </a:p>
        </p:txBody>
      </p:sp>
      <p:sp>
        <p:nvSpPr>
          <p:cNvPr id="205" name="Google Shape;205;p10"/>
          <p:cNvSpPr/>
          <p:nvPr/>
        </p:nvSpPr>
        <p:spPr>
          <a:xfrm>
            <a:off x="2256437" y="2260855"/>
            <a:ext cx="3374100" cy="4686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06" name="Google Shape;206;p10"/>
          <p:cNvSpPr/>
          <p:nvPr/>
        </p:nvSpPr>
        <p:spPr>
          <a:xfrm>
            <a:off x="2290728" y="2281645"/>
            <a:ext cx="3305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Capacitat aparent del SAI.</a:t>
            </a:r>
            <a:endParaRPr sz="1350"/>
          </a:p>
        </p:txBody>
      </p:sp>
      <p:sp>
        <p:nvSpPr>
          <p:cNvPr id="207" name="Google Shape;207;p10"/>
          <p:cNvSpPr/>
          <p:nvPr/>
        </p:nvSpPr>
        <p:spPr>
          <a:xfrm>
            <a:off x="5630429" y="2260855"/>
            <a:ext cx="3045000" cy="4686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08" name="Google Shape;208;p10"/>
          <p:cNvSpPr/>
          <p:nvPr/>
        </p:nvSpPr>
        <p:spPr>
          <a:xfrm>
            <a:off x="5664719" y="2281645"/>
            <a:ext cx="2976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El SAI ha de tenir més VA que els necessaris.</a:t>
            </a:r>
            <a:endParaRPr sz="1350"/>
          </a:p>
        </p:txBody>
      </p:sp>
      <p:sp>
        <p:nvSpPr>
          <p:cNvPr id="209" name="Google Shape;209;p10"/>
          <p:cNvSpPr/>
          <p:nvPr/>
        </p:nvSpPr>
        <p:spPr>
          <a:xfrm>
            <a:off x="445779" y="2729577"/>
            <a:ext cx="18105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10" name="Google Shape;210;p10"/>
          <p:cNvSpPr/>
          <p:nvPr/>
        </p:nvSpPr>
        <p:spPr>
          <a:xfrm>
            <a:off x="480070" y="2750097"/>
            <a:ext cx="1741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V (volts)</a:t>
            </a:r>
            <a:endParaRPr sz="1350"/>
          </a:p>
        </p:txBody>
      </p:sp>
      <p:sp>
        <p:nvSpPr>
          <p:cNvPr id="211" name="Google Shape;211;p10"/>
          <p:cNvSpPr/>
          <p:nvPr/>
        </p:nvSpPr>
        <p:spPr>
          <a:xfrm>
            <a:off x="2256437" y="2729577"/>
            <a:ext cx="33741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12" name="Google Shape;212;p10"/>
          <p:cNvSpPr/>
          <p:nvPr/>
        </p:nvSpPr>
        <p:spPr>
          <a:xfrm>
            <a:off x="2290728" y="2750097"/>
            <a:ext cx="3305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Tensió de la bateria.</a:t>
            </a:r>
            <a:endParaRPr sz="1350"/>
          </a:p>
        </p:txBody>
      </p:sp>
      <p:sp>
        <p:nvSpPr>
          <p:cNvPr id="213" name="Google Shape;213;p10"/>
          <p:cNvSpPr/>
          <p:nvPr/>
        </p:nvSpPr>
        <p:spPr>
          <a:xfrm>
            <a:off x="5630429" y="2729577"/>
            <a:ext cx="30450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14" name="Google Shape;214;p10"/>
          <p:cNvSpPr/>
          <p:nvPr/>
        </p:nvSpPr>
        <p:spPr>
          <a:xfrm>
            <a:off x="5664719" y="2750097"/>
            <a:ext cx="2976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Exemple habitual: 12 V.</a:t>
            </a:r>
            <a:endParaRPr sz="1350"/>
          </a:p>
        </p:txBody>
      </p:sp>
      <p:sp>
        <p:nvSpPr>
          <p:cNvPr id="215" name="Google Shape;215;p10"/>
          <p:cNvSpPr/>
          <p:nvPr/>
        </p:nvSpPr>
        <p:spPr>
          <a:xfrm>
            <a:off x="445779" y="3198298"/>
            <a:ext cx="1810500" cy="4686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16" name="Google Shape;216;p10"/>
          <p:cNvSpPr/>
          <p:nvPr/>
        </p:nvSpPr>
        <p:spPr>
          <a:xfrm>
            <a:off x="480070" y="3218818"/>
            <a:ext cx="1741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Ah (ampers hora)</a:t>
            </a:r>
            <a:endParaRPr sz="1350"/>
          </a:p>
        </p:txBody>
      </p:sp>
      <p:sp>
        <p:nvSpPr>
          <p:cNvPr id="217" name="Google Shape;217;p10"/>
          <p:cNvSpPr/>
          <p:nvPr/>
        </p:nvSpPr>
        <p:spPr>
          <a:xfrm>
            <a:off x="2256437" y="3198298"/>
            <a:ext cx="3374100" cy="4686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18" name="Google Shape;218;p10"/>
          <p:cNvSpPr/>
          <p:nvPr/>
        </p:nvSpPr>
        <p:spPr>
          <a:xfrm>
            <a:off x="2290728" y="3218818"/>
            <a:ext cx="3305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Capacitat de la bateria.</a:t>
            </a:r>
            <a:endParaRPr sz="1350"/>
          </a:p>
        </p:txBody>
      </p:sp>
      <p:sp>
        <p:nvSpPr>
          <p:cNvPr id="219" name="Google Shape;219;p10"/>
          <p:cNvSpPr/>
          <p:nvPr/>
        </p:nvSpPr>
        <p:spPr>
          <a:xfrm>
            <a:off x="5630429" y="3198298"/>
            <a:ext cx="3045000" cy="4686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20" name="Google Shape;220;p10"/>
          <p:cNvSpPr/>
          <p:nvPr/>
        </p:nvSpPr>
        <p:spPr>
          <a:xfrm>
            <a:off x="5664719" y="3218818"/>
            <a:ext cx="2976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Com més Ah, més energia pot guardar.</a:t>
            </a:r>
            <a:endParaRPr sz="1350"/>
          </a:p>
        </p:txBody>
      </p:sp>
      <p:sp>
        <p:nvSpPr>
          <p:cNvPr id="221" name="Google Shape;221;p10"/>
          <p:cNvSpPr/>
          <p:nvPr/>
        </p:nvSpPr>
        <p:spPr>
          <a:xfrm>
            <a:off x="445779" y="3666749"/>
            <a:ext cx="18105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22" name="Google Shape;222;p10"/>
          <p:cNvSpPr/>
          <p:nvPr/>
        </p:nvSpPr>
        <p:spPr>
          <a:xfrm>
            <a:off x="480070" y="3687539"/>
            <a:ext cx="1741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Wh (watt-hora)</a:t>
            </a:r>
            <a:endParaRPr sz="1350"/>
          </a:p>
        </p:txBody>
      </p:sp>
      <p:sp>
        <p:nvSpPr>
          <p:cNvPr id="223" name="Google Shape;223;p10"/>
          <p:cNvSpPr/>
          <p:nvPr/>
        </p:nvSpPr>
        <p:spPr>
          <a:xfrm>
            <a:off x="2256437" y="3666749"/>
            <a:ext cx="33741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24" name="Google Shape;224;p10"/>
          <p:cNvSpPr/>
          <p:nvPr/>
        </p:nvSpPr>
        <p:spPr>
          <a:xfrm>
            <a:off x="2290728" y="3687539"/>
            <a:ext cx="3305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Energia emmagatzemada a la bateria.</a:t>
            </a:r>
            <a:endParaRPr sz="1350"/>
          </a:p>
        </p:txBody>
      </p:sp>
      <p:sp>
        <p:nvSpPr>
          <p:cNvPr id="225" name="Google Shape;225;p10"/>
          <p:cNvSpPr/>
          <p:nvPr/>
        </p:nvSpPr>
        <p:spPr>
          <a:xfrm>
            <a:off x="5630429" y="3666749"/>
            <a:ext cx="3045000" cy="4686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26" name="Google Shape;226;p10"/>
          <p:cNvSpPr/>
          <p:nvPr/>
        </p:nvSpPr>
        <p:spPr>
          <a:xfrm>
            <a:off x="5664719" y="3687539"/>
            <a:ext cx="29763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1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Wh = V × Ah. Serveix per estimar autonomia.</a:t>
            </a:r>
            <a:endParaRPr sz="1350"/>
          </a:p>
        </p:txBody>
      </p:sp>
      <p:sp>
        <p:nvSpPr>
          <p:cNvPr id="227" name="Google Shape;227;p10"/>
          <p:cNvSpPr/>
          <p:nvPr/>
        </p:nvSpPr>
        <p:spPr>
          <a:xfrm>
            <a:off x="617233" y="4272631"/>
            <a:ext cx="7818000" cy="376800"/>
          </a:xfrm>
          <a:prstGeom prst="roundRect">
            <a:avLst>
              <a:gd fmla="val 16667" name="adj"/>
            </a:avLst>
          </a:prstGeom>
          <a:solidFill>
            <a:srgbClr val="EAF4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28" name="Google Shape;228;p10"/>
          <p:cNvSpPr/>
          <p:nvPr/>
        </p:nvSpPr>
        <p:spPr>
          <a:xfrm>
            <a:off x="754395" y="4375501"/>
            <a:ext cx="7543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Per triar la potència del SAI: W i VA. Per calcular autonomia: V, Ah, Wh i eficiència.</a:t>
            </a:r>
            <a:endParaRPr sz="1350"/>
          </a:p>
        </p:txBody>
      </p:sp>
      <p:sp>
        <p:nvSpPr>
          <p:cNvPr id="229" name="Google Shape;229;p10"/>
          <p:cNvSpPr/>
          <p:nvPr/>
        </p:nvSpPr>
        <p:spPr>
          <a:xfrm>
            <a:off x="366000" y="229149"/>
            <a:ext cx="8412000" cy="6075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20000" y="324200"/>
            <a:ext cx="6034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</a:rPr>
              <a:t>Característiques bàsiques d’un SAI · I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38" name="Google Shape;238;p11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39" name="Google Shape;239;p11"/>
          <p:cNvSpPr/>
          <p:nvPr/>
        </p:nvSpPr>
        <p:spPr>
          <a:xfrm>
            <a:off x="397718" y="905312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Aquests conceptes relacionen quins equips podem connectar i quant temps aguantaran.</a:t>
            </a:r>
            <a:endParaRPr sz="1350"/>
          </a:p>
        </p:txBody>
      </p:sp>
      <p:sp>
        <p:nvSpPr>
          <p:cNvPr id="240" name="Google Shape;240;p11"/>
          <p:cNvSpPr/>
          <p:nvPr/>
        </p:nvSpPr>
        <p:spPr>
          <a:xfrm>
            <a:off x="445779" y="1234443"/>
            <a:ext cx="2571600" cy="925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41" name="Google Shape;241;p11"/>
          <p:cNvSpPr/>
          <p:nvPr/>
        </p:nvSpPr>
        <p:spPr>
          <a:xfrm>
            <a:off x="582942" y="1357833"/>
            <a:ext cx="22971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Càrrega</a:t>
            </a:r>
            <a:endParaRPr sz="1350"/>
          </a:p>
        </p:txBody>
      </p:sp>
      <p:sp>
        <p:nvSpPr>
          <p:cNvPr id="242" name="Google Shape;242;p11"/>
          <p:cNvSpPr/>
          <p:nvPr/>
        </p:nvSpPr>
        <p:spPr>
          <a:xfrm>
            <a:off x="582942" y="1591114"/>
            <a:ext cx="22971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Conjunt d’equips connectats al SAI. És la suma del consum dels equips.</a:t>
            </a:r>
            <a:endParaRPr sz="1350"/>
          </a:p>
        </p:txBody>
      </p:sp>
      <p:sp>
        <p:nvSpPr>
          <p:cNvPr id="243" name="Google Shape;243;p11"/>
          <p:cNvSpPr/>
          <p:nvPr/>
        </p:nvSpPr>
        <p:spPr>
          <a:xfrm>
            <a:off x="3291909" y="1234443"/>
            <a:ext cx="2571600" cy="925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44" name="Google Shape;244;p11"/>
          <p:cNvSpPr/>
          <p:nvPr/>
        </p:nvSpPr>
        <p:spPr>
          <a:xfrm>
            <a:off x="3429072" y="1357833"/>
            <a:ext cx="22971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Autonomia</a:t>
            </a:r>
            <a:endParaRPr sz="1350"/>
          </a:p>
        </p:txBody>
      </p:sp>
      <p:sp>
        <p:nvSpPr>
          <p:cNvPr id="245" name="Google Shape;245;p11"/>
          <p:cNvSpPr/>
          <p:nvPr/>
        </p:nvSpPr>
        <p:spPr>
          <a:xfrm>
            <a:off x="3429072" y="1591114"/>
            <a:ext cx="22971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Temps que el SAI pot mantenir els equips funcionant amb bateria.</a:t>
            </a:r>
            <a:endParaRPr sz="1350"/>
          </a:p>
        </p:txBody>
      </p:sp>
      <p:sp>
        <p:nvSpPr>
          <p:cNvPr id="246" name="Google Shape;246;p11"/>
          <p:cNvSpPr/>
          <p:nvPr/>
        </p:nvSpPr>
        <p:spPr>
          <a:xfrm>
            <a:off x="6138039" y="1234443"/>
            <a:ext cx="2571600" cy="925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47" name="Google Shape;247;p11"/>
          <p:cNvSpPr/>
          <p:nvPr/>
        </p:nvSpPr>
        <p:spPr>
          <a:xfrm>
            <a:off x="6275202" y="1357833"/>
            <a:ext cx="22971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Capacitat</a:t>
            </a:r>
            <a:endParaRPr sz="1350"/>
          </a:p>
        </p:txBody>
      </p:sp>
      <p:sp>
        <p:nvSpPr>
          <p:cNvPr id="248" name="Google Shape;248;p11"/>
          <p:cNvSpPr/>
          <p:nvPr/>
        </p:nvSpPr>
        <p:spPr>
          <a:xfrm>
            <a:off x="6275202" y="1591114"/>
            <a:ext cx="22971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Potència màxima que el SAI pot subministrar a la càrrega. Pot aparèixer com 330 W / 700 VA.</a:t>
            </a:r>
            <a:endParaRPr sz="1350"/>
          </a:p>
        </p:txBody>
      </p:sp>
      <p:sp>
        <p:nvSpPr>
          <p:cNvPr id="249" name="Google Shape;249;p11"/>
          <p:cNvSpPr/>
          <p:nvPr/>
        </p:nvSpPr>
        <p:spPr>
          <a:xfrm>
            <a:off x="445779" y="2434596"/>
            <a:ext cx="2571600" cy="925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50" name="Google Shape;250;p11"/>
          <p:cNvSpPr/>
          <p:nvPr/>
        </p:nvSpPr>
        <p:spPr>
          <a:xfrm>
            <a:off x="582942" y="2557987"/>
            <a:ext cx="22971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Nombre de bateries</a:t>
            </a:r>
            <a:endParaRPr sz="1350"/>
          </a:p>
        </p:txBody>
      </p:sp>
      <p:sp>
        <p:nvSpPr>
          <p:cNvPr id="251" name="Google Shape;251;p11"/>
          <p:cNvSpPr/>
          <p:nvPr/>
        </p:nvSpPr>
        <p:spPr>
          <a:xfrm>
            <a:off x="582942" y="2791267"/>
            <a:ext cx="22971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Més bateries o més capacitat acostumen a donar més energia disponible.</a:t>
            </a:r>
            <a:endParaRPr sz="1350"/>
          </a:p>
        </p:txBody>
      </p:sp>
      <p:sp>
        <p:nvSpPr>
          <p:cNvPr id="252" name="Google Shape;252;p11"/>
          <p:cNvSpPr/>
          <p:nvPr/>
        </p:nvSpPr>
        <p:spPr>
          <a:xfrm>
            <a:off x="3291909" y="2434596"/>
            <a:ext cx="2571600" cy="925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53" name="Google Shape;253;p11"/>
          <p:cNvSpPr/>
          <p:nvPr/>
        </p:nvSpPr>
        <p:spPr>
          <a:xfrm>
            <a:off x="3429072" y="2557987"/>
            <a:ext cx="22971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Eficiència</a:t>
            </a:r>
            <a:endParaRPr sz="1350"/>
          </a:p>
        </p:txBody>
      </p:sp>
      <p:sp>
        <p:nvSpPr>
          <p:cNvPr id="254" name="Google Shape;254;p11"/>
          <p:cNvSpPr/>
          <p:nvPr/>
        </p:nvSpPr>
        <p:spPr>
          <a:xfrm>
            <a:off x="3429072" y="2791267"/>
            <a:ext cx="22971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Una part de l’energia es perd en calor. Als exercicis pot ser 90–95 %.</a:t>
            </a:r>
            <a:endParaRPr sz="1350"/>
          </a:p>
        </p:txBody>
      </p:sp>
      <p:sp>
        <p:nvSpPr>
          <p:cNvPr id="255" name="Google Shape;255;p11"/>
          <p:cNvSpPr/>
          <p:nvPr/>
        </p:nvSpPr>
        <p:spPr>
          <a:xfrm>
            <a:off x="6138039" y="2434596"/>
            <a:ext cx="2571600" cy="9255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56" name="Google Shape;256;p11"/>
          <p:cNvSpPr/>
          <p:nvPr/>
        </p:nvSpPr>
        <p:spPr>
          <a:xfrm>
            <a:off x="6275202" y="2557987"/>
            <a:ext cx="22971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Marge de seguretat</a:t>
            </a:r>
            <a:endParaRPr sz="1350"/>
          </a:p>
        </p:txBody>
      </p:sp>
      <p:sp>
        <p:nvSpPr>
          <p:cNvPr id="257" name="Google Shape;257;p11"/>
          <p:cNvSpPr/>
          <p:nvPr/>
        </p:nvSpPr>
        <p:spPr>
          <a:xfrm>
            <a:off x="6275202" y="2791267"/>
            <a:ext cx="22971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Reserva extra de potència. En els exercicis utilitzarem sovint 25 %.</a:t>
            </a:r>
            <a:endParaRPr sz="1350"/>
          </a:p>
        </p:txBody>
      </p:sp>
      <p:sp>
        <p:nvSpPr>
          <p:cNvPr id="258" name="Google Shape;258;p11"/>
          <p:cNvSpPr/>
          <p:nvPr/>
        </p:nvSpPr>
        <p:spPr>
          <a:xfrm>
            <a:off x="482650" y="3633825"/>
            <a:ext cx="4638900" cy="445500"/>
          </a:xfrm>
          <a:prstGeom prst="roundRect">
            <a:avLst>
              <a:gd fmla="val 16667" name="adj"/>
            </a:avLst>
          </a:prstGeom>
          <a:solidFill>
            <a:srgbClr val="E5F2FF"/>
          </a:solidFill>
          <a:ln cap="flat" cmpd="sng" w="19050">
            <a:solidFill>
              <a:srgbClr val="0B2E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59" name="Google Shape;259;p11"/>
          <p:cNvSpPr/>
          <p:nvPr/>
        </p:nvSpPr>
        <p:spPr>
          <a:xfrm>
            <a:off x="499644" y="3618513"/>
            <a:ext cx="44922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Wh = N x V × Ah</a:t>
            </a:r>
            <a:endParaRPr sz="1350"/>
          </a:p>
        </p:txBody>
      </p:sp>
      <p:sp>
        <p:nvSpPr>
          <p:cNvPr id="260" name="Google Shape;260;p11"/>
          <p:cNvSpPr/>
          <p:nvPr/>
        </p:nvSpPr>
        <p:spPr>
          <a:xfrm>
            <a:off x="482550" y="4200075"/>
            <a:ext cx="4638900" cy="445500"/>
          </a:xfrm>
          <a:prstGeom prst="roundRect">
            <a:avLst>
              <a:gd fmla="val 16667" name="adj"/>
            </a:avLst>
          </a:prstGeom>
          <a:solidFill>
            <a:srgbClr val="E5F2FF"/>
          </a:solidFill>
          <a:ln cap="flat" cmpd="sng" w="19050">
            <a:solidFill>
              <a:srgbClr val="0B2E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61" name="Google Shape;261;p11"/>
          <p:cNvSpPr/>
          <p:nvPr/>
        </p:nvSpPr>
        <p:spPr>
          <a:xfrm>
            <a:off x="1055075" y="4215125"/>
            <a:ext cx="3936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Wh reals = Wh teòrics × eficiència</a:t>
            </a:r>
            <a:endParaRPr sz="1350"/>
          </a:p>
        </p:txBody>
      </p:sp>
      <p:sp>
        <p:nvSpPr>
          <p:cNvPr id="262" name="Google Shape;262;p11"/>
          <p:cNvSpPr/>
          <p:nvPr/>
        </p:nvSpPr>
        <p:spPr>
          <a:xfrm>
            <a:off x="6138100" y="3703325"/>
            <a:ext cx="2571600" cy="788400"/>
          </a:xfrm>
          <a:prstGeom prst="roundRect">
            <a:avLst>
              <a:gd fmla="val 16667" name="adj"/>
            </a:avLst>
          </a:prstGeom>
          <a:solidFill>
            <a:srgbClr val="FFEFE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63" name="Google Shape;263;p11"/>
          <p:cNvSpPr/>
          <p:nvPr/>
        </p:nvSpPr>
        <p:spPr>
          <a:xfrm>
            <a:off x="6755272" y="3806200"/>
            <a:ext cx="15771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D94848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endParaRPr sz="1350"/>
          </a:p>
        </p:txBody>
      </p:sp>
      <p:sp>
        <p:nvSpPr>
          <p:cNvPr id="264" name="Google Shape;264;p11"/>
          <p:cNvSpPr/>
          <p:nvPr/>
        </p:nvSpPr>
        <p:spPr>
          <a:xfrm>
            <a:off x="6755272" y="3998170"/>
            <a:ext cx="15771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La bateria es degrada amb el temps.</a:t>
            </a:r>
            <a:endParaRPr sz="1350"/>
          </a:p>
        </p:txBody>
      </p:sp>
      <p:sp>
        <p:nvSpPr>
          <p:cNvPr id="265" name="Google Shape;265;p11"/>
          <p:cNvSpPr/>
          <p:nvPr/>
        </p:nvSpPr>
        <p:spPr>
          <a:xfrm>
            <a:off x="366000" y="229149"/>
            <a:ext cx="8412000" cy="5868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20000" y="324200"/>
            <a:ext cx="60348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</a:rPr>
              <a:t>Característiques bàsiques d’un SAI · II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74" name="Google Shape;274;p12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75" name="Google Shape;275;p12"/>
          <p:cNvSpPr/>
          <p:nvPr/>
        </p:nvSpPr>
        <p:spPr>
          <a:xfrm>
            <a:off x="394393" y="984149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5B6B7A"/>
                </a:solidFill>
              </a:rPr>
              <a:t>Offline, line-interactive i online resolen problemes diferents</a:t>
            </a:r>
            <a:endParaRPr sz="1350"/>
          </a:p>
        </p:txBody>
      </p:sp>
      <p:sp>
        <p:nvSpPr>
          <p:cNvPr id="276" name="Google Shape;276;p12"/>
          <p:cNvSpPr/>
          <p:nvPr/>
        </p:nvSpPr>
        <p:spPr>
          <a:xfrm>
            <a:off x="397675" y="1332125"/>
            <a:ext cx="2635500" cy="2914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77" name="Google Shape;277;p12"/>
          <p:cNvSpPr/>
          <p:nvPr/>
        </p:nvSpPr>
        <p:spPr>
          <a:xfrm>
            <a:off x="548606" y="1429833"/>
            <a:ext cx="22287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SAI offline</a:t>
            </a:r>
            <a:endParaRPr sz="1350"/>
          </a:p>
        </p:txBody>
      </p:sp>
      <p:pic>
        <p:nvPicPr>
          <p:cNvPr id="278" name="Google Shape;2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869" y="1901289"/>
            <a:ext cx="972543" cy="85698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/>
          <p:nvPr/>
        </p:nvSpPr>
        <p:spPr>
          <a:xfrm>
            <a:off x="592500" y="2840900"/>
            <a:ext cx="2328600" cy="11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rmAutofit/>
          </a:bodyPr>
          <a:lstStyle/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Els equips s’alimenten normalment de la xarxa.</a:t>
            </a:r>
            <a:endParaRPr sz="1350"/>
          </a:p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Si hi ha un tall, passa a bateria en uns mil·lisegons.</a:t>
            </a:r>
            <a:endParaRPr sz="1350"/>
          </a:p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És el més senzill i econòmic.</a:t>
            </a:r>
            <a:endParaRPr sz="1350"/>
          </a:p>
        </p:txBody>
      </p:sp>
      <p:sp>
        <p:nvSpPr>
          <p:cNvPr id="280" name="Google Shape;280;p12"/>
          <p:cNvSpPr/>
          <p:nvPr/>
        </p:nvSpPr>
        <p:spPr>
          <a:xfrm>
            <a:off x="3285981" y="1332125"/>
            <a:ext cx="2635500" cy="2914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81" name="Google Shape;281;p12"/>
          <p:cNvSpPr/>
          <p:nvPr/>
        </p:nvSpPr>
        <p:spPr>
          <a:xfrm>
            <a:off x="3291875" y="1429825"/>
            <a:ext cx="28170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SAI line-interactive</a:t>
            </a:r>
            <a:r>
              <a:rPr b="1" lang="ca" sz="1500">
                <a:solidFill>
                  <a:srgbClr val="0B2E6D"/>
                </a:solidFill>
              </a:rPr>
              <a:t> </a:t>
            </a:r>
            <a:endParaRPr b="1" sz="1500">
              <a:solidFill>
                <a:srgbClr val="0B2E6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>
                <a:solidFill>
                  <a:srgbClr val="0B2E6D"/>
                </a:solidFill>
              </a:rPr>
              <a:t>( interactiu)</a:t>
            </a:r>
            <a:endParaRPr sz="1350"/>
          </a:p>
        </p:txBody>
      </p:sp>
      <p:pic>
        <p:nvPicPr>
          <p:cNvPr id="282" name="Google Shape;2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6126" y="1901289"/>
            <a:ext cx="972543" cy="85698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2"/>
          <p:cNvSpPr/>
          <p:nvPr/>
        </p:nvSpPr>
        <p:spPr>
          <a:xfrm>
            <a:off x="3449775" y="2895850"/>
            <a:ext cx="23721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rmAutofit/>
          </a:bodyPr>
          <a:lstStyle/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Afegeix AVR: regulació automàtica del voltatge.</a:t>
            </a:r>
            <a:endParaRPr sz="1350"/>
          </a:p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Corregeix pujades i baixades moderades sense gastar bateria.</a:t>
            </a:r>
            <a:endParaRPr sz="1350"/>
          </a:p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Si hi ha un tall, passa a bateria en uns mil·lisegons.</a:t>
            </a:r>
            <a:endParaRPr sz="1350"/>
          </a:p>
        </p:txBody>
      </p:sp>
      <p:sp>
        <p:nvSpPr>
          <p:cNvPr id="284" name="Google Shape;284;p12"/>
          <p:cNvSpPr/>
          <p:nvPr/>
        </p:nvSpPr>
        <p:spPr>
          <a:xfrm>
            <a:off x="6174287" y="1332125"/>
            <a:ext cx="2635500" cy="29145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85" name="Google Shape;285;p12"/>
          <p:cNvSpPr/>
          <p:nvPr/>
        </p:nvSpPr>
        <p:spPr>
          <a:xfrm>
            <a:off x="6035121" y="1429833"/>
            <a:ext cx="22287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SAI online</a:t>
            </a:r>
            <a:endParaRPr sz="1350"/>
          </a:p>
        </p:txBody>
      </p:sp>
      <p:pic>
        <p:nvPicPr>
          <p:cNvPr id="286" name="Google Shape;28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8304" y="1901289"/>
            <a:ext cx="974703" cy="85698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2"/>
          <p:cNvSpPr/>
          <p:nvPr/>
        </p:nvSpPr>
        <p:spPr>
          <a:xfrm>
            <a:off x="6344675" y="2840900"/>
            <a:ext cx="23286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rmAutofit/>
          </a:bodyPr>
          <a:lstStyle/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Doble conversió contínua: AC → DC → AC.</a:t>
            </a:r>
            <a:endParaRPr sz="1350"/>
          </a:p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L’inversor alimenta sempre els equips.</a:t>
            </a:r>
            <a:endParaRPr sz="1350"/>
          </a:p>
          <a:p>
            <a:pPr indent="-283373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315C"/>
              </a:buClr>
              <a:buSzPts val="863"/>
              <a:buFont typeface="Arial"/>
              <a:buChar char="●"/>
            </a:pPr>
            <a:r>
              <a:rPr lang="ca" sz="863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Si falla la xarxa, el canvi és de 0 ms.</a:t>
            </a:r>
            <a:endParaRPr sz="1350"/>
          </a:p>
        </p:txBody>
      </p:sp>
      <p:sp>
        <p:nvSpPr>
          <p:cNvPr id="288" name="Google Shape;288;p12"/>
          <p:cNvSpPr/>
          <p:nvPr/>
        </p:nvSpPr>
        <p:spPr>
          <a:xfrm>
            <a:off x="459775" y="4354900"/>
            <a:ext cx="79584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Offline → bàsic · </a:t>
            </a:r>
            <a:r>
              <a:rPr b="1" lang="ca" sz="1300">
                <a:solidFill>
                  <a:srgbClr val="0B2E6D"/>
                </a:solidFill>
              </a:rPr>
              <a:t>L</a:t>
            </a:r>
            <a:r>
              <a:rPr b="1" lang="ca" sz="13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ine-interactive → AVR · Online → màxima protecció i 0 ms de transferència</a:t>
            </a:r>
            <a:endParaRPr sz="1300"/>
          </a:p>
        </p:txBody>
      </p:sp>
      <p:sp>
        <p:nvSpPr>
          <p:cNvPr id="289" name="Google Shape;289;p12"/>
          <p:cNvSpPr/>
          <p:nvPr/>
        </p:nvSpPr>
        <p:spPr>
          <a:xfrm>
            <a:off x="397737" y="21937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90" name="Google Shape;290;p12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Tipus de SAI segons la protecció</a:t>
            </a:r>
            <a:endParaRPr sz="1350"/>
          </a:p>
        </p:txBody>
      </p:sp>
      <p:sp>
        <p:nvSpPr>
          <p:cNvPr id="291" name="Google Shape;29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298" name="Google Shape;298;p14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Càrrega, autonomia i capacitat</a:t>
            </a:r>
            <a:endParaRPr sz="1350"/>
          </a:p>
        </p:txBody>
      </p:sp>
      <p:sp>
        <p:nvSpPr>
          <p:cNvPr id="299" name="Google Shape;299;p14"/>
          <p:cNvSpPr/>
          <p:nvPr/>
        </p:nvSpPr>
        <p:spPr>
          <a:xfrm>
            <a:off x="456849" y="118854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Tres de les característiques més rellevants d’un SAI. Estan relacionades entre elles.</a:t>
            </a:r>
            <a:endParaRPr sz="1350"/>
          </a:p>
        </p:txBody>
      </p:sp>
      <p:sp>
        <p:nvSpPr>
          <p:cNvPr id="300" name="Google Shape;300;p14"/>
          <p:cNvSpPr/>
          <p:nvPr/>
        </p:nvSpPr>
        <p:spPr>
          <a:xfrm>
            <a:off x="457119" y="1691554"/>
            <a:ext cx="2559900" cy="283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01" name="Google Shape;301;p14"/>
          <p:cNvSpPr/>
          <p:nvPr/>
        </p:nvSpPr>
        <p:spPr>
          <a:xfrm>
            <a:off x="639913" y="1874344"/>
            <a:ext cx="685500" cy="6855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302" name="Google Shape;3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117" y="2052545"/>
            <a:ext cx="328591" cy="32859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4"/>
          <p:cNvSpPr/>
          <p:nvPr/>
        </p:nvSpPr>
        <p:spPr>
          <a:xfrm>
            <a:off x="639913" y="2697037"/>
            <a:ext cx="219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Càrrega</a:t>
            </a:r>
            <a:endParaRPr sz="1350"/>
          </a:p>
        </p:txBody>
      </p:sp>
      <p:sp>
        <p:nvSpPr>
          <p:cNvPr id="304" name="Google Shape;304;p14"/>
          <p:cNvSpPr/>
          <p:nvPr/>
        </p:nvSpPr>
        <p:spPr>
          <a:xfrm>
            <a:off x="639913" y="3108517"/>
            <a:ext cx="21942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1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El conjunt d’equips que té connectats: la suma dels W dels equips.</a:t>
            </a:r>
            <a:endParaRPr sz="1350"/>
          </a:p>
        </p:txBody>
      </p:sp>
      <p:sp>
        <p:nvSpPr>
          <p:cNvPr id="305" name="Google Shape;305;p14"/>
          <p:cNvSpPr/>
          <p:nvPr/>
        </p:nvSpPr>
        <p:spPr>
          <a:xfrm>
            <a:off x="3291639" y="1691554"/>
            <a:ext cx="2559900" cy="283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06" name="Google Shape;306;p14"/>
          <p:cNvSpPr/>
          <p:nvPr/>
        </p:nvSpPr>
        <p:spPr>
          <a:xfrm>
            <a:off x="3474703" y="1874344"/>
            <a:ext cx="685500" cy="6855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307" name="Google Shape;3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2907" y="2052545"/>
            <a:ext cx="328591" cy="32859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/>
          <p:nvPr/>
        </p:nvSpPr>
        <p:spPr>
          <a:xfrm>
            <a:off x="3474703" y="2697037"/>
            <a:ext cx="219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Autonomia</a:t>
            </a:r>
            <a:endParaRPr sz="1350"/>
          </a:p>
        </p:txBody>
      </p:sp>
      <p:sp>
        <p:nvSpPr>
          <p:cNvPr id="309" name="Google Shape;309;p14"/>
          <p:cNvSpPr/>
          <p:nvPr/>
        </p:nvSpPr>
        <p:spPr>
          <a:xfrm>
            <a:off x="3474703" y="3108517"/>
            <a:ext cx="21942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1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La quantitat de temps que pot subministrar energia de la bateria a una càrrega concreta.</a:t>
            </a:r>
            <a:endParaRPr sz="1350"/>
          </a:p>
        </p:txBody>
      </p:sp>
      <p:sp>
        <p:nvSpPr>
          <p:cNvPr id="310" name="Google Shape;310;p14"/>
          <p:cNvSpPr/>
          <p:nvPr/>
        </p:nvSpPr>
        <p:spPr>
          <a:xfrm>
            <a:off x="6126429" y="1691554"/>
            <a:ext cx="2559900" cy="283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11" name="Google Shape;311;p14"/>
          <p:cNvSpPr/>
          <p:nvPr/>
        </p:nvSpPr>
        <p:spPr>
          <a:xfrm>
            <a:off x="6309223" y="1874344"/>
            <a:ext cx="685500" cy="6855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312" name="Google Shape;3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7427" y="2052545"/>
            <a:ext cx="328591" cy="32859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4"/>
          <p:cNvSpPr/>
          <p:nvPr/>
        </p:nvSpPr>
        <p:spPr>
          <a:xfrm>
            <a:off x="6309223" y="2697037"/>
            <a:ext cx="219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Capacitat</a:t>
            </a:r>
            <a:endParaRPr sz="1350"/>
          </a:p>
        </p:txBody>
      </p:sp>
      <p:sp>
        <p:nvSpPr>
          <p:cNvPr id="314" name="Google Shape;314;p14"/>
          <p:cNvSpPr/>
          <p:nvPr/>
        </p:nvSpPr>
        <p:spPr>
          <a:xfrm>
            <a:off x="6309223" y="3108517"/>
            <a:ext cx="21942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1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La potència màxima que pot subministrar a la seva càrrega.</a:t>
            </a:r>
            <a:endParaRPr sz="1350"/>
          </a:p>
        </p:txBody>
      </p:sp>
      <p:sp>
        <p:nvSpPr>
          <p:cNvPr id="315" name="Google Shape;31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22" name="Google Shape;322;p15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Potència aparent i potència real</a:t>
            </a:r>
            <a:endParaRPr sz="1350"/>
          </a:p>
        </p:txBody>
      </p:sp>
      <p:sp>
        <p:nvSpPr>
          <p:cNvPr id="323" name="Google Shape;323;p15"/>
          <p:cNvSpPr/>
          <p:nvPr/>
        </p:nvSpPr>
        <p:spPr>
          <a:xfrm>
            <a:off x="456799" y="111374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La capacitat de potència de sortida d’un SAI s’expressa amb dos valors diferents.</a:t>
            </a:r>
            <a:endParaRPr sz="1350"/>
          </a:p>
        </p:txBody>
      </p:sp>
      <p:sp>
        <p:nvSpPr>
          <p:cNvPr id="324" name="Google Shape;324;p15"/>
          <p:cNvSpPr/>
          <p:nvPr/>
        </p:nvSpPr>
        <p:spPr>
          <a:xfrm>
            <a:off x="456550" y="1479451"/>
            <a:ext cx="8229300" cy="6783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25" name="Google Shape;325;p15"/>
          <p:cNvSpPr/>
          <p:nvPr/>
        </p:nvSpPr>
        <p:spPr>
          <a:xfrm>
            <a:off x="593700" y="1479451"/>
            <a:ext cx="7954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Exemple d’un model concret:   330 W / 700 VA</a:t>
            </a:r>
            <a:endParaRPr sz="1350"/>
          </a:p>
        </p:txBody>
      </p:sp>
      <p:sp>
        <p:nvSpPr>
          <p:cNvPr id="326" name="Google Shape;326;p15"/>
          <p:cNvSpPr/>
          <p:nvPr/>
        </p:nvSpPr>
        <p:spPr>
          <a:xfrm>
            <a:off x="456850" y="2390264"/>
            <a:ext cx="4023000" cy="159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27" name="Google Shape;327;p15"/>
          <p:cNvSpPr/>
          <p:nvPr/>
        </p:nvSpPr>
        <p:spPr>
          <a:xfrm>
            <a:off x="685539" y="2618695"/>
            <a:ext cx="822300" cy="5028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</a:t>
            </a:r>
            <a:endParaRPr sz="1350"/>
          </a:p>
        </p:txBody>
      </p:sp>
      <p:sp>
        <p:nvSpPr>
          <p:cNvPr id="328" name="Google Shape;328;p15"/>
          <p:cNvSpPr/>
          <p:nvPr/>
        </p:nvSpPr>
        <p:spPr>
          <a:xfrm>
            <a:off x="1691310" y="2618965"/>
            <a:ext cx="2651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Potència aparent</a:t>
            </a:r>
            <a:endParaRPr sz="1350"/>
          </a:p>
        </p:txBody>
      </p:sp>
      <p:sp>
        <p:nvSpPr>
          <p:cNvPr id="329" name="Google Shape;329;p15"/>
          <p:cNvSpPr/>
          <p:nvPr/>
        </p:nvSpPr>
        <p:spPr>
          <a:xfrm>
            <a:off x="685550" y="3258863"/>
            <a:ext cx="35658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41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És la que subministra el SAI cap a la càrrega i sempre apareix en voltamperes (VA)</a:t>
            </a:r>
            <a:r>
              <a:rPr lang="ca" sz="101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330" name="Google Shape;330;p15"/>
          <p:cNvSpPr/>
          <p:nvPr/>
        </p:nvSpPr>
        <p:spPr>
          <a:xfrm>
            <a:off x="4663000" y="2390264"/>
            <a:ext cx="4023000" cy="154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31" name="Google Shape;331;p15"/>
          <p:cNvSpPr/>
          <p:nvPr/>
        </p:nvSpPr>
        <p:spPr>
          <a:xfrm>
            <a:off x="4891688" y="2618695"/>
            <a:ext cx="822300" cy="502800"/>
          </a:xfrm>
          <a:prstGeom prst="roundRect">
            <a:avLst>
              <a:gd fmla="val 16667" name="adj"/>
            </a:avLst>
          </a:prstGeom>
          <a:solidFill>
            <a:srgbClr val="1D546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sz="1350"/>
          </a:p>
        </p:txBody>
      </p:sp>
      <p:sp>
        <p:nvSpPr>
          <p:cNvPr id="332" name="Google Shape;332;p15"/>
          <p:cNvSpPr/>
          <p:nvPr/>
        </p:nvSpPr>
        <p:spPr>
          <a:xfrm>
            <a:off x="5897409" y="2669177"/>
            <a:ext cx="26511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Potència real</a:t>
            </a:r>
            <a:endParaRPr sz="1350"/>
          </a:p>
        </p:txBody>
      </p:sp>
      <p:sp>
        <p:nvSpPr>
          <p:cNvPr id="333" name="Google Shape;333;p15"/>
          <p:cNvSpPr/>
          <p:nvPr/>
        </p:nvSpPr>
        <p:spPr>
          <a:xfrm>
            <a:off x="4891700" y="3258863"/>
            <a:ext cx="3565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És la que consumeix realment la càrrega i sempre apareix en watts (W).</a:t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457300" y="4174932"/>
            <a:ext cx="8229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Per escollir correctament un SAI hem de comprovar dues dades: la potència real (W) i la potència aparent (VA.) No n'hi ha prou amb una sola.</a:t>
            </a:r>
            <a:endParaRPr b="1" sz="1200"/>
          </a:p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42" name="Google Shape;342;p16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43" name="Google Shape;343;p16"/>
          <p:cNvSpPr/>
          <p:nvPr/>
        </p:nvSpPr>
        <p:spPr>
          <a:xfrm>
            <a:off x="397725" y="973849"/>
            <a:ext cx="80238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Els càlculs d’autonomia utilitzen energia útil, no només energia teòrica.</a:t>
            </a:r>
            <a:endParaRPr sz="1350"/>
          </a:p>
        </p:txBody>
      </p:sp>
      <p:sp>
        <p:nvSpPr>
          <p:cNvPr id="344" name="Google Shape;344;p16"/>
          <p:cNvSpPr/>
          <p:nvPr/>
        </p:nvSpPr>
        <p:spPr>
          <a:xfrm>
            <a:off x="617225" y="1303025"/>
            <a:ext cx="3771600" cy="197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45" name="Google Shape;345;p16"/>
          <p:cNvSpPr/>
          <p:nvPr/>
        </p:nvSpPr>
        <p:spPr>
          <a:xfrm>
            <a:off x="822977" y="1481223"/>
            <a:ext cx="19200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Què passa?</a:t>
            </a:r>
            <a:endParaRPr sz="1350"/>
          </a:p>
        </p:txBody>
      </p:sp>
      <p:sp>
        <p:nvSpPr>
          <p:cNvPr id="346" name="Google Shape;346;p16"/>
          <p:cNvSpPr/>
          <p:nvPr/>
        </p:nvSpPr>
        <p:spPr>
          <a:xfrm>
            <a:off x="699575" y="1908575"/>
            <a:ext cx="3606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El SAI transforma CC de la bateria en CA per als equips. </a:t>
            </a:r>
            <a:r>
              <a:rPr b="1" lang="ca" sz="1200" u="none">
                <a:solidFill>
                  <a:srgbClr val="13315C"/>
                </a:solidFill>
              </a:rPr>
              <a:t>En aquesta conversió es perd una part de l’energia en forma de calor.</a:t>
            </a:r>
            <a:endParaRPr b="1" sz="1200"/>
          </a:p>
        </p:txBody>
      </p:sp>
      <p:sp>
        <p:nvSpPr>
          <p:cNvPr id="347" name="Google Shape;347;p16"/>
          <p:cNvSpPr/>
          <p:nvPr/>
        </p:nvSpPr>
        <p:spPr>
          <a:xfrm>
            <a:off x="4732125" y="1303025"/>
            <a:ext cx="3954300" cy="1979400"/>
          </a:xfrm>
          <a:prstGeom prst="roundRect">
            <a:avLst>
              <a:gd fmla="val 16667" name="adj"/>
            </a:avLst>
          </a:prstGeom>
          <a:solidFill>
            <a:srgbClr val="EFFAF4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48" name="Google Shape;348;p16"/>
          <p:cNvSpPr/>
          <p:nvPr/>
        </p:nvSpPr>
        <p:spPr>
          <a:xfrm>
            <a:off x="4937864" y="1481223"/>
            <a:ext cx="19200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C9B70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sz="1350"/>
          </a:p>
        </p:txBody>
      </p:sp>
      <p:sp>
        <p:nvSpPr>
          <p:cNvPr id="349" name="Google Shape;349;p16"/>
          <p:cNvSpPr/>
          <p:nvPr/>
        </p:nvSpPr>
        <p:spPr>
          <a:xfrm>
            <a:off x="5006445" y="1851665"/>
            <a:ext cx="3154500" cy="376800"/>
          </a:xfrm>
          <a:prstGeom prst="roundRect">
            <a:avLst>
              <a:gd fmla="val 16667" name="adj"/>
            </a:avLst>
          </a:prstGeom>
          <a:solidFill>
            <a:srgbClr val="E5F2FF"/>
          </a:solidFill>
          <a:ln cap="flat" cmpd="sng" w="9425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50" name="Google Shape;350;p16"/>
          <p:cNvSpPr/>
          <p:nvPr/>
        </p:nvSpPr>
        <p:spPr>
          <a:xfrm>
            <a:off x="5006445" y="1885955"/>
            <a:ext cx="31545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100 Wh × 0,90 = 90 Wh útils</a:t>
            </a:r>
            <a:endParaRPr sz="1350"/>
          </a:p>
        </p:txBody>
      </p:sp>
      <p:sp>
        <p:nvSpPr>
          <p:cNvPr id="351" name="Google Shape;351;p16"/>
          <p:cNvSpPr/>
          <p:nvPr/>
        </p:nvSpPr>
        <p:spPr>
          <a:xfrm>
            <a:off x="5075026" y="2317956"/>
            <a:ext cx="3017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Els 10 Wh restants es dissipen en calor.</a:t>
            </a:r>
            <a:endParaRPr sz="1350"/>
          </a:p>
        </p:txBody>
      </p:sp>
      <p:sp>
        <p:nvSpPr>
          <p:cNvPr id="352" name="Google Shape;352;p16"/>
          <p:cNvSpPr/>
          <p:nvPr/>
        </p:nvSpPr>
        <p:spPr>
          <a:xfrm>
            <a:off x="685825" y="3641600"/>
            <a:ext cx="8000400" cy="9696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53" name="Google Shape;353;p16"/>
          <p:cNvSpPr/>
          <p:nvPr/>
        </p:nvSpPr>
        <p:spPr>
          <a:xfrm>
            <a:off x="1200175" y="3752913"/>
            <a:ext cx="68580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Recordatori per als exercicis</a:t>
            </a:r>
            <a:endParaRPr sz="1500"/>
          </a:p>
        </p:txBody>
      </p:sp>
      <p:sp>
        <p:nvSpPr>
          <p:cNvPr id="354" name="Google Shape;354;p16"/>
          <p:cNvSpPr/>
          <p:nvPr/>
        </p:nvSpPr>
        <p:spPr>
          <a:xfrm>
            <a:off x="1200175" y="4073607"/>
            <a:ext cx="68580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El 90 % o 95 % són hipòtesis si l’enunciat ho diu. En un cas real, cal consultar l</a:t>
            </a:r>
            <a:r>
              <a:rPr b="1" lang="ca" sz="1175" u="none">
                <a:solidFill>
                  <a:srgbClr val="13315C"/>
                </a:solidFill>
              </a:rPr>
              <a:t>a fitxa tècnica o l’autonomia publicada pel fabricant.</a:t>
            </a:r>
            <a:endParaRPr b="1" sz="1550"/>
          </a:p>
        </p:txBody>
      </p:sp>
      <p:sp>
        <p:nvSpPr>
          <p:cNvPr id="355" name="Google Shape;355;p16"/>
          <p:cNvSpPr/>
          <p:nvPr/>
        </p:nvSpPr>
        <p:spPr>
          <a:xfrm>
            <a:off x="274337" y="1944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56" name="Google Shape;356;p16"/>
          <p:cNvSpPr/>
          <p:nvPr/>
        </p:nvSpPr>
        <p:spPr>
          <a:xfrm>
            <a:off x="539513" y="194425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Eficiència: una part es perd en calor</a:t>
            </a:r>
            <a:endParaRPr sz="1350"/>
          </a:p>
        </p:txBody>
      </p:sp>
      <p:sp>
        <p:nvSpPr>
          <p:cNvPr id="357" name="Google Shape;3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5d76b0bcde729d58_0_36"/>
          <p:cNvSpPr/>
          <p:nvPr/>
        </p:nvSpPr>
        <p:spPr>
          <a:xfrm>
            <a:off x="397737" y="21937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64" name="Google Shape;364;h5d76b0bcde729d58_0_36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Eficiencia en funció de la 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càrrega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 autonomia</a:t>
            </a:r>
            <a:endParaRPr sz="1350"/>
          </a:p>
        </p:txBody>
      </p:sp>
      <p:sp>
        <p:nvSpPr>
          <p:cNvPr id="365" name="Google Shape;365;h5d76b0bcde729d58_0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366" name="Google Shape;366;h5d76b0bcde729d58_0_36"/>
          <p:cNvSpPr txBox="1"/>
          <p:nvPr/>
        </p:nvSpPr>
        <p:spPr>
          <a:xfrm>
            <a:off x="563425" y="1293100"/>
            <a:ext cx="8246400" cy="83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 sz="1700">
                <a:solidFill>
                  <a:schemeClr val="dk1"/>
                </a:solidFill>
              </a:rPr>
              <a:t>Si la fitxa del SAI no indica l'eficiència de l'inversor, potser ens diuen quelcom com </a:t>
            </a:r>
            <a:r>
              <a:rPr lang="ca" sz="1700">
                <a:solidFill>
                  <a:schemeClr val="dk1"/>
                </a:solidFill>
              </a:rPr>
              <a:t>autonomía</a:t>
            </a:r>
            <a:r>
              <a:rPr lang="ca" sz="1700">
                <a:solidFill>
                  <a:schemeClr val="dk1"/>
                </a:solidFill>
              </a:rPr>
              <a:t> del SAI a una determinada c</a:t>
            </a:r>
            <a:r>
              <a:rPr lang="ca" sz="1700">
                <a:solidFill>
                  <a:schemeClr val="dk1"/>
                </a:solidFill>
              </a:rPr>
              <a:t>árrega.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367" name="Google Shape;367;h5d76b0bcde729d58_0_36"/>
          <p:cNvSpPr/>
          <p:nvPr/>
        </p:nvSpPr>
        <p:spPr>
          <a:xfrm>
            <a:off x="506225" y="2272750"/>
            <a:ext cx="8303700" cy="2477100"/>
          </a:xfrm>
          <a:prstGeom prst="roundRect">
            <a:avLst>
              <a:gd fmla="val 2192" name="adj"/>
            </a:avLst>
          </a:prstGeom>
          <a:solidFill>
            <a:schemeClr val="lt1"/>
          </a:solidFill>
          <a:ln cap="flat" cmpd="sng" w="11700">
            <a:solidFill>
              <a:srgbClr val="D8E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50" lIns="84250" spcFirstLastPara="1" rIns="84250" wrap="square" tIns="8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68" name="Google Shape;368;h5d76b0bcde729d58_0_36"/>
          <p:cNvSpPr/>
          <p:nvPr/>
        </p:nvSpPr>
        <p:spPr>
          <a:xfrm>
            <a:off x="777359" y="2462767"/>
            <a:ext cx="20334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488"/>
              <a:buFont typeface="Arial"/>
              <a:buNone/>
            </a:pPr>
            <a:r>
              <a:rPr b="1" i="0" lang="ca" sz="1500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Exemple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h5d76b0bcde729d58_0_36"/>
          <p:cNvSpPr/>
          <p:nvPr/>
        </p:nvSpPr>
        <p:spPr>
          <a:xfrm>
            <a:off x="763802" y="2849587"/>
            <a:ext cx="135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304"/>
              <a:buFont typeface="Arial"/>
              <a:buNone/>
            </a:pPr>
            <a:r>
              <a:rPr b="1" i="0" lang="ca" sz="1500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h5d76b0bcde729d58_0_36"/>
          <p:cNvSpPr/>
          <p:nvPr/>
        </p:nvSpPr>
        <p:spPr>
          <a:xfrm>
            <a:off x="1048493" y="2836014"/>
            <a:ext cx="7388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028"/>
              <a:buFont typeface="Arial"/>
              <a:buNone/>
            </a:pPr>
            <a:r>
              <a:rPr b="0" i="0" lang="ca" sz="1500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Tenim un SAI amb les característiques següents: 1350 VA i 810 W.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h5d76b0bcde729d58_0_36"/>
          <p:cNvSpPr/>
          <p:nvPr/>
        </p:nvSpPr>
        <p:spPr>
          <a:xfrm>
            <a:off x="763802" y="3209261"/>
            <a:ext cx="135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304"/>
              <a:buFont typeface="Arial"/>
              <a:buNone/>
            </a:pPr>
            <a:r>
              <a:rPr b="1" i="0" lang="ca" sz="1500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h5d76b0bcde729d58_0_36"/>
          <p:cNvSpPr/>
          <p:nvPr/>
        </p:nvSpPr>
        <p:spPr>
          <a:xfrm>
            <a:off x="1048493" y="3195689"/>
            <a:ext cx="7388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028"/>
              <a:buFont typeface="Arial"/>
              <a:buNone/>
            </a:pPr>
            <a:r>
              <a:rPr b="0" i="0" lang="ca" sz="1500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Capacitat de les bateries: 2 bateries (N = 2) de 12 V i 9 Ah.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h5d76b0bcde729d58_0_36"/>
          <p:cNvSpPr/>
          <p:nvPr/>
        </p:nvSpPr>
        <p:spPr>
          <a:xfrm>
            <a:off x="763802" y="3568936"/>
            <a:ext cx="1356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304"/>
              <a:buFont typeface="Arial"/>
              <a:buNone/>
            </a:pPr>
            <a:r>
              <a:rPr b="1" i="0" lang="ca" sz="1500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h5d76b0bcde729d58_0_36"/>
          <p:cNvSpPr/>
          <p:nvPr/>
        </p:nvSpPr>
        <p:spPr>
          <a:xfrm>
            <a:off x="1048493" y="3555363"/>
            <a:ext cx="7388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028"/>
              <a:buFont typeface="Arial"/>
              <a:buNone/>
            </a:pPr>
            <a:r>
              <a:rPr b="0" i="0" lang="ca" sz="1500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No sabem la seva eficiència, però a la fitxa tècnica trobem aquesta informació: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h5d76b0bcde729d58_0_36"/>
          <p:cNvSpPr/>
          <p:nvPr/>
        </p:nvSpPr>
        <p:spPr>
          <a:xfrm>
            <a:off x="1048493" y="3935397"/>
            <a:ext cx="73884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700" lIns="700" spcFirstLastPara="1" rIns="700" wrap="square" tIns="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212"/>
              <a:buFont typeface="Arial"/>
              <a:buNone/>
            </a:pPr>
            <a:r>
              <a:rPr b="1" i="0" lang="ca" sz="1500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amb el SAI carregat al 75 % de la seva capacitat,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212"/>
              <a:buFont typeface="Arial"/>
              <a:buNone/>
            </a:pPr>
            <a:r>
              <a:rPr b="1" i="0" lang="ca" sz="1500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té una autonomia de 10 minuts.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5d76b0bcde729d58_0_45"/>
          <p:cNvSpPr/>
          <p:nvPr/>
        </p:nvSpPr>
        <p:spPr>
          <a:xfrm>
            <a:off x="397737" y="21937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382" name="Google Shape;382;h5d76b0bcde729d58_0_45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Eficiencia en funció de la càrrega i autonomia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h5d76b0bcde729d58_0_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384" name="Google Shape;384;h5d76b0bcde729d58_0_45"/>
          <p:cNvSpPr/>
          <p:nvPr/>
        </p:nvSpPr>
        <p:spPr>
          <a:xfrm>
            <a:off x="397725" y="1148400"/>
            <a:ext cx="8313900" cy="3854700"/>
          </a:xfrm>
          <a:prstGeom prst="roundRect">
            <a:avLst>
              <a:gd fmla="val 1379" name="adj"/>
            </a:avLst>
          </a:prstGeom>
          <a:solidFill>
            <a:schemeClr val="lt1"/>
          </a:solidFill>
          <a:ln cap="flat" cmpd="sng" w="9225">
            <a:solidFill>
              <a:srgbClr val="D8E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450" lIns="66450" spcFirstLastPara="1" rIns="66450" wrap="square" tIns="6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h5d76b0bcde729d58_0_45"/>
          <p:cNvSpPr/>
          <p:nvPr/>
        </p:nvSpPr>
        <p:spPr>
          <a:xfrm>
            <a:off x="669204" y="1394312"/>
            <a:ext cx="3732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181"/>
              <a:buFont typeface="Arial"/>
              <a:buNone/>
            </a:pPr>
            <a:r>
              <a:rPr b="1" i="0" lang="ca" sz="2181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Pas 1 i pas 2</a:t>
            </a:r>
            <a:endParaRPr b="0" i="0" sz="218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h5d76b0bcde729d58_0_45"/>
          <p:cNvSpPr/>
          <p:nvPr/>
        </p:nvSpPr>
        <p:spPr>
          <a:xfrm>
            <a:off x="635269" y="1866197"/>
            <a:ext cx="373500" cy="365700"/>
          </a:xfrm>
          <a:prstGeom prst="ellipse">
            <a:avLst/>
          </a:prstGeom>
          <a:solidFill>
            <a:srgbClr val="D9ECFF"/>
          </a:solidFill>
          <a:ln cap="flat" cmpd="sng" w="9225">
            <a:solidFill>
              <a:srgbClr val="D9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450" lIns="66450" spcFirstLastPara="1" rIns="66450" wrap="square" tIns="6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h5d76b0bcde729d58_0_45"/>
          <p:cNvSpPr/>
          <p:nvPr/>
        </p:nvSpPr>
        <p:spPr>
          <a:xfrm>
            <a:off x="635269" y="1919368"/>
            <a:ext cx="373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599"/>
              <a:buFont typeface="Arial"/>
              <a:buNone/>
            </a:pPr>
            <a:r>
              <a:rPr b="1" i="0" lang="ca" sz="1599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h5d76b0bcde729d58_0_45"/>
          <p:cNvSpPr/>
          <p:nvPr/>
        </p:nvSpPr>
        <p:spPr>
          <a:xfrm>
            <a:off x="1144293" y="1912721"/>
            <a:ext cx="6651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744"/>
              <a:buFont typeface="Arial"/>
              <a:buNone/>
            </a:pPr>
            <a:r>
              <a:rPr b="0" i="0" lang="ca" sz="1744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Calculem els Wh teòrics de les bateries.</a:t>
            </a:r>
            <a:endParaRPr b="0" i="0" sz="17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h5d76b0bcde729d58_0_45"/>
          <p:cNvSpPr/>
          <p:nvPr/>
        </p:nvSpPr>
        <p:spPr>
          <a:xfrm>
            <a:off x="1076424" y="2278266"/>
            <a:ext cx="7465800" cy="498300"/>
          </a:xfrm>
          <a:prstGeom prst="roundRect">
            <a:avLst>
              <a:gd fmla="val 10667" name="adj"/>
            </a:avLst>
          </a:prstGeom>
          <a:solidFill>
            <a:srgbClr val="E9F4FF"/>
          </a:solidFill>
          <a:ln cap="flat" cmpd="sng" w="9225">
            <a:solidFill>
              <a:srgbClr val="D2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450" lIns="66450" spcFirstLastPara="1" rIns="66450" wrap="square" tIns="6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h5d76b0bcde729d58_0_45"/>
          <p:cNvSpPr/>
          <p:nvPr/>
        </p:nvSpPr>
        <p:spPr>
          <a:xfrm>
            <a:off x="1178228" y="2364668"/>
            <a:ext cx="726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817"/>
              <a:buFont typeface="Arial"/>
              <a:buNone/>
            </a:pPr>
            <a:r>
              <a:rPr b="0" i="0" lang="ca" sz="1817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Wh teòrics = N × V × Ah = 2 × 12 × 9 = 216 Wh teòrics</a:t>
            </a:r>
            <a:endParaRPr b="0" i="0" sz="18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h5d76b0bcde729d58_0_45"/>
          <p:cNvSpPr/>
          <p:nvPr/>
        </p:nvSpPr>
        <p:spPr>
          <a:xfrm>
            <a:off x="635269" y="3075819"/>
            <a:ext cx="373500" cy="365700"/>
          </a:xfrm>
          <a:prstGeom prst="ellipse">
            <a:avLst/>
          </a:prstGeom>
          <a:solidFill>
            <a:srgbClr val="D9ECFF"/>
          </a:solidFill>
          <a:ln cap="flat" cmpd="sng" w="9225">
            <a:solidFill>
              <a:srgbClr val="D9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450" lIns="66450" spcFirstLastPara="1" rIns="66450" wrap="square" tIns="6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h5d76b0bcde729d58_0_45"/>
          <p:cNvSpPr/>
          <p:nvPr/>
        </p:nvSpPr>
        <p:spPr>
          <a:xfrm>
            <a:off x="635269" y="3128989"/>
            <a:ext cx="373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599"/>
              <a:buFont typeface="Arial"/>
              <a:buNone/>
            </a:pPr>
            <a:r>
              <a:rPr b="1" i="0" lang="ca" sz="1599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h5d76b0bcde729d58_0_45"/>
          <p:cNvSpPr/>
          <p:nvPr/>
        </p:nvSpPr>
        <p:spPr>
          <a:xfrm>
            <a:off x="1144293" y="3122343"/>
            <a:ext cx="66510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744"/>
              <a:buFont typeface="Arial"/>
              <a:buNone/>
            </a:pPr>
            <a:r>
              <a:rPr b="0" i="0" lang="ca" sz="1744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Calculem els Wh reals en funció de l’eficiència.</a:t>
            </a:r>
            <a:endParaRPr b="0" i="0" sz="17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h5d76b0bcde729d58_0_45"/>
          <p:cNvSpPr/>
          <p:nvPr/>
        </p:nvSpPr>
        <p:spPr>
          <a:xfrm>
            <a:off x="1076424" y="3507826"/>
            <a:ext cx="7465800" cy="518400"/>
          </a:xfrm>
          <a:prstGeom prst="roundRect">
            <a:avLst>
              <a:gd fmla="val 10256" name="adj"/>
            </a:avLst>
          </a:prstGeom>
          <a:solidFill>
            <a:srgbClr val="E9F4FF"/>
          </a:solidFill>
          <a:ln cap="flat" cmpd="sng" w="9225">
            <a:solidFill>
              <a:srgbClr val="D2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450" lIns="66450" spcFirstLastPara="1" rIns="66450" wrap="square" tIns="6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h5d76b0bcde729d58_0_45"/>
          <p:cNvSpPr/>
          <p:nvPr/>
        </p:nvSpPr>
        <p:spPr>
          <a:xfrm>
            <a:off x="1178228" y="3594228"/>
            <a:ext cx="72621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035"/>
              <a:buFont typeface="Arial"/>
              <a:buNone/>
            </a:pPr>
            <a:r>
              <a:rPr b="0" i="0" lang="ca" sz="2035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Wh reals = Wh teòrics × η = 216 × η</a:t>
            </a:r>
            <a:endParaRPr b="0" i="0" sz="2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h5d76b0bcde729d58_0_45"/>
          <p:cNvSpPr/>
          <p:nvPr/>
        </p:nvSpPr>
        <p:spPr>
          <a:xfrm>
            <a:off x="1144293" y="4272148"/>
            <a:ext cx="7126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090"/>
              <a:buFont typeface="Arial"/>
              <a:buNone/>
            </a:pPr>
            <a:r>
              <a:rPr b="0" i="1" lang="ca" sz="1090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η representa el factor global d'energia aprofitable a aquesta càrrega</a:t>
            </a:r>
            <a:endParaRPr b="0" i="0" sz="10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5d76b0bcde729d58_0_56"/>
          <p:cNvSpPr/>
          <p:nvPr/>
        </p:nvSpPr>
        <p:spPr>
          <a:xfrm>
            <a:off x="397737" y="21937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03" name="Google Shape;403;h5d76b0bcde729d58_0_56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Eficiencia en funció de la càrrega i autonomia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h5d76b0bcde729d58_0_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405" name="Google Shape;405;h5d76b0bcde729d58_0_56"/>
          <p:cNvSpPr/>
          <p:nvPr/>
        </p:nvSpPr>
        <p:spPr>
          <a:xfrm>
            <a:off x="463675" y="1190050"/>
            <a:ext cx="7425900" cy="3559800"/>
          </a:xfrm>
          <a:prstGeom prst="roundRect">
            <a:avLst>
              <a:gd fmla="val 1379" name="adj"/>
            </a:avLst>
          </a:prstGeom>
          <a:solidFill>
            <a:schemeClr val="lt1"/>
          </a:solidFill>
          <a:ln cap="flat" cmpd="sng" w="8525">
            <a:solidFill>
              <a:srgbClr val="D8E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75" lIns="61375" spcFirstLastPara="1" rIns="61375" wrap="square" tIns="6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5d76b0bcde729d58_0_56"/>
          <p:cNvSpPr/>
          <p:nvPr/>
        </p:nvSpPr>
        <p:spPr>
          <a:xfrm>
            <a:off x="675849" y="1453961"/>
            <a:ext cx="333600" cy="337500"/>
          </a:xfrm>
          <a:prstGeom prst="ellipse">
            <a:avLst/>
          </a:prstGeom>
          <a:solidFill>
            <a:srgbClr val="D9ECFF"/>
          </a:solidFill>
          <a:ln cap="flat" cmpd="sng" w="8525">
            <a:solidFill>
              <a:srgbClr val="D9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75" lIns="61375" spcFirstLastPara="1" rIns="61375" wrap="square" tIns="6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h5d76b0bcde729d58_0_56"/>
          <p:cNvSpPr/>
          <p:nvPr/>
        </p:nvSpPr>
        <p:spPr>
          <a:xfrm>
            <a:off x="675849" y="1503061"/>
            <a:ext cx="3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477"/>
              <a:buFont typeface="Arial"/>
              <a:buNone/>
            </a:pPr>
            <a:r>
              <a:rPr b="1" i="0" lang="ca" sz="1477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h5d76b0bcde729d58_0_56"/>
          <p:cNvSpPr/>
          <p:nvPr/>
        </p:nvSpPr>
        <p:spPr>
          <a:xfrm>
            <a:off x="1130506" y="1539886"/>
            <a:ext cx="27279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946"/>
              <a:buFont typeface="Arial"/>
              <a:buNone/>
            </a:pPr>
            <a:r>
              <a:rPr b="1" i="0" lang="ca" sz="1946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Sabem que:</a:t>
            </a:r>
            <a:endParaRPr b="0" i="0" sz="19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h5d76b0bcde729d58_0_56"/>
          <p:cNvSpPr/>
          <p:nvPr/>
        </p:nvSpPr>
        <p:spPr>
          <a:xfrm>
            <a:off x="1191127" y="1969508"/>
            <a:ext cx="6061800" cy="644400"/>
          </a:xfrm>
          <a:prstGeom prst="roundRect">
            <a:avLst>
              <a:gd fmla="val 7619" name="adj"/>
            </a:avLst>
          </a:prstGeom>
          <a:solidFill>
            <a:srgbClr val="E9F4FF"/>
          </a:solidFill>
          <a:ln cap="flat" cmpd="sng" w="8525">
            <a:solidFill>
              <a:srgbClr val="D2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75" lIns="61375" spcFirstLastPara="1" rIns="61375" wrap="square" tIns="6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h5d76b0bcde729d58_0_56"/>
          <p:cNvSpPr/>
          <p:nvPr/>
        </p:nvSpPr>
        <p:spPr>
          <a:xfrm>
            <a:off x="1539325" y="2122888"/>
            <a:ext cx="2258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946"/>
              <a:buFont typeface="Arial"/>
              <a:buNone/>
            </a:pPr>
            <a:r>
              <a:rPr b="0" i="0" lang="ca" sz="1946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Autonomia (min) =</a:t>
            </a:r>
            <a:endParaRPr b="0" i="0" sz="19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h5d76b0bcde729d58_0_56"/>
          <p:cNvSpPr/>
          <p:nvPr/>
        </p:nvSpPr>
        <p:spPr>
          <a:xfrm>
            <a:off x="3979695" y="2000196"/>
            <a:ext cx="12126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879"/>
              <a:buFont typeface="Arial"/>
              <a:buNone/>
            </a:pPr>
            <a:r>
              <a:rPr b="0" i="0" lang="ca" sz="187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Wh reals</a:t>
            </a:r>
            <a:endParaRPr b="0" i="0" sz="18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h5d76b0bcde729d58_0_56"/>
          <p:cNvCxnSpPr/>
          <p:nvPr/>
        </p:nvCxnSpPr>
        <p:spPr>
          <a:xfrm>
            <a:off x="4028192" y="2288656"/>
            <a:ext cx="1115400" cy="0"/>
          </a:xfrm>
          <a:prstGeom prst="straightConnector1">
            <a:avLst/>
          </a:prstGeom>
          <a:noFill/>
          <a:ln cap="flat" cmpd="sng" w="11075">
            <a:solidFill>
              <a:srgbClr val="0D2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h5d76b0bcde729d58_0_56"/>
          <p:cNvSpPr/>
          <p:nvPr/>
        </p:nvSpPr>
        <p:spPr>
          <a:xfrm>
            <a:off x="3979695" y="2307069"/>
            <a:ext cx="12126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879"/>
              <a:buFont typeface="Arial"/>
              <a:buNone/>
            </a:pPr>
            <a:r>
              <a:rPr b="0" i="0" lang="ca" sz="187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8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h5d76b0bcde729d58_0_56"/>
          <p:cNvSpPr/>
          <p:nvPr/>
        </p:nvSpPr>
        <p:spPr>
          <a:xfrm>
            <a:off x="5373979" y="2159770"/>
            <a:ext cx="8487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946"/>
              <a:buFont typeface="Arial"/>
              <a:buNone/>
            </a:pPr>
            <a:r>
              <a:rPr b="0" i="0" lang="ca" sz="1946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× 60</a:t>
            </a:r>
            <a:endParaRPr b="0" i="0" sz="194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h5d76b0bcde729d58_0_56"/>
          <p:cNvSpPr/>
          <p:nvPr/>
        </p:nvSpPr>
        <p:spPr>
          <a:xfrm>
            <a:off x="675849" y="2939228"/>
            <a:ext cx="333600" cy="337500"/>
          </a:xfrm>
          <a:prstGeom prst="ellipse">
            <a:avLst/>
          </a:prstGeom>
          <a:solidFill>
            <a:srgbClr val="D9ECFF"/>
          </a:solidFill>
          <a:ln cap="flat" cmpd="sng" w="8525">
            <a:solidFill>
              <a:srgbClr val="D9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75" lIns="61375" spcFirstLastPara="1" rIns="61375" wrap="square" tIns="6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h5d76b0bcde729d58_0_56"/>
          <p:cNvSpPr/>
          <p:nvPr/>
        </p:nvSpPr>
        <p:spPr>
          <a:xfrm>
            <a:off x="675849" y="2988328"/>
            <a:ext cx="3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477"/>
              <a:buFont typeface="Arial"/>
              <a:buNone/>
            </a:pPr>
            <a:r>
              <a:rPr b="1" i="0" lang="ca" sz="1477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7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h5d76b0bcde729d58_0_56"/>
          <p:cNvSpPr/>
          <p:nvPr/>
        </p:nvSpPr>
        <p:spPr>
          <a:xfrm>
            <a:off x="1130506" y="3025152"/>
            <a:ext cx="5880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879"/>
              <a:buFont typeface="Arial"/>
              <a:buNone/>
            </a:pPr>
            <a:r>
              <a:rPr b="1" i="0" lang="ca" sz="1879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La potència de treball és el 75 % de 810 W:</a:t>
            </a:r>
            <a:endParaRPr b="0" i="0" sz="18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h5d76b0bcde729d58_0_56"/>
          <p:cNvSpPr/>
          <p:nvPr/>
        </p:nvSpPr>
        <p:spPr>
          <a:xfrm>
            <a:off x="1191127" y="3540700"/>
            <a:ext cx="3819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879"/>
              <a:buFont typeface="Arial"/>
              <a:buNone/>
            </a:pPr>
            <a:r>
              <a:rPr b="0" i="0" lang="ca" sz="187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P = 0,75 × 810 = 607,5 W</a:t>
            </a:r>
            <a:endParaRPr b="0" i="0" sz="18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h5d76b0bcde729d58_0_56"/>
          <p:cNvSpPr/>
          <p:nvPr/>
        </p:nvSpPr>
        <p:spPr>
          <a:xfrm>
            <a:off x="1191127" y="4013285"/>
            <a:ext cx="6607800" cy="429600"/>
          </a:xfrm>
          <a:prstGeom prst="roundRect">
            <a:avLst>
              <a:gd fmla="val 11429" name="adj"/>
            </a:avLst>
          </a:prstGeom>
          <a:solidFill>
            <a:srgbClr val="E9F4FF"/>
          </a:solidFill>
          <a:ln cap="flat" cmpd="sng" w="8525">
            <a:solidFill>
              <a:srgbClr val="D2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375" lIns="61375" spcFirstLastPara="1" rIns="61375" wrap="square" tIns="6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h5d76b0bcde729d58_0_56"/>
          <p:cNvSpPr/>
          <p:nvPr/>
        </p:nvSpPr>
        <p:spPr>
          <a:xfrm>
            <a:off x="1282059" y="4093072"/>
            <a:ext cx="6426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678"/>
              <a:buFont typeface="Arial"/>
              <a:buNone/>
            </a:pPr>
            <a:r>
              <a:rPr b="1" i="0" lang="ca" sz="1678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Per tant, treballarem amb una càrrega de 607,5 W.</a:t>
            </a:r>
            <a:endParaRPr b="0" i="0" sz="16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h5d76b0bcde729d58_0_108"/>
          <p:cNvSpPr/>
          <p:nvPr/>
        </p:nvSpPr>
        <p:spPr>
          <a:xfrm>
            <a:off x="397737" y="21937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27" name="Google Shape;427;h5d76b0bcde729d58_0_108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Eficiencia en funció de la càrrega i autonomia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h5d76b0bcde729d58_0_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429" name="Google Shape;429;h5d76b0bcde729d58_0_108"/>
          <p:cNvSpPr/>
          <p:nvPr/>
        </p:nvSpPr>
        <p:spPr>
          <a:xfrm>
            <a:off x="435975" y="1086675"/>
            <a:ext cx="8312700" cy="3870000"/>
          </a:xfrm>
          <a:prstGeom prst="roundRect">
            <a:avLst>
              <a:gd fmla="val 1379" name="adj"/>
            </a:avLst>
          </a:prstGeom>
          <a:solidFill>
            <a:schemeClr val="lt1"/>
          </a:solidFill>
          <a:ln cap="flat" cmpd="sng" w="9250">
            <a:solidFill>
              <a:srgbClr val="D8E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725" lIns="66725" spcFirstLastPara="1" rIns="66725" wrap="square" tIns="6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2"/>
          </a:p>
        </p:txBody>
      </p:sp>
      <p:sp>
        <p:nvSpPr>
          <p:cNvPr id="430" name="Google Shape;430;h5d76b0bcde729d58_0_108"/>
          <p:cNvSpPr/>
          <p:nvPr/>
        </p:nvSpPr>
        <p:spPr>
          <a:xfrm>
            <a:off x="673483" y="1353587"/>
            <a:ext cx="373200" cy="366900"/>
          </a:xfrm>
          <a:prstGeom prst="ellipse">
            <a:avLst/>
          </a:prstGeom>
          <a:solidFill>
            <a:srgbClr val="D9ECFF"/>
          </a:solidFill>
          <a:ln cap="flat" cmpd="sng" w="9250">
            <a:solidFill>
              <a:srgbClr val="D9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725" lIns="66725" spcFirstLastPara="1" rIns="66725" wrap="square" tIns="6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h5d76b0bcde729d58_0_108"/>
          <p:cNvSpPr/>
          <p:nvPr/>
        </p:nvSpPr>
        <p:spPr>
          <a:xfrm>
            <a:off x="673483" y="1406970"/>
            <a:ext cx="37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605"/>
              <a:buFont typeface="Arial"/>
              <a:buNone/>
            </a:pPr>
            <a:r>
              <a:rPr b="1" i="0" lang="ca" sz="1605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h5d76b0bcde729d58_0_108"/>
          <p:cNvSpPr/>
          <p:nvPr/>
        </p:nvSpPr>
        <p:spPr>
          <a:xfrm>
            <a:off x="1182430" y="1453679"/>
            <a:ext cx="7328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116"/>
              <a:buFont typeface="Arial"/>
              <a:buNone/>
            </a:pPr>
            <a:r>
              <a:rPr b="1" i="0" lang="ca" sz="2116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Substituïm a la fórmula de l’autonomia:</a:t>
            </a:r>
            <a:endParaRPr b="0" i="0" sz="21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h5d76b0bcde729d58_0_108"/>
          <p:cNvSpPr/>
          <p:nvPr/>
        </p:nvSpPr>
        <p:spPr>
          <a:xfrm>
            <a:off x="1928875" y="1887397"/>
            <a:ext cx="5428800" cy="889800"/>
          </a:xfrm>
          <a:prstGeom prst="roundRect">
            <a:avLst>
              <a:gd fmla="val 7143" name="adj"/>
            </a:avLst>
          </a:prstGeom>
          <a:solidFill>
            <a:srgbClr val="E9F4FF"/>
          </a:solidFill>
          <a:ln cap="flat" cmpd="sng" w="9250">
            <a:solidFill>
              <a:srgbClr val="D2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725" lIns="66725" spcFirstLastPara="1" rIns="66725" wrap="square" tIns="6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h5d76b0bcde729d58_0_108"/>
          <p:cNvSpPr/>
          <p:nvPr/>
        </p:nvSpPr>
        <p:spPr>
          <a:xfrm>
            <a:off x="3150358" y="2154324"/>
            <a:ext cx="814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262"/>
              <a:buFont typeface="Arial"/>
              <a:buNone/>
            </a:pPr>
            <a:r>
              <a:rPr b="0" i="0" lang="ca" sz="2262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10 =</a:t>
            </a:r>
            <a:endParaRPr b="0" i="0" sz="22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h5d76b0bcde729d58_0_108"/>
          <p:cNvSpPr/>
          <p:nvPr/>
        </p:nvSpPr>
        <p:spPr>
          <a:xfrm>
            <a:off x="3964673" y="1987504"/>
            <a:ext cx="14928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189"/>
              <a:buFont typeface="Arial"/>
              <a:buNone/>
            </a:pPr>
            <a:r>
              <a:rPr b="0" i="0" lang="ca" sz="218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216 × η</a:t>
            </a:r>
            <a:endParaRPr b="0" i="0" sz="21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h5d76b0bcde729d58_0_108"/>
          <p:cNvCxnSpPr/>
          <p:nvPr/>
        </p:nvCxnSpPr>
        <p:spPr>
          <a:xfrm>
            <a:off x="4018960" y="2301126"/>
            <a:ext cx="1384500" cy="0"/>
          </a:xfrm>
          <a:prstGeom prst="straightConnector1">
            <a:avLst/>
          </a:prstGeom>
          <a:noFill/>
          <a:ln cap="flat" cmpd="sng" w="12050">
            <a:solidFill>
              <a:srgbClr val="0D2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h5d76b0bcde729d58_0_108"/>
          <p:cNvSpPr/>
          <p:nvPr/>
        </p:nvSpPr>
        <p:spPr>
          <a:xfrm>
            <a:off x="3964673" y="2321144"/>
            <a:ext cx="14928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189"/>
              <a:buFont typeface="Arial"/>
              <a:buNone/>
            </a:pPr>
            <a:r>
              <a:rPr b="0" i="0" lang="ca" sz="218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607,5</a:t>
            </a:r>
            <a:endParaRPr b="0" i="0" sz="21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h5d76b0bcde729d58_0_108"/>
          <p:cNvSpPr/>
          <p:nvPr/>
        </p:nvSpPr>
        <p:spPr>
          <a:xfrm>
            <a:off x="5525443" y="2154324"/>
            <a:ext cx="9498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262"/>
              <a:buFont typeface="Arial"/>
              <a:buNone/>
            </a:pPr>
            <a:r>
              <a:rPr b="0" i="0" lang="ca" sz="2262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× 60</a:t>
            </a:r>
            <a:endParaRPr b="0" i="0" sz="22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h5d76b0bcde729d58_0_108"/>
          <p:cNvSpPr/>
          <p:nvPr/>
        </p:nvSpPr>
        <p:spPr>
          <a:xfrm>
            <a:off x="673483" y="3075172"/>
            <a:ext cx="373200" cy="366900"/>
          </a:xfrm>
          <a:prstGeom prst="ellipse">
            <a:avLst/>
          </a:prstGeom>
          <a:solidFill>
            <a:srgbClr val="D9ECFF"/>
          </a:solidFill>
          <a:ln cap="flat" cmpd="sng" w="9250">
            <a:solidFill>
              <a:srgbClr val="D9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725" lIns="66725" spcFirstLastPara="1" rIns="66725" wrap="square" tIns="6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h5d76b0bcde729d58_0_108"/>
          <p:cNvSpPr/>
          <p:nvPr/>
        </p:nvSpPr>
        <p:spPr>
          <a:xfrm>
            <a:off x="673483" y="3128554"/>
            <a:ext cx="37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605"/>
              <a:buFont typeface="Arial"/>
              <a:buNone/>
            </a:pPr>
            <a:r>
              <a:rPr b="1" i="0" lang="ca" sz="1605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h5d76b0bcde729d58_0_108"/>
          <p:cNvSpPr/>
          <p:nvPr/>
        </p:nvSpPr>
        <p:spPr>
          <a:xfrm>
            <a:off x="1182430" y="3168591"/>
            <a:ext cx="3257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116"/>
              <a:buFont typeface="Arial"/>
              <a:buNone/>
            </a:pPr>
            <a:r>
              <a:rPr b="1" i="0" lang="ca" sz="2116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Simplifiquem:</a:t>
            </a:r>
            <a:endParaRPr b="0" i="0" sz="21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h5d76b0bcde729d58_0_108"/>
          <p:cNvSpPr/>
          <p:nvPr/>
        </p:nvSpPr>
        <p:spPr>
          <a:xfrm>
            <a:off x="1928875" y="3535600"/>
            <a:ext cx="5428800" cy="1227600"/>
          </a:xfrm>
          <a:prstGeom prst="roundRect">
            <a:avLst>
              <a:gd fmla="val 5634" name="adj"/>
            </a:avLst>
          </a:prstGeom>
          <a:solidFill>
            <a:srgbClr val="E9F4FF"/>
          </a:solidFill>
          <a:ln cap="flat" cmpd="sng" w="9250">
            <a:solidFill>
              <a:srgbClr val="D2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725" lIns="66725" spcFirstLastPara="1" rIns="66725" wrap="square" tIns="6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h5d76b0bcde729d58_0_108"/>
          <p:cNvSpPr/>
          <p:nvPr/>
        </p:nvSpPr>
        <p:spPr>
          <a:xfrm>
            <a:off x="3204462" y="3651770"/>
            <a:ext cx="814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189"/>
              <a:buFont typeface="Arial"/>
              <a:buNone/>
            </a:pPr>
            <a:r>
              <a:rPr b="0" i="0" lang="ca" sz="218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10 =</a:t>
            </a:r>
            <a:endParaRPr b="0" i="0" sz="21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h5d76b0bcde729d58_0_108"/>
          <p:cNvSpPr/>
          <p:nvPr/>
        </p:nvSpPr>
        <p:spPr>
          <a:xfrm>
            <a:off x="3964673" y="3535595"/>
            <a:ext cx="1560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116"/>
              <a:buFont typeface="Arial"/>
              <a:buNone/>
            </a:pPr>
            <a:r>
              <a:rPr b="0" i="0" lang="ca" sz="2116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12960 × η</a:t>
            </a:r>
            <a:endParaRPr b="0" i="0" sz="21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h5d76b0bcde729d58_0_108"/>
          <p:cNvCxnSpPr/>
          <p:nvPr/>
        </p:nvCxnSpPr>
        <p:spPr>
          <a:xfrm>
            <a:off x="4018960" y="3849217"/>
            <a:ext cx="1452300" cy="0"/>
          </a:xfrm>
          <a:prstGeom prst="straightConnector1">
            <a:avLst/>
          </a:prstGeom>
          <a:noFill/>
          <a:ln cap="flat" cmpd="sng" w="12050">
            <a:solidFill>
              <a:srgbClr val="0D2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h5d76b0bcde729d58_0_108"/>
          <p:cNvSpPr/>
          <p:nvPr/>
        </p:nvSpPr>
        <p:spPr>
          <a:xfrm>
            <a:off x="3964673" y="3869236"/>
            <a:ext cx="1560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116"/>
              <a:buFont typeface="Arial"/>
              <a:buNone/>
            </a:pPr>
            <a:r>
              <a:rPr b="0" i="0" lang="ca" sz="2116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607,5</a:t>
            </a:r>
            <a:endParaRPr b="0" i="0" sz="21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h5d76b0bcde729d58_0_108"/>
          <p:cNvSpPr/>
          <p:nvPr/>
        </p:nvSpPr>
        <p:spPr>
          <a:xfrm>
            <a:off x="3014639" y="4222895"/>
            <a:ext cx="3121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50" lIns="550" spcFirstLastPara="1" rIns="550" wrap="square" tIns="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189"/>
              <a:buFont typeface="Arial"/>
              <a:buNone/>
            </a:pPr>
            <a:r>
              <a:rPr b="0" i="0" lang="ca" sz="218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10 = 21,33 × η</a:t>
            </a:r>
            <a:endParaRPr b="0" i="0" sz="21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5d76b0bcde729d58_0_150"/>
          <p:cNvSpPr/>
          <p:nvPr/>
        </p:nvSpPr>
        <p:spPr>
          <a:xfrm>
            <a:off x="397737" y="21937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54" name="Google Shape;454;h5d76b0bcde729d58_0_150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Eficiencia en funció de la càrrega i autonomia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h5d76b0bcde729d58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456" name="Google Shape;456;h5d76b0bcde729d58_0_150"/>
          <p:cNvSpPr/>
          <p:nvPr/>
        </p:nvSpPr>
        <p:spPr>
          <a:xfrm>
            <a:off x="397725" y="1086650"/>
            <a:ext cx="8368200" cy="3464700"/>
          </a:xfrm>
          <a:prstGeom prst="roundRect">
            <a:avLst>
              <a:gd fmla="val 1379" name="adj"/>
            </a:avLst>
          </a:prstGeom>
          <a:solidFill>
            <a:schemeClr val="lt1"/>
          </a:solidFill>
          <a:ln cap="flat" cmpd="sng" w="9475">
            <a:solidFill>
              <a:srgbClr val="D8E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h5d76b0bcde729d58_0_150"/>
          <p:cNvSpPr/>
          <p:nvPr/>
        </p:nvSpPr>
        <p:spPr>
          <a:xfrm>
            <a:off x="670966" y="1339396"/>
            <a:ext cx="1707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241"/>
              <a:buFont typeface="Arial"/>
              <a:buNone/>
            </a:pPr>
            <a:r>
              <a:rPr b="1" i="0" lang="ca" sz="2241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Pas 7</a:t>
            </a:r>
            <a:endParaRPr b="0" i="0" sz="22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h5d76b0bcde729d58_0_150"/>
          <p:cNvSpPr/>
          <p:nvPr/>
        </p:nvSpPr>
        <p:spPr>
          <a:xfrm>
            <a:off x="636811" y="1769747"/>
            <a:ext cx="375600" cy="375600"/>
          </a:xfrm>
          <a:prstGeom prst="ellipse">
            <a:avLst/>
          </a:prstGeom>
          <a:solidFill>
            <a:srgbClr val="D9ECFF"/>
          </a:solidFill>
          <a:ln cap="flat" cmpd="sng" w="9475">
            <a:solidFill>
              <a:srgbClr val="D9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h5d76b0bcde729d58_0_150"/>
          <p:cNvSpPr/>
          <p:nvPr/>
        </p:nvSpPr>
        <p:spPr>
          <a:xfrm>
            <a:off x="636811" y="1824395"/>
            <a:ext cx="375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1644"/>
              <a:buFont typeface="Arial"/>
              <a:buNone/>
            </a:pPr>
            <a:r>
              <a:rPr b="1" i="0" lang="ca" sz="1644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6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5d76b0bcde729d58_0_150"/>
          <p:cNvSpPr/>
          <p:nvPr/>
        </p:nvSpPr>
        <p:spPr>
          <a:xfrm>
            <a:off x="1149137" y="1858550"/>
            <a:ext cx="2459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EA2"/>
              </a:buClr>
              <a:buSzPts val="2166"/>
              <a:buFont typeface="Arial"/>
              <a:buNone/>
            </a:pPr>
            <a:r>
              <a:rPr b="1" i="0" lang="ca" sz="2166" u="none" cap="none" strike="noStrike">
                <a:solidFill>
                  <a:srgbClr val="0B4EA2"/>
                </a:solidFill>
                <a:latin typeface="Arial"/>
                <a:ea typeface="Arial"/>
                <a:cs typeface="Arial"/>
                <a:sym typeface="Arial"/>
              </a:rPr>
              <a:t>Aïllem η:</a:t>
            </a:r>
            <a:endParaRPr b="0" i="0" sz="216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h5d76b0bcde729d58_0_150"/>
          <p:cNvSpPr/>
          <p:nvPr/>
        </p:nvSpPr>
        <p:spPr>
          <a:xfrm>
            <a:off x="1080826" y="2377567"/>
            <a:ext cx="51231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942"/>
              <a:buFont typeface="Arial"/>
              <a:buNone/>
            </a:pPr>
            <a:r>
              <a:rPr b="0" i="0" lang="ca" sz="1942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Partim de:   10 = 21,33 × η</a:t>
            </a:r>
            <a:endParaRPr b="0" i="0" sz="19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h5d76b0bcde729d58_0_150"/>
          <p:cNvSpPr/>
          <p:nvPr/>
        </p:nvSpPr>
        <p:spPr>
          <a:xfrm>
            <a:off x="1080825" y="2862700"/>
            <a:ext cx="7514100" cy="946500"/>
          </a:xfrm>
          <a:prstGeom prst="roundRect">
            <a:avLst>
              <a:gd fmla="val 6400" name="adj"/>
            </a:avLst>
          </a:prstGeom>
          <a:solidFill>
            <a:srgbClr val="E9F4FF"/>
          </a:solidFill>
          <a:ln cap="flat" cmpd="sng" w="9475">
            <a:solidFill>
              <a:srgbClr val="D2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275" lIns="68275" spcFirstLastPara="1" rIns="68275" wrap="square" tIns="6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h5d76b0bcde729d58_0_150"/>
          <p:cNvSpPr/>
          <p:nvPr/>
        </p:nvSpPr>
        <p:spPr>
          <a:xfrm>
            <a:off x="2583650" y="3135941"/>
            <a:ext cx="6831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839"/>
              <a:buFont typeface="Arial"/>
              <a:buNone/>
            </a:pPr>
            <a:r>
              <a:rPr b="0" i="1" lang="ca" sz="283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η =</a:t>
            </a:r>
            <a:endParaRPr b="0" i="0" sz="28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h5d76b0bcde729d58_0_150"/>
          <p:cNvSpPr/>
          <p:nvPr/>
        </p:nvSpPr>
        <p:spPr>
          <a:xfrm>
            <a:off x="3335062" y="2992490"/>
            <a:ext cx="10932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540"/>
              <a:buFont typeface="Arial"/>
              <a:buNone/>
            </a:pPr>
            <a:r>
              <a:rPr b="0" i="0" lang="ca" sz="2540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5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h5d76b0bcde729d58_0_150"/>
          <p:cNvCxnSpPr/>
          <p:nvPr/>
        </p:nvCxnSpPr>
        <p:spPr>
          <a:xfrm>
            <a:off x="3389710" y="3313546"/>
            <a:ext cx="983700" cy="0"/>
          </a:xfrm>
          <a:prstGeom prst="straightConnector1">
            <a:avLst/>
          </a:prstGeom>
          <a:noFill/>
          <a:ln cap="flat" cmpd="sng" w="12325">
            <a:solidFill>
              <a:srgbClr val="0D2C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h5d76b0bcde729d58_0_150"/>
          <p:cNvSpPr/>
          <p:nvPr/>
        </p:nvSpPr>
        <p:spPr>
          <a:xfrm>
            <a:off x="3335062" y="3334039"/>
            <a:ext cx="10932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540"/>
              <a:buFont typeface="Arial"/>
              <a:buNone/>
            </a:pPr>
            <a:r>
              <a:rPr b="0" i="0" lang="ca" sz="2540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21,33</a:t>
            </a:r>
            <a:endParaRPr b="0" i="0" sz="254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h5d76b0bcde729d58_0_150"/>
          <p:cNvSpPr/>
          <p:nvPr/>
        </p:nvSpPr>
        <p:spPr>
          <a:xfrm>
            <a:off x="4544151" y="3135941"/>
            <a:ext cx="273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2689"/>
              <a:buFont typeface="Arial"/>
              <a:buNone/>
            </a:pPr>
            <a:r>
              <a:rPr b="0" i="0" lang="ca" sz="2689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= 0,469 ≈ 0,47</a:t>
            </a:r>
            <a:endParaRPr b="0" i="0" sz="26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h5d76b0bcde729d58_0_150"/>
          <p:cNvSpPr/>
          <p:nvPr/>
        </p:nvSpPr>
        <p:spPr>
          <a:xfrm>
            <a:off x="1080826" y="4112181"/>
            <a:ext cx="76509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5" lIns="575" spcFirstLastPara="1" rIns="575" wrap="square" tIns="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C63"/>
              </a:buClr>
              <a:buSzPts val="1644"/>
              <a:buFont typeface="Arial"/>
              <a:buNone/>
            </a:pPr>
            <a:r>
              <a:rPr b="0" i="0" lang="ca" sz="1644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Ara ja tenim l’eficiència en forma decimal</a:t>
            </a:r>
            <a:r>
              <a:rPr lang="ca" sz="1644">
                <a:solidFill>
                  <a:srgbClr val="0D2C63"/>
                </a:solidFill>
              </a:rPr>
              <a:t> 0.47 </a:t>
            </a:r>
            <a:r>
              <a:rPr lang="ca" sz="1644"/>
              <a:t>=&gt; 47%</a:t>
            </a:r>
            <a:r>
              <a:rPr b="0" i="0" lang="ca" sz="1644" u="none" cap="none" strike="noStrike">
                <a:solidFill>
                  <a:srgbClr val="0D2C6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3FC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5d76b0bcde729d58_0_2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74" name="Google Shape;474;h5d76b0bcde729d58_0_209"/>
          <p:cNvSpPr/>
          <p:nvPr/>
        </p:nvSpPr>
        <p:spPr>
          <a:xfrm>
            <a:off x="397737" y="21937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75" name="Google Shape;475;h5d76b0bcde729d58_0_209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varia l'eficiència del SAI segons la càrrega?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h5d76b0bcde729d58_0_209"/>
          <p:cNvSpPr txBox="1"/>
          <p:nvPr/>
        </p:nvSpPr>
        <p:spPr>
          <a:xfrm>
            <a:off x="437475" y="1150975"/>
            <a:ext cx="833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chemeClr val="dk1"/>
                </a:solidFill>
              </a:rPr>
              <a:t>L'eficiència </a:t>
            </a:r>
            <a:r>
              <a:rPr b="1" lang="ca" sz="1600">
                <a:solidFill>
                  <a:schemeClr val="dk1"/>
                </a:solidFill>
              </a:rPr>
              <a:t>NO</a:t>
            </a:r>
            <a:r>
              <a:rPr lang="ca" sz="1600">
                <a:solidFill>
                  <a:schemeClr val="dk1"/>
                </a:solidFill>
              </a:rPr>
              <a:t> augmenta de manera lineal, sinó que dibuixa una corba en forma de "U" invertida.</a:t>
            </a:r>
            <a:endParaRPr sz="1600"/>
          </a:p>
        </p:txBody>
      </p:sp>
      <p:sp>
        <p:nvSpPr>
          <p:cNvPr id="477" name="Google Shape;477;h5d76b0bcde729d58_0_209"/>
          <p:cNvSpPr txBox="1"/>
          <p:nvPr/>
        </p:nvSpPr>
        <p:spPr>
          <a:xfrm>
            <a:off x="353550" y="2051650"/>
            <a:ext cx="8436900" cy="18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🔴 </a:t>
            </a:r>
            <a:r>
              <a:rPr b="1" lang="ca">
                <a:solidFill>
                  <a:schemeClr val="dk1"/>
                </a:solidFill>
              </a:rPr>
              <a:t>1. CÀRREGA MOLT BAIXA (0% – 20%) → Eficiència PÈSSIMA (40% – 60%)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Exemple:</a:t>
            </a:r>
            <a:r>
              <a:rPr lang="ca">
                <a:solidFill>
                  <a:schemeClr val="dk1"/>
                </a:solidFill>
              </a:rPr>
              <a:t> Connectar un router de 15 W  a un SAI de 1000 W.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Per què?</a:t>
            </a:r>
            <a:r>
              <a:rPr lang="ca">
                <a:solidFill>
                  <a:schemeClr val="dk1"/>
                </a:solidFill>
              </a:rPr>
              <a:t> El SAI té un </a:t>
            </a:r>
            <a:r>
              <a:rPr i="1" lang="ca">
                <a:solidFill>
                  <a:schemeClr val="dk1"/>
                </a:solidFill>
              </a:rPr>
              <a:t>consum intern fix</a:t>
            </a:r>
            <a:r>
              <a:rPr lang="ca">
                <a:solidFill>
                  <a:schemeClr val="dk1"/>
                </a:solidFill>
              </a:rPr>
              <a:t> (pantalla LCD, circuits, sensors, ventilador) per estar encès. </a:t>
            </a:r>
            <a:r>
              <a:rPr lang="ca">
                <a:solidFill>
                  <a:schemeClr val="dk1"/>
                </a:solidFill>
              </a:rPr>
              <a:t>A càrregues molt baixes, el consum intern del SAI pot representar una part important de l'energia consumida i reduir-ne el rendiment.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8" name="Google Shape;478;h5d76b0bcde729d58_0_209"/>
          <p:cNvSpPr txBox="1"/>
          <p:nvPr/>
        </p:nvSpPr>
        <p:spPr>
          <a:xfrm>
            <a:off x="405750" y="4260825"/>
            <a:ext cx="8332500" cy="723300"/>
          </a:xfrm>
          <a:prstGeom prst="rect">
            <a:avLst/>
          </a:prstGeom>
          <a:noFill/>
          <a:ln cap="flat" cmpd="sng" w="9525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rgbClr val="0A84D6"/>
                </a:solidFill>
              </a:rPr>
              <a:t>E</a:t>
            </a:r>
            <a:r>
              <a:rPr lang="ca">
                <a:solidFill>
                  <a:srgbClr val="0A84D6"/>
                </a:solidFill>
              </a:rPr>
              <a:t>l rendiment pot variar amb la càrrega, però que no existeix una corba </a:t>
            </a:r>
            <a:r>
              <a:rPr b="1" lang="ca">
                <a:solidFill>
                  <a:srgbClr val="0A84D6"/>
                </a:solidFill>
              </a:rPr>
              <a:t>ni uns percentatges universals aplicables a tots els SAI.</a:t>
            </a:r>
            <a:endParaRPr b="1">
              <a:solidFill>
                <a:srgbClr val="0A84D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3FC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5d76b0bcde729d58_0_1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484" name="Google Shape;484;h5d76b0bcde729d58_0_190"/>
          <p:cNvSpPr/>
          <p:nvPr/>
        </p:nvSpPr>
        <p:spPr>
          <a:xfrm>
            <a:off x="397725" y="219375"/>
            <a:ext cx="83601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85" name="Google Shape;485;h5d76b0bcde729d58_0_190"/>
          <p:cNvSpPr/>
          <p:nvPr/>
        </p:nvSpPr>
        <p:spPr>
          <a:xfrm>
            <a:off x="685825" y="268750"/>
            <a:ext cx="6034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varia l'eficiència del SAI segons la càrrega?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h5d76b0bcde729d58_0_190"/>
          <p:cNvSpPr txBox="1"/>
          <p:nvPr/>
        </p:nvSpPr>
        <p:spPr>
          <a:xfrm>
            <a:off x="397725" y="1189150"/>
            <a:ext cx="8306400" cy="152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🟢 </a:t>
            </a:r>
            <a:r>
              <a:rPr b="1" lang="ca">
                <a:solidFill>
                  <a:schemeClr val="dk1"/>
                </a:solidFill>
              </a:rPr>
              <a:t>2. CÀRREGA MITJANA (50% – 80%) → PUNT ÒPTIM / Màxima Eficiència (85% – 95%)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Exemple:</a:t>
            </a:r>
            <a:r>
              <a:rPr lang="ca">
                <a:solidFill>
                  <a:schemeClr val="dk1"/>
                </a:solidFill>
              </a:rPr>
              <a:t> Treballar a mitja capacitat del SAI.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Per què?</a:t>
            </a:r>
            <a:r>
              <a:rPr lang="ca">
                <a:solidFill>
                  <a:schemeClr val="dk1"/>
                </a:solidFill>
              </a:rPr>
              <a:t> Els transformadors i l'electrònica de potència estan dissenyats específicament per oferir el seu màxim rendiment en aquesta franja.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7" name="Google Shape;487;h5d76b0bcde729d58_0_190"/>
          <p:cNvSpPr txBox="1"/>
          <p:nvPr/>
        </p:nvSpPr>
        <p:spPr>
          <a:xfrm>
            <a:off x="397725" y="2990275"/>
            <a:ext cx="8306400" cy="12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🟡 </a:t>
            </a:r>
            <a:r>
              <a:rPr b="1" lang="ca">
                <a:solidFill>
                  <a:schemeClr val="dk1"/>
                </a:solidFill>
              </a:rPr>
              <a:t>3. CÀRREGA MÀXIMA (90% – 100%) → L'eficiència torna a CAURE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Exemple:</a:t>
            </a:r>
            <a:r>
              <a:rPr lang="ca">
                <a:solidFill>
                  <a:schemeClr val="dk1"/>
                </a:solidFill>
              </a:rPr>
              <a:t> Treballar al límit de la capacitat (810 W continus en un SAI de 810 W 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ca">
                <a:solidFill>
                  <a:schemeClr val="dk1"/>
                </a:solidFill>
              </a:rPr>
              <a:t>Per què?</a:t>
            </a:r>
            <a:r>
              <a:rPr lang="ca">
                <a:solidFill>
                  <a:schemeClr val="dk1"/>
                </a:solidFill>
              </a:rPr>
              <a:t>  D</a:t>
            </a:r>
            <a:r>
              <a:rPr lang="ca">
                <a:solidFill>
                  <a:schemeClr val="dk1"/>
                </a:solidFill>
              </a:rPr>
              <a:t>isminueix l'autonomia i augmenta l'exigència sobre les bateries i els components.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8" name="Google Shape;488;h5d76b0bcde729d58_0_190"/>
          <p:cNvSpPr txBox="1"/>
          <p:nvPr/>
        </p:nvSpPr>
        <p:spPr>
          <a:xfrm>
            <a:off x="419925" y="4468300"/>
            <a:ext cx="826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ca" sz="1600">
                <a:solidFill>
                  <a:srgbClr val="0A84D6"/>
                </a:solidFill>
              </a:rPr>
              <a:t>El rendiment concret depèn del model i s'ha de consultar a la fitxa tècnica.</a:t>
            </a:r>
            <a:endParaRPr b="1" sz="1600">
              <a:solidFill>
                <a:srgbClr val="0A84D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8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95" name="Google Shape;495;p18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Factor de potència (I): W i VA</a:t>
            </a:r>
            <a:endParaRPr sz="1350"/>
          </a:p>
        </p:txBody>
      </p:sp>
      <p:sp>
        <p:nvSpPr>
          <p:cNvPr id="496" name="Google Shape;496;p18"/>
          <p:cNvSpPr/>
          <p:nvPr/>
        </p:nvSpPr>
        <p:spPr>
          <a:xfrm>
            <a:off x="457119" y="1325703"/>
            <a:ext cx="4023000" cy="310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97" name="Google Shape;497;p18"/>
          <p:cNvSpPr/>
          <p:nvPr/>
        </p:nvSpPr>
        <p:spPr>
          <a:xfrm>
            <a:off x="685814" y="1554394"/>
            <a:ext cx="914100" cy="548100"/>
          </a:xfrm>
          <a:prstGeom prst="roundRect">
            <a:avLst>
              <a:gd fmla="val 16667" name="adj"/>
            </a:avLst>
          </a:prstGeom>
          <a:solidFill>
            <a:srgbClr val="1D546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sz="1350"/>
          </a:p>
        </p:txBody>
      </p:sp>
      <p:sp>
        <p:nvSpPr>
          <p:cNvPr id="498" name="Google Shape;498;p18"/>
          <p:cNvSpPr/>
          <p:nvPr/>
        </p:nvSpPr>
        <p:spPr>
          <a:xfrm>
            <a:off x="1782847" y="1554124"/>
            <a:ext cx="2468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watts</a:t>
            </a:r>
            <a:endParaRPr sz="1350"/>
          </a:p>
        </p:txBody>
      </p:sp>
      <p:sp>
        <p:nvSpPr>
          <p:cNvPr id="499" name="Google Shape;499;p18"/>
          <p:cNvSpPr/>
          <p:nvPr/>
        </p:nvSpPr>
        <p:spPr>
          <a:xfrm>
            <a:off x="685814" y="2377086"/>
            <a:ext cx="35658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És la potència </a:t>
            </a:r>
            <a:r>
              <a:rPr b="1" lang="ca" sz="1825" u="none">
                <a:solidFill>
                  <a:srgbClr val="1D546E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lang="ca" sz="18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que necessiten els aparells per funcionar (la calor que fa un calefactor, la feina que fa el processador del PC)</a:t>
            </a: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500" name="Google Shape;500;p18"/>
          <p:cNvSpPr/>
          <p:nvPr/>
        </p:nvSpPr>
        <p:spPr>
          <a:xfrm>
            <a:off x="4663268" y="1325703"/>
            <a:ext cx="4023000" cy="310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01" name="Google Shape;501;p18"/>
          <p:cNvSpPr/>
          <p:nvPr/>
        </p:nvSpPr>
        <p:spPr>
          <a:xfrm>
            <a:off x="4891963" y="1554394"/>
            <a:ext cx="914100" cy="5481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</a:t>
            </a:r>
            <a:endParaRPr sz="1350"/>
          </a:p>
        </p:txBody>
      </p:sp>
      <p:sp>
        <p:nvSpPr>
          <p:cNvPr id="502" name="Google Shape;502;p18"/>
          <p:cNvSpPr/>
          <p:nvPr/>
        </p:nvSpPr>
        <p:spPr>
          <a:xfrm>
            <a:off x="5989266" y="1554124"/>
            <a:ext cx="2468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voltamperes</a:t>
            </a:r>
            <a:endParaRPr sz="1350"/>
          </a:p>
        </p:txBody>
      </p:sp>
      <p:sp>
        <p:nvSpPr>
          <p:cNvPr id="503" name="Google Shape;503;p18"/>
          <p:cNvSpPr/>
          <p:nvPr/>
        </p:nvSpPr>
        <p:spPr>
          <a:xfrm>
            <a:off x="4891963" y="2377086"/>
            <a:ext cx="35658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És la potència </a:t>
            </a:r>
            <a:r>
              <a:rPr b="1" lang="ca" sz="18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ca" sz="18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que el SAI o la xarxa elèctrica ha d’enviar perquè aquests watts reals funcionin.</a:t>
            </a:r>
            <a:endParaRPr sz="1800"/>
          </a:p>
        </p:txBody>
      </p:sp>
      <p:sp>
        <p:nvSpPr>
          <p:cNvPr id="504" name="Google Shape;5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9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11" name="Google Shape;511;p19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Factor de potència (II): què és el FP?</a:t>
            </a:r>
            <a:endParaRPr sz="1350"/>
          </a:p>
        </p:txBody>
      </p:sp>
      <p:sp>
        <p:nvSpPr>
          <p:cNvPr id="512" name="Google Shape;512;p19"/>
          <p:cNvSpPr/>
          <p:nvPr/>
        </p:nvSpPr>
        <p:spPr>
          <a:xfrm>
            <a:off x="457119" y="1280073"/>
            <a:ext cx="8229300" cy="137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13" name="Google Shape;513;p19"/>
          <p:cNvSpPr/>
          <p:nvPr/>
        </p:nvSpPr>
        <p:spPr>
          <a:xfrm>
            <a:off x="731175" y="1279803"/>
            <a:ext cx="76806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lang="ca" sz="18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factor de potència (FP)</a:t>
            </a:r>
            <a:r>
              <a:rPr lang="ca" sz="18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és la relació entre els W i els VA. S’expressa amb un número entre 0 i 1 (on 1 vol dir que tota la potència aparent és potència real).</a:t>
            </a:r>
            <a:endParaRPr sz="1800"/>
          </a:p>
        </p:txBody>
      </p:sp>
      <p:sp>
        <p:nvSpPr>
          <p:cNvPr id="514" name="Google Shape;514;p19"/>
          <p:cNvSpPr/>
          <p:nvPr/>
        </p:nvSpPr>
        <p:spPr>
          <a:xfrm>
            <a:off x="456849" y="2880097"/>
            <a:ext cx="82293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La fórmula bàsica és:</a:t>
            </a:r>
            <a:endParaRPr/>
          </a:p>
        </p:txBody>
      </p:sp>
      <p:sp>
        <p:nvSpPr>
          <p:cNvPr id="515" name="Google Shape;515;p19"/>
          <p:cNvSpPr/>
          <p:nvPr/>
        </p:nvSpPr>
        <p:spPr>
          <a:xfrm>
            <a:off x="457119" y="3291578"/>
            <a:ext cx="8229300" cy="10968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16" name="Google Shape;516;p19"/>
          <p:cNvSpPr/>
          <p:nvPr/>
        </p:nvSpPr>
        <p:spPr>
          <a:xfrm>
            <a:off x="594012" y="3291578"/>
            <a:ext cx="79548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 = VA × FP     ⇒     VA = W ÷ FP</a:t>
            </a:r>
            <a:endParaRPr sz="1350"/>
          </a:p>
        </p:txBody>
      </p:sp>
      <p:sp>
        <p:nvSpPr>
          <p:cNvPr id="517" name="Google Shape;51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0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24" name="Google Shape;524;p20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Factor de potència (III): i en un SAI?</a:t>
            </a:r>
            <a:endParaRPr sz="1350"/>
          </a:p>
        </p:txBody>
      </p:sp>
      <p:sp>
        <p:nvSpPr>
          <p:cNvPr id="525" name="Google Shape;525;p20"/>
          <p:cNvSpPr/>
          <p:nvPr/>
        </p:nvSpPr>
        <p:spPr>
          <a:xfrm>
            <a:off x="365575" y="1196950"/>
            <a:ext cx="8412000" cy="106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26" name="Google Shape;526;p20"/>
          <p:cNvSpPr/>
          <p:nvPr/>
        </p:nvSpPr>
        <p:spPr>
          <a:xfrm>
            <a:off x="731450" y="1279800"/>
            <a:ext cx="7680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Quan comprem un SAI, els fabricants solen posar en gran a la caixa el valor en </a:t>
            </a:r>
            <a:r>
              <a:rPr b="1" lang="ca" sz="16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VA</a:t>
            </a:r>
            <a:r>
              <a:rPr lang="ca" sz="16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, però el que realment aguanta el nostre equip són els </a:t>
            </a:r>
            <a:r>
              <a:rPr b="1" lang="ca" sz="16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watts (W)</a:t>
            </a:r>
            <a:r>
              <a:rPr lang="ca" sz="16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/>
          </a:p>
        </p:txBody>
      </p:sp>
      <p:sp>
        <p:nvSpPr>
          <p:cNvPr id="527" name="Google Shape;5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528" name="Google Shape;528;p20"/>
          <p:cNvSpPr/>
          <p:nvPr/>
        </p:nvSpPr>
        <p:spPr>
          <a:xfrm>
            <a:off x="365575" y="2720900"/>
            <a:ext cx="8412000" cy="1743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29" name="Google Shape;529;p20"/>
          <p:cNvSpPr/>
          <p:nvPr/>
        </p:nvSpPr>
        <p:spPr>
          <a:xfrm>
            <a:off x="685850" y="2803774"/>
            <a:ext cx="76806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Ex: ens poden dir que un ordinador te 300 VA i un factor de potencia de 0.98. Llavors podem obtindre els W:</a:t>
            </a:r>
            <a:endParaRPr sz="1600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W = VA x FP =&gt; W = 300 VA x 0.98 =&gt; </a:t>
            </a:r>
            <a:r>
              <a:rPr b="1" lang="ca" sz="21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W = 294 W </a:t>
            </a:r>
            <a:endParaRPr b="1" sz="2100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36" name="Google Shape;536;p21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Factor de potència (IV): exemple</a:t>
            </a:r>
            <a:endParaRPr sz="1350"/>
          </a:p>
        </p:txBody>
      </p:sp>
      <p:sp>
        <p:nvSpPr>
          <p:cNvPr id="537" name="Google Shape;537;p21"/>
          <p:cNvSpPr/>
          <p:nvPr/>
        </p:nvSpPr>
        <p:spPr>
          <a:xfrm>
            <a:off x="457119" y="118854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Imaginem dos SAI diferents, tots dos anunciats com a </a:t>
            </a:r>
            <a:r>
              <a:rPr b="1" lang="ca" sz="112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1000 VA</a:t>
            </a: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350"/>
          </a:p>
        </p:txBody>
      </p:sp>
      <p:sp>
        <p:nvSpPr>
          <p:cNvPr id="538" name="Google Shape;538;p21"/>
          <p:cNvSpPr/>
          <p:nvPr/>
        </p:nvSpPr>
        <p:spPr>
          <a:xfrm>
            <a:off x="457550" y="1554475"/>
            <a:ext cx="4023000" cy="2136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39" name="Google Shape;539;p21"/>
          <p:cNvSpPr/>
          <p:nvPr/>
        </p:nvSpPr>
        <p:spPr>
          <a:xfrm>
            <a:off x="457275" y="1554251"/>
            <a:ext cx="4023000" cy="462000"/>
          </a:xfrm>
          <a:prstGeom prst="roundRect">
            <a:avLst>
              <a:gd fmla="val 16667" name="adj"/>
            </a:avLst>
          </a:prstGeom>
          <a:solidFill>
            <a:srgbClr val="E8A317"/>
          </a:solidFill>
          <a:ln cap="flat" cmpd="sng" w="9425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40" name="Google Shape;540;p21"/>
          <p:cNvSpPr/>
          <p:nvPr/>
        </p:nvSpPr>
        <p:spPr>
          <a:xfrm>
            <a:off x="640339" y="1554251"/>
            <a:ext cx="3657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 -&gt; </a:t>
            </a:r>
            <a:r>
              <a:rPr b="1"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 econòmic (FP = 0,6)</a:t>
            </a:r>
            <a:endParaRPr sz="1350"/>
          </a:p>
        </p:txBody>
      </p:sp>
      <p:sp>
        <p:nvSpPr>
          <p:cNvPr id="541" name="Google Shape;541;p21"/>
          <p:cNvSpPr/>
          <p:nvPr/>
        </p:nvSpPr>
        <p:spPr>
          <a:xfrm>
            <a:off x="640339" y="2170689"/>
            <a:ext cx="3657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W = 1000 VA × 0,6 = 600 W</a:t>
            </a:r>
            <a:endParaRPr sz="1350"/>
          </a:p>
        </p:txBody>
      </p:sp>
      <p:sp>
        <p:nvSpPr>
          <p:cNvPr id="542" name="Google Shape;542;p21"/>
          <p:cNvSpPr/>
          <p:nvPr/>
        </p:nvSpPr>
        <p:spPr>
          <a:xfrm>
            <a:off x="640339" y="2748230"/>
            <a:ext cx="36573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Només aguanta equips que sumin 600 W com a màxim (comptant sempre el marge).</a:t>
            </a:r>
            <a:endParaRPr sz="1600"/>
          </a:p>
        </p:txBody>
      </p:sp>
      <p:sp>
        <p:nvSpPr>
          <p:cNvPr id="543" name="Google Shape;543;p21"/>
          <p:cNvSpPr/>
          <p:nvPr/>
        </p:nvSpPr>
        <p:spPr>
          <a:xfrm>
            <a:off x="4663701" y="1554475"/>
            <a:ext cx="4023000" cy="2136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44" name="Google Shape;544;p21"/>
          <p:cNvSpPr/>
          <p:nvPr/>
        </p:nvSpPr>
        <p:spPr>
          <a:xfrm>
            <a:off x="4663697" y="1554251"/>
            <a:ext cx="4023000" cy="462000"/>
          </a:xfrm>
          <a:prstGeom prst="roundRect">
            <a:avLst>
              <a:gd fmla="val 16667" name="adj"/>
            </a:avLst>
          </a:prstGeom>
          <a:solidFill>
            <a:srgbClr val="1F9D6B"/>
          </a:solidFill>
          <a:ln cap="flat" cmpd="sng" w="9425">
            <a:solidFill>
              <a:srgbClr val="1F9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45" name="Google Shape;545;p21"/>
          <p:cNvSpPr/>
          <p:nvPr/>
        </p:nvSpPr>
        <p:spPr>
          <a:xfrm>
            <a:off x="4846761" y="1554251"/>
            <a:ext cx="3657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B - </a:t>
            </a:r>
            <a:r>
              <a:rPr b="1"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SAI de millor qualitat (FP = 0,9)</a:t>
            </a:r>
            <a:endParaRPr sz="1350"/>
          </a:p>
        </p:txBody>
      </p:sp>
      <p:sp>
        <p:nvSpPr>
          <p:cNvPr id="546" name="Google Shape;546;p21"/>
          <p:cNvSpPr/>
          <p:nvPr/>
        </p:nvSpPr>
        <p:spPr>
          <a:xfrm>
            <a:off x="4846491" y="2170689"/>
            <a:ext cx="3657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1376B"/>
                </a:solidFill>
                <a:latin typeface="Calibri"/>
                <a:ea typeface="Calibri"/>
                <a:cs typeface="Calibri"/>
                <a:sym typeface="Calibri"/>
              </a:rPr>
              <a:t>W = 1000 VA × 0,9 = 900 W</a:t>
            </a:r>
            <a:endParaRPr sz="1350"/>
          </a:p>
        </p:txBody>
      </p:sp>
      <p:sp>
        <p:nvSpPr>
          <p:cNvPr id="547" name="Google Shape;547;p21"/>
          <p:cNvSpPr/>
          <p:nvPr/>
        </p:nvSpPr>
        <p:spPr>
          <a:xfrm>
            <a:off x="4846750" y="2748227"/>
            <a:ext cx="3657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Aguanta equips de fins a 900 W.</a:t>
            </a:r>
            <a:endParaRPr sz="1600"/>
          </a:p>
        </p:txBody>
      </p:sp>
      <p:sp>
        <p:nvSpPr>
          <p:cNvPr id="548" name="Google Shape;54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549" name="Google Shape;549;p21"/>
          <p:cNvSpPr/>
          <p:nvPr/>
        </p:nvSpPr>
        <p:spPr>
          <a:xfrm>
            <a:off x="457125" y="3815350"/>
            <a:ext cx="8229300" cy="10782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50" name="Google Shape;550;p21"/>
          <p:cNvSpPr/>
          <p:nvPr/>
        </p:nvSpPr>
        <p:spPr>
          <a:xfrm>
            <a:off x="594282" y="4114302"/>
            <a:ext cx="365400" cy="414300"/>
          </a:xfrm>
          <a:prstGeom prst="ellipse">
            <a:avLst/>
          </a:prstGeom>
          <a:solidFill>
            <a:srgbClr val="0081BF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551" name="Google Shape;5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324" y="4222292"/>
            <a:ext cx="175230" cy="198543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1"/>
          <p:cNvSpPr/>
          <p:nvPr/>
        </p:nvSpPr>
        <p:spPr>
          <a:xfrm>
            <a:off x="1097025" y="3982586"/>
            <a:ext cx="74523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Nota: FP = 1. Propi de SAI online d’alta eficiència, on els VA i els W coincideixen exactament (p. ex., 1.000 VA = 1.000 W).</a:t>
            </a:r>
            <a:r>
              <a:rPr lang="ca" sz="1138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38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ca" sz="1138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Una relació W/VA més alta permet disposar de més potència real amb els mateixos VA. No significa necessàriament que el SAI consumeixi menys energia o tingui un rendiment superior.</a:t>
            </a:r>
            <a:endParaRPr b="1" sz="15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2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59" name="Google Shape;559;p22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Capacitat energètica (I): fórmules</a:t>
            </a:r>
            <a:endParaRPr sz="1350"/>
          </a:p>
        </p:txBody>
      </p:sp>
      <p:sp>
        <p:nvSpPr>
          <p:cNvPr id="560" name="Google Shape;560;p22"/>
          <p:cNvSpPr/>
          <p:nvPr/>
        </p:nvSpPr>
        <p:spPr>
          <a:xfrm>
            <a:off x="456849" y="1188543"/>
            <a:ext cx="8229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La capacitat energètica teòrica d’un SAI depèn del n</a:t>
            </a:r>
            <a:r>
              <a:rPr lang="ca" sz="12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úmero de bateries N, </a:t>
            </a: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del voltatge i dels ampere-hora dels seus acumuladors interns:</a:t>
            </a:r>
            <a:endParaRPr sz="1200"/>
          </a:p>
        </p:txBody>
      </p:sp>
      <p:sp>
        <p:nvSpPr>
          <p:cNvPr id="561" name="Google Shape;561;p22"/>
          <p:cNvSpPr/>
          <p:nvPr/>
        </p:nvSpPr>
        <p:spPr>
          <a:xfrm>
            <a:off x="456849" y="1828444"/>
            <a:ext cx="82293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62" name="Google Shape;562;p22"/>
          <p:cNvSpPr/>
          <p:nvPr/>
        </p:nvSpPr>
        <p:spPr>
          <a:xfrm>
            <a:off x="594012" y="1828444"/>
            <a:ext cx="795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Energia teòrica (Wh) = N x V × Ah</a:t>
            </a:r>
            <a:endParaRPr sz="1350"/>
          </a:p>
        </p:txBody>
      </p:sp>
      <p:sp>
        <p:nvSpPr>
          <p:cNvPr id="563" name="Google Shape;563;p22"/>
          <p:cNvSpPr/>
          <p:nvPr/>
        </p:nvSpPr>
        <p:spPr>
          <a:xfrm>
            <a:off x="456849" y="2788567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Per obtenir la capacitat real hem de multiplicar per un factor d’eficiència:</a:t>
            </a:r>
            <a:endParaRPr sz="1200"/>
          </a:p>
        </p:txBody>
      </p:sp>
      <p:sp>
        <p:nvSpPr>
          <p:cNvPr id="564" name="Google Shape;564;p22"/>
          <p:cNvSpPr/>
          <p:nvPr/>
        </p:nvSpPr>
        <p:spPr>
          <a:xfrm>
            <a:off x="456849" y="3245678"/>
            <a:ext cx="8229300" cy="7311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 cap="flat" cmpd="sng" w="9425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65" name="Google Shape;565;p22"/>
          <p:cNvSpPr/>
          <p:nvPr/>
        </p:nvSpPr>
        <p:spPr>
          <a:xfrm>
            <a:off x="594012" y="3245678"/>
            <a:ext cx="795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</a:t>
            </a: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real (Wh) = 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 teórics</a:t>
            </a: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× eficiència</a:t>
            </a:r>
            <a:endParaRPr sz="1350"/>
          </a:p>
        </p:txBody>
      </p:sp>
      <p:sp>
        <p:nvSpPr>
          <p:cNvPr id="566" name="Google Shape;56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3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73" name="Google Shape;573;p23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Capacitat energètica (II): exemple</a:t>
            </a:r>
            <a:endParaRPr sz="1350"/>
          </a:p>
        </p:txBody>
      </p:sp>
      <p:sp>
        <p:nvSpPr>
          <p:cNvPr id="574" name="Google Shape;574;p23"/>
          <p:cNvSpPr/>
          <p:nvPr/>
        </p:nvSpPr>
        <p:spPr>
          <a:xfrm>
            <a:off x="457119" y="1188543"/>
            <a:ext cx="8229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Un SAI de </a:t>
            </a: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1.000 VA i 600 W</a:t>
            </a: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amb dues bateries de plom de 12 V i 7 Ah connectades en sèrie.</a:t>
            </a:r>
            <a:endParaRPr sz="1200"/>
          </a:p>
        </p:txBody>
      </p:sp>
      <p:sp>
        <p:nvSpPr>
          <p:cNvPr id="575" name="Google Shape;575;p23"/>
          <p:cNvSpPr/>
          <p:nvPr/>
        </p:nvSpPr>
        <p:spPr>
          <a:xfrm>
            <a:off x="457119" y="1874344"/>
            <a:ext cx="2559900" cy="191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76" name="Google Shape;576;p23"/>
          <p:cNvSpPr/>
          <p:nvPr/>
        </p:nvSpPr>
        <p:spPr>
          <a:xfrm>
            <a:off x="639913" y="2057135"/>
            <a:ext cx="411300" cy="411300"/>
          </a:xfrm>
          <a:prstGeom prst="ellipse">
            <a:avLst/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/>
          </a:p>
        </p:txBody>
      </p:sp>
      <p:sp>
        <p:nvSpPr>
          <p:cNvPr id="577" name="Google Shape;577;p23"/>
          <p:cNvSpPr/>
          <p:nvPr/>
        </p:nvSpPr>
        <p:spPr>
          <a:xfrm>
            <a:off x="1234196" y="2057135"/>
            <a:ext cx="169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Voltatge total</a:t>
            </a:r>
            <a:endParaRPr sz="1350"/>
          </a:p>
        </p:txBody>
      </p:sp>
      <p:sp>
        <p:nvSpPr>
          <p:cNvPr id="578" name="Google Shape;578;p23"/>
          <p:cNvSpPr/>
          <p:nvPr/>
        </p:nvSpPr>
        <p:spPr>
          <a:xfrm>
            <a:off x="639913" y="2697037"/>
            <a:ext cx="21942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2 bateries × 12 V = </a:t>
            </a:r>
            <a:r>
              <a:rPr b="1" lang="ca" sz="12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24 V</a:t>
            </a:r>
            <a:endParaRPr sz="1350"/>
          </a:p>
        </p:txBody>
      </p:sp>
      <p:sp>
        <p:nvSpPr>
          <p:cNvPr id="579" name="Google Shape;579;p23"/>
          <p:cNvSpPr/>
          <p:nvPr/>
        </p:nvSpPr>
        <p:spPr>
          <a:xfrm>
            <a:off x="3291639" y="1874344"/>
            <a:ext cx="2559900" cy="191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80" name="Google Shape;580;p23"/>
          <p:cNvSpPr/>
          <p:nvPr/>
        </p:nvSpPr>
        <p:spPr>
          <a:xfrm>
            <a:off x="3474703" y="2057135"/>
            <a:ext cx="411300" cy="411300"/>
          </a:xfrm>
          <a:prstGeom prst="ellipse">
            <a:avLst/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50"/>
          </a:p>
        </p:txBody>
      </p:sp>
      <p:sp>
        <p:nvSpPr>
          <p:cNvPr id="581" name="Google Shape;581;p23"/>
          <p:cNvSpPr/>
          <p:nvPr/>
        </p:nvSpPr>
        <p:spPr>
          <a:xfrm>
            <a:off x="4068986" y="2057135"/>
            <a:ext cx="169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Energia teòrica bruta</a:t>
            </a:r>
            <a:endParaRPr sz="1350"/>
          </a:p>
        </p:txBody>
      </p:sp>
      <p:sp>
        <p:nvSpPr>
          <p:cNvPr id="582" name="Google Shape;582;p23"/>
          <p:cNvSpPr/>
          <p:nvPr/>
        </p:nvSpPr>
        <p:spPr>
          <a:xfrm>
            <a:off x="3474433" y="2697037"/>
            <a:ext cx="21942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24 V × 7 Ah = </a:t>
            </a:r>
            <a:r>
              <a:rPr b="1" lang="ca" sz="12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168 Wh</a:t>
            </a:r>
            <a:endParaRPr sz="1350"/>
          </a:p>
        </p:txBody>
      </p:sp>
      <p:sp>
        <p:nvSpPr>
          <p:cNvPr id="583" name="Google Shape;583;p23"/>
          <p:cNvSpPr/>
          <p:nvPr/>
        </p:nvSpPr>
        <p:spPr>
          <a:xfrm>
            <a:off x="6126429" y="1874344"/>
            <a:ext cx="2559900" cy="191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84" name="Google Shape;584;p23"/>
          <p:cNvSpPr/>
          <p:nvPr/>
        </p:nvSpPr>
        <p:spPr>
          <a:xfrm>
            <a:off x="6309223" y="2057135"/>
            <a:ext cx="411300" cy="411300"/>
          </a:xfrm>
          <a:prstGeom prst="ellipse">
            <a:avLst/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/>
          </a:p>
        </p:txBody>
      </p:sp>
      <p:sp>
        <p:nvSpPr>
          <p:cNvPr id="585" name="Google Shape;585;p23"/>
          <p:cNvSpPr/>
          <p:nvPr/>
        </p:nvSpPr>
        <p:spPr>
          <a:xfrm>
            <a:off x="6903505" y="2057135"/>
            <a:ext cx="169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Amb l’eficiència (~95 %)</a:t>
            </a:r>
            <a:endParaRPr sz="1350"/>
          </a:p>
        </p:txBody>
      </p:sp>
      <p:sp>
        <p:nvSpPr>
          <p:cNvPr id="586" name="Google Shape;586;p23"/>
          <p:cNvSpPr/>
          <p:nvPr/>
        </p:nvSpPr>
        <p:spPr>
          <a:xfrm>
            <a:off x="6309223" y="2697037"/>
            <a:ext cx="21942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168 Wh × 0,95 = </a:t>
            </a:r>
            <a:r>
              <a:rPr b="1" lang="ca" sz="12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159,6 Wh reals</a:t>
            </a:r>
            <a:endParaRPr sz="1350"/>
          </a:p>
        </p:txBody>
      </p:sp>
      <p:sp>
        <p:nvSpPr>
          <p:cNvPr id="587" name="Google Shape;587;p23"/>
          <p:cNvSpPr/>
          <p:nvPr/>
        </p:nvSpPr>
        <p:spPr>
          <a:xfrm>
            <a:off x="457119" y="3931480"/>
            <a:ext cx="822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L’eficiència real inclou les pèrdues per calor i el rendiment de l’inversor.</a:t>
            </a:r>
            <a:endParaRPr sz="1200"/>
          </a:p>
        </p:txBody>
      </p:sp>
      <p:sp>
        <p:nvSpPr>
          <p:cNvPr id="588" name="Google Shape;588;p23"/>
          <p:cNvSpPr/>
          <p:nvPr/>
        </p:nvSpPr>
        <p:spPr>
          <a:xfrm>
            <a:off x="456849" y="4251700"/>
            <a:ext cx="8229300" cy="4569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89" name="Google Shape;589;p23"/>
          <p:cNvSpPr/>
          <p:nvPr/>
        </p:nvSpPr>
        <p:spPr>
          <a:xfrm>
            <a:off x="594012" y="4251700"/>
            <a:ext cx="79548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Energia real (Wh) = N × V × Ah × eficiència</a:t>
            </a:r>
            <a:endParaRPr sz="1350"/>
          </a:p>
        </p:txBody>
      </p:sp>
      <p:sp>
        <p:nvSpPr>
          <p:cNvPr id="590" name="Google Shape;5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4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97" name="Google Shape;597;p24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Autonomia</a:t>
            </a:r>
            <a:endParaRPr sz="1350"/>
          </a:p>
        </p:txBody>
      </p:sp>
      <p:sp>
        <p:nvSpPr>
          <p:cNvPr id="598" name="Google Shape;598;p24"/>
          <p:cNvSpPr/>
          <p:nvPr/>
        </p:nvSpPr>
        <p:spPr>
          <a:xfrm>
            <a:off x="457119" y="1280073"/>
            <a:ext cx="5486100" cy="32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599" name="Google Shape;599;p24"/>
          <p:cNvSpPr/>
          <p:nvPr/>
        </p:nvSpPr>
        <p:spPr>
          <a:xfrm>
            <a:off x="731445" y="1279803"/>
            <a:ext cx="4937400" cy="3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8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L’</a:t>
            </a:r>
            <a:r>
              <a:rPr b="1" lang="ca" sz="1838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autonomia</a:t>
            </a:r>
            <a:r>
              <a:rPr lang="ca" sz="18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d’un SAI és el </a:t>
            </a:r>
            <a:r>
              <a:rPr b="1" lang="ca" sz="1838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temps</a:t>
            </a:r>
            <a:r>
              <a:rPr lang="ca" sz="18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, en minuts o hores, que el dispositiu pot mantenir en funcionament els equips elèctrics o informàtics amb l’energia de la seva bateria quan es produeix un tall de llum.</a:t>
            </a:r>
            <a:endParaRPr sz="1950"/>
          </a:p>
        </p:txBody>
      </p:sp>
      <p:sp>
        <p:nvSpPr>
          <p:cNvPr id="600" name="Google Shape;600;p24"/>
          <p:cNvSpPr/>
          <p:nvPr/>
        </p:nvSpPr>
        <p:spPr>
          <a:xfrm>
            <a:off x="6126429" y="1280073"/>
            <a:ext cx="2559900" cy="3200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01" name="Google Shape;601;p24"/>
          <p:cNvSpPr/>
          <p:nvPr/>
        </p:nvSpPr>
        <p:spPr>
          <a:xfrm>
            <a:off x="7040668" y="1600024"/>
            <a:ext cx="731100" cy="731100"/>
          </a:xfrm>
          <a:prstGeom prst="ellipse">
            <a:avLst/>
          </a:prstGeom>
          <a:solidFill>
            <a:srgbClr val="9FBCF1"/>
          </a:solidFill>
          <a:ln cap="flat" cmpd="sng" w="7150">
            <a:solidFill>
              <a:srgbClr val="9FB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602" name="Google Shape;6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0752" y="1790104"/>
            <a:ext cx="350730" cy="35073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4"/>
          <p:cNvSpPr/>
          <p:nvPr/>
        </p:nvSpPr>
        <p:spPr>
          <a:xfrm>
            <a:off x="6309223" y="2560146"/>
            <a:ext cx="21942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Normalment donem el valor de l’autonomia en </a:t>
            </a:r>
            <a:r>
              <a:rPr b="1" lang="ca" sz="120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minuts</a:t>
            </a:r>
            <a:r>
              <a:rPr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604" name="Google Shape;6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5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11" name="Google Shape;611;p25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Autonomia: quant dura?</a:t>
            </a:r>
            <a:endParaRPr sz="1350"/>
          </a:p>
        </p:txBody>
      </p:sp>
      <p:sp>
        <p:nvSpPr>
          <p:cNvPr id="612" name="Google Shape;612;p25"/>
          <p:cNvSpPr/>
          <p:nvPr/>
        </p:nvSpPr>
        <p:spPr>
          <a:xfrm>
            <a:off x="457125" y="1280075"/>
            <a:ext cx="4023000" cy="36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13" name="Google Shape;613;p25"/>
          <p:cNvSpPr/>
          <p:nvPr/>
        </p:nvSpPr>
        <p:spPr>
          <a:xfrm>
            <a:off x="685814" y="1462864"/>
            <a:ext cx="2011200" cy="4569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5–10 min</a:t>
            </a:r>
            <a:endParaRPr sz="1350"/>
          </a:p>
        </p:txBody>
      </p:sp>
      <p:sp>
        <p:nvSpPr>
          <p:cNvPr id="614" name="Google Shape;614;p25"/>
          <p:cNvSpPr/>
          <p:nvPr/>
        </p:nvSpPr>
        <p:spPr>
          <a:xfrm>
            <a:off x="685814" y="2057135"/>
            <a:ext cx="356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Autonomia habitual</a:t>
            </a:r>
            <a:endParaRPr sz="1350"/>
          </a:p>
        </p:txBody>
      </p:sp>
      <p:sp>
        <p:nvSpPr>
          <p:cNvPr id="615" name="Google Shape;615;p25"/>
          <p:cNvSpPr/>
          <p:nvPr/>
        </p:nvSpPr>
        <p:spPr>
          <a:xfrm>
            <a:off x="685814" y="2514246"/>
            <a:ext cx="35658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La durada pot variar, però normalment se situa entre 5 i 10 minuts amb una càrrega normal. Serveix per a petits talls de llum i per guardar la feina i poca cosa més.</a:t>
            </a:r>
            <a:endParaRPr sz="1600"/>
          </a:p>
        </p:txBody>
      </p:sp>
      <p:sp>
        <p:nvSpPr>
          <p:cNvPr id="616" name="Google Shape;616;p25"/>
          <p:cNvSpPr/>
          <p:nvPr/>
        </p:nvSpPr>
        <p:spPr>
          <a:xfrm>
            <a:off x="4663275" y="1280075"/>
            <a:ext cx="4023000" cy="355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17" name="Google Shape;617;p25"/>
          <p:cNvSpPr/>
          <p:nvPr/>
        </p:nvSpPr>
        <p:spPr>
          <a:xfrm>
            <a:off x="4891963" y="1462864"/>
            <a:ext cx="2011200" cy="456900"/>
          </a:xfrm>
          <a:prstGeom prst="roundRect">
            <a:avLst>
              <a:gd fmla="val 16667" name="adj"/>
            </a:avLst>
          </a:prstGeom>
          <a:solidFill>
            <a:srgbClr val="1D546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min → hores</a:t>
            </a:r>
            <a:endParaRPr sz="1350"/>
          </a:p>
        </p:txBody>
      </p:sp>
      <p:sp>
        <p:nvSpPr>
          <p:cNvPr id="618" name="Google Shape;618;p25"/>
          <p:cNvSpPr/>
          <p:nvPr/>
        </p:nvSpPr>
        <p:spPr>
          <a:xfrm>
            <a:off x="4891963" y="2057135"/>
            <a:ext cx="356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Autonomia de continuïtat</a:t>
            </a:r>
            <a:endParaRPr sz="1350"/>
          </a:p>
        </p:txBody>
      </p:sp>
      <p:sp>
        <p:nvSpPr>
          <p:cNvPr id="619" name="Google Shape;619;p25"/>
          <p:cNvSpPr/>
          <p:nvPr/>
        </p:nvSpPr>
        <p:spPr>
          <a:xfrm>
            <a:off x="4891963" y="2514246"/>
            <a:ext cx="3565800" cy="19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S’utilitza en servidors de dades, centres de telecomunicacions o sistemes crítics que no es poden aturar. Sovint aquests SAI mantenen el servei mentre s’engega un generador elèctric de suport (grup electrògen).</a:t>
            </a:r>
            <a:endParaRPr sz="1600"/>
          </a:p>
        </p:txBody>
      </p:sp>
      <p:sp>
        <p:nvSpPr>
          <p:cNvPr id="620" name="Google Shape;62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7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27" name="Google Shape;627;p27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28" name="Google Shape;628;p27"/>
          <p:cNvSpPr/>
          <p:nvPr/>
        </p:nvSpPr>
        <p:spPr>
          <a:xfrm>
            <a:off x="365650" y="1108871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L’autonomia no és un valor fix: depèn del consum, de la bateria i de l’estat del SAI.</a:t>
            </a:r>
            <a:endParaRPr sz="1200"/>
          </a:p>
        </p:txBody>
      </p:sp>
      <p:sp>
        <p:nvSpPr>
          <p:cNvPr id="629" name="Google Shape;629;p27"/>
          <p:cNvSpPr/>
          <p:nvPr/>
        </p:nvSpPr>
        <p:spPr>
          <a:xfrm>
            <a:off x="365650" y="1679700"/>
            <a:ext cx="4007400" cy="8088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30" name="Google Shape;630;p27"/>
          <p:cNvSpPr/>
          <p:nvPr/>
        </p:nvSpPr>
        <p:spPr>
          <a:xfrm>
            <a:off x="546167" y="1812021"/>
            <a:ext cx="364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Consum dels equips</a:t>
            </a:r>
            <a:endParaRPr sz="1350"/>
          </a:p>
        </p:txBody>
      </p:sp>
      <p:sp>
        <p:nvSpPr>
          <p:cNvPr id="631" name="Google Shape;631;p27"/>
          <p:cNvSpPr/>
          <p:nvPr/>
        </p:nvSpPr>
        <p:spPr>
          <a:xfrm>
            <a:off x="546167" y="2062184"/>
            <a:ext cx="3646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Més consum = menys autonomia. És el factor més determinant.</a:t>
            </a:r>
            <a:endParaRPr sz="1350"/>
          </a:p>
        </p:txBody>
      </p:sp>
      <p:sp>
        <p:nvSpPr>
          <p:cNvPr id="632" name="Google Shape;632;p27"/>
          <p:cNvSpPr/>
          <p:nvPr/>
        </p:nvSpPr>
        <p:spPr>
          <a:xfrm>
            <a:off x="4770261" y="1679700"/>
            <a:ext cx="4007400" cy="8088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33" name="Google Shape;633;p27"/>
          <p:cNvSpPr/>
          <p:nvPr/>
        </p:nvSpPr>
        <p:spPr>
          <a:xfrm>
            <a:off x="4950778" y="1812021"/>
            <a:ext cx="364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Capacitat de la bateria</a:t>
            </a:r>
            <a:endParaRPr sz="1350"/>
          </a:p>
        </p:txBody>
      </p:sp>
      <p:sp>
        <p:nvSpPr>
          <p:cNvPr id="634" name="Google Shape;634;p27"/>
          <p:cNvSpPr/>
          <p:nvPr/>
        </p:nvSpPr>
        <p:spPr>
          <a:xfrm>
            <a:off x="4950778" y="2062184"/>
            <a:ext cx="3646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Més Wh o més Ah acostumen a donar més minuts.</a:t>
            </a:r>
            <a:endParaRPr sz="1350"/>
          </a:p>
        </p:txBody>
      </p:sp>
      <p:sp>
        <p:nvSpPr>
          <p:cNvPr id="635" name="Google Shape;635;p27"/>
          <p:cNvSpPr/>
          <p:nvPr/>
        </p:nvSpPr>
        <p:spPr>
          <a:xfrm>
            <a:off x="365650" y="2819624"/>
            <a:ext cx="4007400" cy="8088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36" name="Google Shape;636;p27"/>
          <p:cNvSpPr/>
          <p:nvPr/>
        </p:nvSpPr>
        <p:spPr>
          <a:xfrm>
            <a:off x="546167" y="2951945"/>
            <a:ext cx="364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Eficiència del SAI</a:t>
            </a:r>
            <a:endParaRPr sz="1350"/>
          </a:p>
        </p:txBody>
      </p:sp>
      <p:sp>
        <p:nvSpPr>
          <p:cNvPr id="637" name="Google Shape;637;p27"/>
          <p:cNvSpPr/>
          <p:nvPr/>
        </p:nvSpPr>
        <p:spPr>
          <a:xfrm>
            <a:off x="546167" y="3202108"/>
            <a:ext cx="3646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Menys pèrdues = més energia útil disponible.</a:t>
            </a:r>
            <a:endParaRPr sz="1350"/>
          </a:p>
        </p:txBody>
      </p:sp>
      <p:sp>
        <p:nvSpPr>
          <p:cNvPr id="638" name="Google Shape;638;p27"/>
          <p:cNvSpPr/>
          <p:nvPr/>
        </p:nvSpPr>
        <p:spPr>
          <a:xfrm>
            <a:off x="4770261" y="2819624"/>
            <a:ext cx="4007400" cy="8088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39" name="Google Shape;639;p27"/>
          <p:cNvSpPr/>
          <p:nvPr/>
        </p:nvSpPr>
        <p:spPr>
          <a:xfrm>
            <a:off x="4950778" y="2951945"/>
            <a:ext cx="364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Antiguitat de la bateria</a:t>
            </a:r>
            <a:endParaRPr sz="1350"/>
          </a:p>
        </p:txBody>
      </p:sp>
      <p:sp>
        <p:nvSpPr>
          <p:cNvPr id="640" name="Google Shape;640;p27"/>
          <p:cNvSpPr/>
          <p:nvPr/>
        </p:nvSpPr>
        <p:spPr>
          <a:xfrm>
            <a:off x="4950778" y="3202108"/>
            <a:ext cx="3646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7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Amb el temps la bateria es degrada i dura menys.</a:t>
            </a:r>
            <a:endParaRPr sz="1350"/>
          </a:p>
        </p:txBody>
      </p:sp>
      <p:sp>
        <p:nvSpPr>
          <p:cNvPr id="641" name="Google Shape;641;p27"/>
          <p:cNvSpPr/>
          <p:nvPr/>
        </p:nvSpPr>
        <p:spPr>
          <a:xfrm>
            <a:off x="754395" y="3737620"/>
            <a:ext cx="7612200" cy="514200"/>
          </a:xfrm>
          <a:prstGeom prst="roundRect">
            <a:avLst>
              <a:gd fmla="val 16667" name="adj"/>
            </a:avLst>
          </a:prstGeom>
          <a:solidFill>
            <a:srgbClr val="EAF4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42" name="Google Shape;642;p27"/>
          <p:cNvSpPr/>
          <p:nvPr/>
        </p:nvSpPr>
        <p:spPr>
          <a:xfrm>
            <a:off x="925849" y="3895300"/>
            <a:ext cx="72693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88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Per això, la mateixa bateria pot durar molt o poc segons quants equips hi connectem i quants W consumeixen.</a:t>
            </a:r>
            <a:endParaRPr sz="1350"/>
          </a:p>
        </p:txBody>
      </p:sp>
      <p:sp>
        <p:nvSpPr>
          <p:cNvPr id="643" name="Google Shape;643;p27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44" name="Google Shape;644;p27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què depèn l’autonomia?</a:t>
            </a:r>
            <a:endParaRPr sz="1350"/>
          </a:p>
        </p:txBody>
      </p:sp>
      <p:sp>
        <p:nvSpPr>
          <p:cNvPr id="645" name="Google Shape;6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8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52" name="Google Shape;652;p28"/>
          <p:cNvSpPr/>
          <p:nvPr/>
        </p:nvSpPr>
        <p:spPr>
          <a:xfrm>
            <a:off x="423125" y="4608650"/>
            <a:ext cx="5742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53" name="Google Shape;653;p28"/>
          <p:cNvSpPr/>
          <p:nvPr/>
        </p:nvSpPr>
        <p:spPr>
          <a:xfrm>
            <a:off x="423125" y="1101965"/>
            <a:ext cx="80238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Primer passem les dades de la bateria a Wh; després dividim pel consum real ( potencia).</a:t>
            </a:r>
            <a:endParaRPr sz="1050" u="none">
              <a:solidFill>
                <a:srgbClr val="5B6B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50">
                <a:solidFill>
                  <a:srgbClr val="5B6B7A"/>
                </a:solidFill>
              </a:rPr>
              <a:t>Càlcul simplificat per als exercicis. L'autonomia real s'ha de comprovar amb les dades del fabricant.</a:t>
            </a:r>
            <a:endParaRPr b="1" sz="1250">
              <a:solidFill>
                <a:srgbClr val="5B6B7A"/>
              </a:solidFill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459000" y="1586250"/>
            <a:ext cx="2544600" cy="21756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55" name="Google Shape;655;p28"/>
          <p:cNvSpPr/>
          <p:nvPr/>
        </p:nvSpPr>
        <p:spPr>
          <a:xfrm>
            <a:off x="559416" y="1752179"/>
            <a:ext cx="2337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1 · Energia teòrica</a:t>
            </a:r>
            <a:endParaRPr sz="1350"/>
          </a:p>
        </p:txBody>
      </p:sp>
      <p:sp>
        <p:nvSpPr>
          <p:cNvPr id="656" name="Google Shape;656;p28"/>
          <p:cNvSpPr/>
          <p:nvPr/>
        </p:nvSpPr>
        <p:spPr>
          <a:xfrm>
            <a:off x="559416" y="2098527"/>
            <a:ext cx="2302800" cy="396600"/>
          </a:xfrm>
          <a:prstGeom prst="roundRect">
            <a:avLst>
              <a:gd fmla="val 16667" name="adj"/>
            </a:avLst>
          </a:prstGeom>
          <a:solidFill>
            <a:srgbClr val="E5F2FF"/>
          </a:solidFill>
          <a:ln cap="flat" cmpd="sng" w="9425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57" name="Google Shape;657;p28"/>
          <p:cNvSpPr/>
          <p:nvPr/>
        </p:nvSpPr>
        <p:spPr>
          <a:xfrm>
            <a:off x="559425" y="2134597"/>
            <a:ext cx="2302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Wh teòrics = N × V × Ah</a:t>
            </a:r>
            <a:endParaRPr sz="1350"/>
          </a:p>
        </p:txBody>
      </p:sp>
      <p:sp>
        <p:nvSpPr>
          <p:cNvPr id="658" name="Google Shape;658;p28"/>
          <p:cNvSpPr/>
          <p:nvPr/>
        </p:nvSpPr>
        <p:spPr>
          <a:xfrm>
            <a:off x="559425" y="2766436"/>
            <a:ext cx="23028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N = nombre de bateries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V = voltatge de cada bateria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Ah = capacitat de cada bateria</a:t>
            </a:r>
            <a:endParaRPr sz="1100"/>
          </a:p>
        </p:txBody>
      </p:sp>
      <p:sp>
        <p:nvSpPr>
          <p:cNvPr id="659" name="Google Shape;659;p28"/>
          <p:cNvSpPr/>
          <p:nvPr/>
        </p:nvSpPr>
        <p:spPr>
          <a:xfrm>
            <a:off x="3111175" y="1586250"/>
            <a:ext cx="2761800" cy="21666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60" name="Google Shape;660;p28"/>
          <p:cNvSpPr/>
          <p:nvPr/>
        </p:nvSpPr>
        <p:spPr>
          <a:xfrm>
            <a:off x="3340958" y="1746442"/>
            <a:ext cx="2337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2 · Energia real</a:t>
            </a:r>
            <a:endParaRPr sz="1350"/>
          </a:p>
        </p:txBody>
      </p:sp>
      <p:sp>
        <p:nvSpPr>
          <p:cNvPr id="661" name="Google Shape;661;p28"/>
          <p:cNvSpPr/>
          <p:nvPr/>
        </p:nvSpPr>
        <p:spPr>
          <a:xfrm>
            <a:off x="3216225" y="2098525"/>
            <a:ext cx="2494200" cy="642900"/>
          </a:xfrm>
          <a:prstGeom prst="roundRect">
            <a:avLst>
              <a:gd fmla="val 16667" name="adj"/>
            </a:avLst>
          </a:prstGeom>
          <a:solidFill>
            <a:srgbClr val="E5F2FF"/>
          </a:solidFill>
          <a:ln cap="flat" cmpd="sng" w="9425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62" name="Google Shape;662;p28"/>
          <p:cNvSpPr/>
          <p:nvPr/>
        </p:nvSpPr>
        <p:spPr>
          <a:xfrm>
            <a:off x="3418708" y="2248111"/>
            <a:ext cx="23028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Wh útils o reals = </a:t>
            </a:r>
            <a:endParaRPr b="1" sz="1500" u="none">
              <a:solidFill>
                <a:srgbClr val="0B2E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N × V × Ah × eficiència</a:t>
            </a:r>
            <a:endParaRPr sz="1350"/>
          </a:p>
        </p:txBody>
      </p:sp>
      <p:sp>
        <p:nvSpPr>
          <p:cNvPr id="663" name="Google Shape;663;p28"/>
          <p:cNvSpPr/>
          <p:nvPr/>
        </p:nvSpPr>
        <p:spPr>
          <a:xfrm>
            <a:off x="3358408" y="2894078"/>
            <a:ext cx="24285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Eficiència: 90 % = 0,90. Té en compte les pèrdues del SAI.</a:t>
            </a:r>
            <a:endParaRPr sz="1100"/>
          </a:p>
        </p:txBody>
      </p:sp>
      <p:sp>
        <p:nvSpPr>
          <p:cNvPr id="664" name="Google Shape;664;p28"/>
          <p:cNvSpPr/>
          <p:nvPr/>
        </p:nvSpPr>
        <p:spPr>
          <a:xfrm>
            <a:off x="6015925" y="1586250"/>
            <a:ext cx="2761800" cy="21192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65" name="Google Shape;665;p28"/>
          <p:cNvSpPr/>
          <p:nvPr/>
        </p:nvSpPr>
        <p:spPr>
          <a:xfrm>
            <a:off x="6510715" y="1752179"/>
            <a:ext cx="21255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3 · Minuts</a:t>
            </a:r>
            <a:endParaRPr sz="1350"/>
          </a:p>
        </p:txBody>
      </p:sp>
      <p:sp>
        <p:nvSpPr>
          <p:cNvPr id="666" name="Google Shape;666;p28"/>
          <p:cNvSpPr/>
          <p:nvPr/>
        </p:nvSpPr>
        <p:spPr>
          <a:xfrm>
            <a:off x="6136600" y="2098525"/>
            <a:ext cx="2494200" cy="621000"/>
          </a:xfrm>
          <a:prstGeom prst="roundRect">
            <a:avLst>
              <a:gd fmla="val 16667" name="adj"/>
            </a:avLst>
          </a:prstGeom>
          <a:solidFill>
            <a:srgbClr val="E5F2FF"/>
          </a:solidFill>
          <a:ln cap="flat" cmpd="sng" w="9425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67" name="Google Shape;667;p28"/>
          <p:cNvSpPr/>
          <p:nvPr/>
        </p:nvSpPr>
        <p:spPr>
          <a:xfrm>
            <a:off x="6320950" y="2166438"/>
            <a:ext cx="2125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Autonomia = </a:t>
            </a:r>
            <a:endParaRPr b="1" sz="1500" u="none">
              <a:solidFill>
                <a:srgbClr val="0B2E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[Wh útils / P] × 60</a:t>
            </a:r>
            <a:endParaRPr sz="1350"/>
          </a:p>
        </p:txBody>
      </p:sp>
      <p:sp>
        <p:nvSpPr>
          <p:cNvPr id="668" name="Google Shape;668;p28"/>
          <p:cNvSpPr/>
          <p:nvPr/>
        </p:nvSpPr>
        <p:spPr>
          <a:xfrm>
            <a:off x="6185875" y="2890324"/>
            <a:ext cx="2494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P = potència real consumida pels equips, en W.</a:t>
            </a:r>
            <a:endParaRPr sz="1100"/>
          </a:p>
        </p:txBody>
      </p:sp>
      <p:sp>
        <p:nvSpPr>
          <p:cNvPr id="669" name="Google Shape;669;p28"/>
          <p:cNvSpPr/>
          <p:nvPr/>
        </p:nvSpPr>
        <p:spPr>
          <a:xfrm>
            <a:off x="459000" y="3862075"/>
            <a:ext cx="8285100" cy="1046100"/>
          </a:xfrm>
          <a:prstGeom prst="roundRect">
            <a:avLst>
              <a:gd fmla="val 16667" name="adj"/>
            </a:avLst>
          </a:prstGeom>
          <a:solidFill>
            <a:srgbClr val="FFEFE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70" name="Google Shape;670;p28"/>
          <p:cNvSpPr/>
          <p:nvPr/>
        </p:nvSpPr>
        <p:spPr>
          <a:xfrm>
            <a:off x="636073" y="4028001"/>
            <a:ext cx="78870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u="none">
                <a:solidFill>
                  <a:srgbClr val="D94848"/>
                </a:solidFill>
                <a:latin typeface="Arial"/>
                <a:ea typeface="Arial"/>
                <a:cs typeface="Arial"/>
                <a:sym typeface="Arial"/>
              </a:rPr>
              <a:t>Molt important</a:t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636075" y="4287975"/>
            <a:ext cx="7887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Per calcular autonomia utilitzem els Wh reals i la P sense marge: el consum real dels equips. El marge només serveix per escollir la potència del SAI.</a:t>
            </a:r>
            <a:endParaRPr sz="1200"/>
          </a:p>
        </p:txBody>
      </p:sp>
      <p:sp>
        <p:nvSpPr>
          <p:cNvPr id="672" name="Google Shape;672;p28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73" name="Google Shape;673;p28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podem calcular</a:t>
            </a: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l’autonomia?</a:t>
            </a:r>
            <a:endParaRPr sz="1350"/>
          </a:p>
        </p:txBody>
      </p:sp>
      <p:sp>
        <p:nvSpPr>
          <p:cNvPr id="674" name="Google Shape;67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9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81" name="Google Shape;681;p29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682" name="Google Shape;6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514" y="1303023"/>
            <a:ext cx="817562" cy="754111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9"/>
          <p:cNvSpPr/>
          <p:nvPr/>
        </p:nvSpPr>
        <p:spPr>
          <a:xfrm>
            <a:off x="1611675" y="1188650"/>
            <a:ext cx="7165800" cy="103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B4E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84" name="Google Shape;684;p29"/>
          <p:cNvSpPr/>
          <p:nvPr/>
        </p:nvSpPr>
        <p:spPr>
          <a:xfrm>
            <a:off x="1714350" y="1303025"/>
            <a:ext cx="71325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Dades de l’exemple:</a:t>
            </a:r>
            <a:r>
              <a:rPr b="1" lang="ca" sz="1200">
                <a:solidFill>
                  <a:srgbClr val="0B2E6D"/>
                </a:solidFill>
              </a:rPr>
              <a:t> tenim un SAI de 1000VA i 600 W. Amb unes bateries </a:t>
            </a: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N = 2 · V = 12 V · Ah = 7 Ah </a:t>
            </a:r>
            <a:r>
              <a:rPr b="1" lang="ca" sz="1200">
                <a:solidFill>
                  <a:srgbClr val="0B2E6D"/>
                </a:solidFill>
              </a:rPr>
              <a:t>· </a:t>
            </a: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eficiència = 95 % · Els equips connectats tenen una P = 350 W. Hem </a:t>
            </a:r>
            <a:r>
              <a:rPr b="1" lang="ca" sz="1200">
                <a:solidFill>
                  <a:srgbClr val="0B2E6D"/>
                </a:solidFill>
              </a:rPr>
              <a:t>de calcular l’autonomia del SAI per aquestes condicions.</a:t>
            </a:r>
            <a:endParaRPr sz="1200"/>
          </a:p>
        </p:txBody>
      </p:sp>
      <p:sp>
        <p:nvSpPr>
          <p:cNvPr id="685" name="Google Shape;685;p29"/>
          <p:cNvSpPr/>
          <p:nvPr/>
        </p:nvSpPr>
        <p:spPr>
          <a:xfrm>
            <a:off x="766550" y="2423400"/>
            <a:ext cx="3566100" cy="51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B4E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Wh teòrics = 2 × 12 × 7 = 168 Wh</a:t>
            </a:r>
            <a:endParaRPr sz="1350"/>
          </a:p>
        </p:txBody>
      </p:sp>
      <p:sp>
        <p:nvSpPr>
          <p:cNvPr id="686" name="Google Shape;686;p29"/>
          <p:cNvSpPr/>
          <p:nvPr/>
        </p:nvSpPr>
        <p:spPr>
          <a:xfrm>
            <a:off x="4812850" y="2423400"/>
            <a:ext cx="3771900" cy="51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B4E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Wh útils = 168 × 0,95 = 159,6 Wh</a:t>
            </a:r>
            <a:endParaRPr sz="1350"/>
          </a:p>
        </p:txBody>
      </p:sp>
      <p:sp>
        <p:nvSpPr>
          <p:cNvPr id="687" name="Google Shape;687;p29"/>
          <p:cNvSpPr/>
          <p:nvPr/>
        </p:nvSpPr>
        <p:spPr>
          <a:xfrm>
            <a:off x="1657354" y="3338048"/>
            <a:ext cx="5829300" cy="44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B4E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>
                <a:solidFill>
                  <a:srgbClr val="0B2E6D"/>
                </a:solidFill>
              </a:rPr>
              <a:t>Autonomía</a:t>
            </a: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ca" sz="1500">
                <a:solidFill>
                  <a:srgbClr val="0B2E6D"/>
                </a:solidFill>
              </a:rPr>
              <a:t>teórica</a:t>
            </a: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= [159,6 / 350] × 60 = 27,4 min ≈ 2</a:t>
            </a:r>
            <a:r>
              <a:rPr b="1" lang="ca" sz="1500">
                <a:solidFill>
                  <a:srgbClr val="0B2E6D"/>
                </a:solidFill>
              </a:rPr>
              <a:t>8</a:t>
            </a: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 min</a:t>
            </a:r>
            <a:endParaRPr sz="1350"/>
          </a:p>
        </p:txBody>
      </p:sp>
      <p:sp>
        <p:nvSpPr>
          <p:cNvPr id="688" name="Google Shape;688;p29"/>
          <p:cNvSpPr/>
          <p:nvPr/>
        </p:nvSpPr>
        <p:spPr>
          <a:xfrm>
            <a:off x="816950" y="3943350"/>
            <a:ext cx="7665900" cy="637200"/>
          </a:xfrm>
          <a:prstGeom prst="roundRect">
            <a:avLst>
              <a:gd fmla="val 16667" name="adj"/>
            </a:avLst>
          </a:prstGeom>
          <a:solidFill>
            <a:srgbClr val="EAF4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89" name="Google Shape;689;p29"/>
          <p:cNvSpPr/>
          <p:nvPr/>
        </p:nvSpPr>
        <p:spPr>
          <a:xfrm>
            <a:off x="1611663" y="4080521"/>
            <a:ext cx="5966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Si l’autonomia no és suficient, cal buscar un model amb més bateria o connectar menys equips.</a:t>
            </a:r>
            <a:endParaRPr sz="1200"/>
          </a:p>
        </p:txBody>
      </p:sp>
      <p:sp>
        <p:nvSpPr>
          <p:cNvPr id="690" name="Google Shape;690;p29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91" name="Google Shape;691;p29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Exemple de càlcul de l’autonomia</a:t>
            </a:r>
            <a:endParaRPr sz="1350"/>
          </a:p>
        </p:txBody>
      </p:sp>
      <p:sp>
        <p:nvSpPr>
          <p:cNvPr id="692" name="Google Shape;69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0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99" name="Google Shape;699;p30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00" name="Google Shape;700;p30"/>
          <p:cNvSpPr/>
          <p:nvPr/>
        </p:nvSpPr>
        <p:spPr>
          <a:xfrm>
            <a:off x="480148" y="-754444"/>
            <a:ext cx="83667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Més consum, menys autonomia</a:t>
            </a:r>
            <a:endParaRPr sz="1350"/>
          </a:p>
        </p:txBody>
      </p:sp>
      <p:sp>
        <p:nvSpPr>
          <p:cNvPr id="701" name="Google Shape;701;p30"/>
          <p:cNvSpPr/>
          <p:nvPr/>
        </p:nvSpPr>
        <p:spPr>
          <a:xfrm>
            <a:off x="405768" y="1070162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Mateix SAI: 159,6 Wh útils estimats.</a:t>
            </a:r>
            <a:endParaRPr sz="1350"/>
          </a:p>
        </p:txBody>
      </p:sp>
      <p:sp>
        <p:nvSpPr>
          <p:cNvPr id="702" name="Google Shape;702;p30"/>
          <p:cNvSpPr/>
          <p:nvPr/>
        </p:nvSpPr>
        <p:spPr>
          <a:xfrm>
            <a:off x="577233" y="1543398"/>
            <a:ext cx="1851300" cy="452400"/>
          </a:xfrm>
          <a:prstGeom prst="rect">
            <a:avLst/>
          </a:prstGeom>
          <a:solidFill>
            <a:srgbClr val="DCE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03" name="Google Shape;703;p30"/>
          <p:cNvSpPr/>
          <p:nvPr/>
        </p:nvSpPr>
        <p:spPr>
          <a:xfrm>
            <a:off x="611524" y="1528368"/>
            <a:ext cx="1782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Consum dels equips</a:t>
            </a:r>
            <a:endParaRPr sz="1350"/>
          </a:p>
        </p:txBody>
      </p:sp>
      <p:sp>
        <p:nvSpPr>
          <p:cNvPr id="704" name="Google Shape;704;p30"/>
          <p:cNvSpPr/>
          <p:nvPr/>
        </p:nvSpPr>
        <p:spPr>
          <a:xfrm>
            <a:off x="2428932" y="1543398"/>
            <a:ext cx="1234200" cy="452400"/>
          </a:xfrm>
          <a:prstGeom prst="rect">
            <a:avLst/>
          </a:prstGeom>
          <a:solidFill>
            <a:srgbClr val="DCE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05" name="Google Shape;705;p30"/>
          <p:cNvSpPr/>
          <p:nvPr/>
        </p:nvSpPr>
        <p:spPr>
          <a:xfrm>
            <a:off x="2463222" y="1563918"/>
            <a:ext cx="11655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Autonomia teòrica</a:t>
            </a:r>
            <a:endParaRPr sz="1350"/>
          </a:p>
        </p:txBody>
      </p:sp>
      <p:sp>
        <p:nvSpPr>
          <p:cNvPr id="706" name="Google Shape;706;p30"/>
          <p:cNvSpPr/>
          <p:nvPr/>
        </p:nvSpPr>
        <p:spPr>
          <a:xfrm>
            <a:off x="577233" y="1995919"/>
            <a:ext cx="1851300" cy="4524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07" name="Google Shape;707;p30"/>
          <p:cNvSpPr/>
          <p:nvPr/>
        </p:nvSpPr>
        <p:spPr>
          <a:xfrm>
            <a:off x="611524" y="2016709"/>
            <a:ext cx="1782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100 W</a:t>
            </a:r>
            <a:endParaRPr sz="1350"/>
          </a:p>
        </p:txBody>
      </p:sp>
      <p:sp>
        <p:nvSpPr>
          <p:cNvPr id="708" name="Google Shape;708;p30"/>
          <p:cNvSpPr/>
          <p:nvPr/>
        </p:nvSpPr>
        <p:spPr>
          <a:xfrm>
            <a:off x="2428932" y="1995919"/>
            <a:ext cx="1234200" cy="4524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09" name="Google Shape;709;p30"/>
          <p:cNvSpPr/>
          <p:nvPr/>
        </p:nvSpPr>
        <p:spPr>
          <a:xfrm>
            <a:off x="2463222" y="2016709"/>
            <a:ext cx="11655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95,76 min</a:t>
            </a:r>
            <a:endParaRPr sz="1350"/>
          </a:p>
        </p:txBody>
      </p:sp>
      <p:sp>
        <p:nvSpPr>
          <p:cNvPr id="710" name="Google Shape;710;p30"/>
          <p:cNvSpPr/>
          <p:nvPr/>
        </p:nvSpPr>
        <p:spPr>
          <a:xfrm>
            <a:off x="577233" y="2448710"/>
            <a:ext cx="1851300" cy="4524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11" name="Google Shape;711;p30"/>
          <p:cNvSpPr/>
          <p:nvPr/>
        </p:nvSpPr>
        <p:spPr>
          <a:xfrm>
            <a:off x="611524" y="2469230"/>
            <a:ext cx="1782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300 W</a:t>
            </a:r>
            <a:endParaRPr sz="1350"/>
          </a:p>
        </p:txBody>
      </p:sp>
      <p:sp>
        <p:nvSpPr>
          <p:cNvPr id="712" name="Google Shape;712;p30"/>
          <p:cNvSpPr/>
          <p:nvPr/>
        </p:nvSpPr>
        <p:spPr>
          <a:xfrm>
            <a:off x="2428932" y="2448710"/>
            <a:ext cx="1234200" cy="4524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13" name="Google Shape;713;p30"/>
          <p:cNvSpPr/>
          <p:nvPr/>
        </p:nvSpPr>
        <p:spPr>
          <a:xfrm>
            <a:off x="2463222" y="2469230"/>
            <a:ext cx="11655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31,92 min</a:t>
            </a:r>
            <a:endParaRPr sz="1350"/>
          </a:p>
        </p:txBody>
      </p:sp>
      <p:sp>
        <p:nvSpPr>
          <p:cNvPr id="714" name="Google Shape;714;p30"/>
          <p:cNvSpPr/>
          <p:nvPr/>
        </p:nvSpPr>
        <p:spPr>
          <a:xfrm>
            <a:off x="577233" y="2901232"/>
            <a:ext cx="1851300" cy="4524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15" name="Google Shape;715;p30"/>
          <p:cNvSpPr/>
          <p:nvPr/>
        </p:nvSpPr>
        <p:spPr>
          <a:xfrm>
            <a:off x="611524" y="2921751"/>
            <a:ext cx="1782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500 W</a:t>
            </a:r>
            <a:endParaRPr sz="1350"/>
          </a:p>
        </p:txBody>
      </p:sp>
      <p:sp>
        <p:nvSpPr>
          <p:cNvPr id="716" name="Google Shape;716;p30"/>
          <p:cNvSpPr/>
          <p:nvPr/>
        </p:nvSpPr>
        <p:spPr>
          <a:xfrm>
            <a:off x="2428932" y="2901232"/>
            <a:ext cx="1234200" cy="4524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17" name="Google Shape;717;p30"/>
          <p:cNvSpPr/>
          <p:nvPr/>
        </p:nvSpPr>
        <p:spPr>
          <a:xfrm>
            <a:off x="2463222" y="2921751"/>
            <a:ext cx="11655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19,15 min</a:t>
            </a:r>
            <a:endParaRPr sz="1350"/>
          </a:p>
        </p:txBody>
      </p:sp>
      <p:sp>
        <p:nvSpPr>
          <p:cNvPr id="718" name="Google Shape;718;p30"/>
          <p:cNvSpPr/>
          <p:nvPr/>
        </p:nvSpPr>
        <p:spPr>
          <a:xfrm>
            <a:off x="577233" y="3354023"/>
            <a:ext cx="1851300" cy="4524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19" name="Google Shape;719;p30"/>
          <p:cNvSpPr/>
          <p:nvPr/>
        </p:nvSpPr>
        <p:spPr>
          <a:xfrm>
            <a:off x="611524" y="3374543"/>
            <a:ext cx="17829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600 W (plena càrrega)</a:t>
            </a:r>
            <a:endParaRPr sz="1350"/>
          </a:p>
        </p:txBody>
      </p:sp>
      <p:sp>
        <p:nvSpPr>
          <p:cNvPr id="720" name="Google Shape;720;p30"/>
          <p:cNvSpPr/>
          <p:nvPr/>
        </p:nvSpPr>
        <p:spPr>
          <a:xfrm>
            <a:off x="2428932" y="3354023"/>
            <a:ext cx="1234200" cy="4524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21" name="Google Shape;721;p30"/>
          <p:cNvSpPr/>
          <p:nvPr/>
        </p:nvSpPr>
        <p:spPr>
          <a:xfrm>
            <a:off x="2463222" y="3374543"/>
            <a:ext cx="11655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15,96 min</a:t>
            </a:r>
            <a:endParaRPr sz="1350"/>
          </a:p>
        </p:txBody>
      </p:sp>
      <p:sp>
        <p:nvSpPr>
          <p:cNvPr id="722" name="Google Shape;722;p30"/>
          <p:cNvSpPr/>
          <p:nvPr/>
        </p:nvSpPr>
        <p:spPr>
          <a:xfrm>
            <a:off x="4143468" y="1611978"/>
            <a:ext cx="548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100 W</a:t>
            </a:r>
            <a:endParaRPr sz="1350"/>
          </a:p>
        </p:txBody>
      </p:sp>
      <p:sp>
        <p:nvSpPr>
          <p:cNvPr id="723" name="Google Shape;723;p30"/>
          <p:cNvSpPr/>
          <p:nvPr/>
        </p:nvSpPr>
        <p:spPr>
          <a:xfrm>
            <a:off x="4760701" y="1632499"/>
            <a:ext cx="2948700" cy="191700"/>
          </a:xfrm>
          <a:prstGeom prst="roundRect">
            <a:avLst>
              <a:gd fmla="val 16667" name="adj"/>
            </a:avLst>
          </a:prstGeom>
          <a:solidFill>
            <a:srgbClr val="0A84D6"/>
          </a:solidFill>
          <a:ln cap="flat" cmpd="sng" w="9425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24" name="Google Shape;724;p30"/>
          <p:cNvSpPr/>
          <p:nvPr/>
        </p:nvSpPr>
        <p:spPr>
          <a:xfrm>
            <a:off x="7812575" y="1611978"/>
            <a:ext cx="754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≈ 95,76 min</a:t>
            </a:r>
            <a:endParaRPr sz="1350"/>
          </a:p>
        </p:txBody>
      </p:sp>
      <p:sp>
        <p:nvSpPr>
          <p:cNvPr id="725" name="Google Shape;725;p30"/>
          <p:cNvSpPr/>
          <p:nvPr/>
        </p:nvSpPr>
        <p:spPr>
          <a:xfrm>
            <a:off x="4143468" y="2126330"/>
            <a:ext cx="548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300 W</a:t>
            </a:r>
            <a:endParaRPr sz="1350"/>
          </a:p>
        </p:txBody>
      </p:sp>
      <p:sp>
        <p:nvSpPr>
          <p:cNvPr id="726" name="Google Shape;726;p30"/>
          <p:cNvSpPr/>
          <p:nvPr/>
        </p:nvSpPr>
        <p:spPr>
          <a:xfrm>
            <a:off x="4760701" y="2146849"/>
            <a:ext cx="982800" cy="191700"/>
          </a:xfrm>
          <a:prstGeom prst="roundRect">
            <a:avLst>
              <a:gd fmla="val 16667" name="adj"/>
            </a:avLst>
          </a:prstGeom>
          <a:solidFill>
            <a:srgbClr val="0A84D6"/>
          </a:solidFill>
          <a:ln cap="flat" cmpd="sng" w="9425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27" name="Google Shape;727;p30"/>
          <p:cNvSpPr/>
          <p:nvPr/>
        </p:nvSpPr>
        <p:spPr>
          <a:xfrm>
            <a:off x="7812575" y="2126330"/>
            <a:ext cx="754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≈ 31,92 min</a:t>
            </a:r>
            <a:endParaRPr sz="1350"/>
          </a:p>
        </p:txBody>
      </p:sp>
      <p:sp>
        <p:nvSpPr>
          <p:cNvPr id="728" name="Google Shape;728;p30"/>
          <p:cNvSpPr/>
          <p:nvPr/>
        </p:nvSpPr>
        <p:spPr>
          <a:xfrm>
            <a:off x="4143468" y="2640681"/>
            <a:ext cx="548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500 W</a:t>
            </a:r>
            <a:endParaRPr sz="1350"/>
          </a:p>
        </p:txBody>
      </p:sp>
      <p:sp>
        <p:nvSpPr>
          <p:cNvPr id="729" name="Google Shape;729;p30"/>
          <p:cNvSpPr/>
          <p:nvPr/>
        </p:nvSpPr>
        <p:spPr>
          <a:xfrm>
            <a:off x="4760701" y="2661201"/>
            <a:ext cx="589500" cy="191700"/>
          </a:xfrm>
          <a:prstGeom prst="roundRect">
            <a:avLst>
              <a:gd fmla="val 16667" name="adj"/>
            </a:avLst>
          </a:prstGeom>
          <a:solidFill>
            <a:srgbClr val="0A84D6"/>
          </a:solidFill>
          <a:ln cap="flat" cmpd="sng" w="9425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30" name="Google Shape;730;p30"/>
          <p:cNvSpPr/>
          <p:nvPr/>
        </p:nvSpPr>
        <p:spPr>
          <a:xfrm>
            <a:off x="7812575" y="2640681"/>
            <a:ext cx="754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≈ 19,15 min</a:t>
            </a:r>
            <a:endParaRPr sz="1350"/>
          </a:p>
        </p:txBody>
      </p:sp>
      <p:sp>
        <p:nvSpPr>
          <p:cNvPr id="731" name="Google Shape;731;p30"/>
          <p:cNvSpPr/>
          <p:nvPr/>
        </p:nvSpPr>
        <p:spPr>
          <a:xfrm>
            <a:off x="4143468" y="3155033"/>
            <a:ext cx="548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600 W</a:t>
            </a:r>
            <a:endParaRPr sz="1350"/>
          </a:p>
        </p:txBody>
      </p:sp>
      <p:sp>
        <p:nvSpPr>
          <p:cNvPr id="732" name="Google Shape;732;p30"/>
          <p:cNvSpPr/>
          <p:nvPr/>
        </p:nvSpPr>
        <p:spPr>
          <a:xfrm>
            <a:off x="4760701" y="3175552"/>
            <a:ext cx="491100" cy="191700"/>
          </a:xfrm>
          <a:prstGeom prst="roundRect">
            <a:avLst>
              <a:gd fmla="val 16667" name="adj"/>
            </a:avLst>
          </a:prstGeom>
          <a:solidFill>
            <a:srgbClr val="0A84D6"/>
          </a:solidFill>
          <a:ln cap="flat" cmpd="sng" w="9425">
            <a:solidFill>
              <a:srgbClr val="0A84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33" name="Google Shape;733;p30"/>
          <p:cNvSpPr/>
          <p:nvPr/>
        </p:nvSpPr>
        <p:spPr>
          <a:xfrm>
            <a:off x="7812575" y="3155033"/>
            <a:ext cx="7542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≈ 15,96 min</a:t>
            </a:r>
            <a:endParaRPr sz="1350"/>
          </a:p>
        </p:txBody>
      </p:sp>
      <p:sp>
        <p:nvSpPr>
          <p:cNvPr id="734" name="Google Shape;734;p30"/>
          <p:cNvSpPr/>
          <p:nvPr/>
        </p:nvSpPr>
        <p:spPr>
          <a:xfrm>
            <a:off x="782977" y="4115155"/>
            <a:ext cx="7406400" cy="4935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35" name="Google Shape;735;p30"/>
          <p:cNvSpPr/>
          <p:nvPr/>
        </p:nvSpPr>
        <p:spPr>
          <a:xfrm>
            <a:off x="954431" y="4272835"/>
            <a:ext cx="70635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Aquesta és una estimació teòrica. L’autonomia real sempre s’ha de confirmar amb el fabricant.</a:t>
            </a:r>
            <a:endParaRPr b="1" sz="1200"/>
          </a:p>
        </p:txBody>
      </p:sp>
      <p:sp>
        <p:nvSpPr>
          <p:cNvPr id="736" name="Google Shape;736;p30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37" name="Google Shape;737;p30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Més consum, menys autonomia</a:t>
            </a:r>
            <a:endParaRPr sz="1350"/>
          </a:p>
        </p:txBody>
      </p:sp>
      <p:sp>
        <p:nvSpPr>
          <p:cNvPr id="738" name="Google Shape;7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1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45" name="Google Shape;745;p31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triar un SAI (I)</a:t>
            </a:r>
            <a:endParaRPr sz="1350"/>
          </a:p>
        </p:txBody>
      </p:sp>
      <p:sp>
        <p:nvSpPr>
          <p:cNvPr id="746" name="Google Shape;746;p31"/>
          <p:cNvSpPr/>
          <p:nvPr/>
        </p:nvSpPr>
        <p:spPr>
          <a:xfrm>
            <a:off x="456849" y="118854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8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Per saber quin SAI és el més adequat per a cada cas, hem de tenir clares aquestes qüestions:</a:t>
            </a:r>
            <a:endParaRPr sz="1350"/>
          </a:p>
        </p:txBody>
      </p:sp>
      <p:sp>
        <p:nvSpPr>
          <p:cNvPr id="747" name="Google Shape;747;p31"/>
          <p:cNvSpPr/>
          <p:nvPr/>
        </p:nvSpPr>
        <p:spPr>
          <a:xfrm>
            <a:off x="457119" y="1691554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48" name="Google Shape;748;p31"/>
          <p:cNvSpPr/>
          <p:nvPr/>
        </p:nvSpPr>
        <p:spPr>
          <a:xfrm>
            <a:off x="639913" y="1874344"/>
            <a:ext cx="411300" cy="4113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/>
          </a:p>
        </p:txBody>
      </p:sp>
      <p:sp>
        <p:nvSpPr>
          <p:cNvPr id="749" name="Google Shape;749;p31"/>
          <p:cNvSpPr/>
          <p:nvPr/>
        </p:nvSpPr>
        <p:spPr>
          <a:xfrm>
            <a:off x="639913" y="2377356"/>
            <a:ext cx="21942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Quina càrrega haurà de suportar?</a:t>
            </a:r>
            <a:endParaRPr sz="1350"/>
          </a:p>
        </p:txBody>
      </p:sp>
      <p:sp>
        <p:nvSpPr>
          <p:cNvPr id="750" name="Google Shape;750;p31"/>
          <p:cNvSpPr/>
          <p:nvPr/>
        </p:nvSpPr>
        <p:spPr>
          <a:xfrm>
            <a:off x="3291639" y="1691554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51" name="Google Shape;751;p31"/>
          <p:cNvSpPr/>
          <p:nvPr/>
        </p:nvSpPr>
        <p:spPr>
          <a:xfrm>
            <a:off x="3474703" y="1874344"/>
            <a:ext cx="411300" cy="4113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50"/>
          </a:p>
        </p:txBody>
      </p:sp>
      <p:sp>
        <p:nvSpPr>
          <p:cNvPr id="752" name="Google Shape;752;p31"/>
          <p:cNvSpPr/>
          <p:nvPr/>
        </p:nvSpPr>
        <p:spPr>
          <a:xfrm>
            <a:off x="3474703" y="2377356"/>
            <a:ext cx="21942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Quanta autonomia volem tenir?</a:t>
            </a:r>
            <a:endParaRPr sz="1350"/>
          </a:p>
        </p:txBody>
      </p:sp>
      <p:sp>
        <p:nvSpPr>
          <p:cNvPr id="753" name="Google Shape;753;p31"/>
          <p:cNvSpPr/>
          <p:nvPr/>
        </p:nvSpPr>
        <p:spPr>
          <a:xfrm>
            <a:off x="6126429" y="1691554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54" name="Google Shape;754;p31"/>
          <p:cNvSpPr/>
          <p:nvPr/>
        </p:nvSpPr>
        <p:spPr>
          <a:xfrm>
            <a:off x="6309223" y="1874344"/>
            <a:ext cx="411300" cy="4113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/>
          </a:p>
        </p:txBody>
      </p:sp>
      <p:sp>
        <p:nvSpPr>
          <p:cNvPr id="755" name="Google Shape;755;p31"/>
          <p:cNvSpPr/>
          <p:nvPr/>
        </p:nvSpPr>
        <p:spPr>
          <a:xfrm>
            <a:off x="6309223" y="2377356"/>
            <a:ext cx="21942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De quin espai disposem per ubicar-lo?</a:t>
            </a:r>
            <a:endParaRPr sz="1350"/>
          </a:p>
        </p:txBody>
      </p:sp>
      <p:sp>
        <p:nvSpPr>
          <p:cNvPr id="756" name="Google Shape;756;p31"/>
          <p:cNvSpPr/>
          <p:nvPr/>
        </p:nvSpPr>
        <p:spPr>
          <a:xfrm>
            <a:off x="457119" y="3154418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57" name="Google Shape;757;p31"/>
          <p:cNvSpPr/>
          <p:nvPr/>
        </p:nvSpPr>
        <p:spPr>
          <a:xfrm>
            <a:off x="639913" y="3337208"/>
            <a:ext cx="411300" cy="4113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50"/>
          </a:p>
        </p:txBody>
      </p:sp>
      <p:sp>
        <p:nvSpPr>
          <p:cNvPr id="758" name="Google Shape;758;p31"/>
          <p:cNvSpPr/>
          <p:nvPr/>
        </p:nvSpPr>
        <p:spPr>
          <a:xfrm>
            <a:off x="639913" y="3840220"/>
            <a:ext cx="21942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Quina tecnologia utilitzarem: </a:t>
            </a:r>
            <a:r>
              <a:rPr b="1" lang="ca" sz="1013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offline, line-interactive o online</a:t>
            </a: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350"/>
          </a:p>
        </p:txBody>
      </p:sp>
      <p:sp>
        <p:nvSpPr>
          <p:cNvPr id="759" name="Google Shape;759;p31"/>
          <p:cNvSpPr/>
          <p:nvPr/>
        </p:nvSpPr>
        <p:spPr>
          <a:xfrm>
            <a:off x="3291639" y="3154418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60" name="Google Shape;760;p31"/>
          <p:cNvSpPr/>
          <p:nvPr/>
        </p:nvSpPr>
        <p:spPr>
          <a:xfrm>
            <a:off x="3474703" y="3337208"/>
            <a:ext cx="411300" cy="4113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50"/>
          </a:p>
        </p:txBody>
      </p:sp>
      <p:sp>
        <p:nvSpPr>
          <p:cNvPr id="761" name="Google Shape;761;p31"/>
          <p:cNvSpPr/>
          <p:nvPr/>
        </p:nvSpPr>
        <p:spPr>
          <a:xfrm>
            <a:off x="3474433" y="3840220"/>
            <a:ext cx="21942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Quin format físic: torre o rack?</a:t>
            </a:r>
            <a:endParaRPr sz="1350"/>
          </a:p>
        </p:txBody>
      </p:sp>
      <p:sp>
        <p:nvSpPr>
          <p:cNvPr id="762" name="Google Shape;762;p31"/>
          <p:cNvSpPr/>
          <p:nvPr/>
        </p:nvSpPr>
        <p:spPr>
          <a:xfrm>
            <a:off x="6126429" y="3154418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63" name="Google Shape;763;p31"/>
          <p:cNvSpPr/>
          <p:nvPr/>
        </p:nvSpPr>
        <p:spPr>
          <a:xfrm>
            <a:off x="6309223" y="3154418"/>
            <a:ext cx="2194200" cy="13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encara falten </a:t>
            </a:r>
            <a:r>
              <a:rPr b="1" lang="ca" sz="117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més criteris…que anirem veient….</a:t>
            </a:r>
            <a:endParaRPr sz="1550"/>
          </a:p>
        </p:txBody>
      </p:sp>
      <p:sp>
        <p:nvSpPr>
          <p:cNvPr id="764" name="Google Shape;7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2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71" name="Google Shape;771;p32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triar un SAI (II) - </a:t>
            </a: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 6: connectivitat i gestió</a:t>
            </a:r>
            <a:endParaRPr sz="1350"/>
          </a:p>
        </p:txBody>
      </p:sp>
      <p:sp>
        <p:nvSpPr>
          <p:cNvPr id="772" name="Google Shape;772;p32"/>
          <p:cNvSpPr/>
          <p:nvPr/>
        </p:nvSpPr>
        <p:spPr>
          <a:xfrm>
            <a:off x="457119" y="1280073"/>
            <a:ext cx="4023000" cy="324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73" name="Google Shape;773;p32"/>
          <p:cNvSpPr/>
          <p:nvPr/>
        </p:nvSpPr>
        <p:spPr>
          <a:xfrm>
            <a:off x="685544" y="1462864"/>
            <a:ext cx="594000" cy="5940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774" name="Google Shape;7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987" y="1617304"/>
            <a:ext cx="284851" cy="2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32"/>
          <p:cNvSpPr/>
          <p:nvPr/>
        </p:nvSpPr>
        <p:spPr>
          <a:xfrm>
            <a:off x="1462891" y="1462864"/>
            <a:ext cx="28341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Port USB / RS-232</a:t>
            </a:r>
            <a:endParaRPr sz="1350"/>
          </a:p>
        </p:txBody>
      </p:sp>
      <p:sp>
        <p:nvSpPr>
          <p:cNvPr id="776" name="Google Shape;776;p32"/>
          <p:cNvSpPr/>
          <p:nvPr/>
        </p:nvSpPr>
        <p:spPr>
          <a:xfrm>
            <a:off x="685814" y="2285826"/>
            <a:ext cx="35658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41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Permet connectar el SAI al PC o al NAS. Amb programari (com NUT —Network UPS Tools— o PowerChute), l’ordinador rep l’ordre d’apagar-se automàticament i de forma segura quan la bateria del SAI està a punt d’esgotar-se.</a:t>
            </a:r>
            <a:endParaRPr sz="1750"/>
          </a:p>
        </p:txBody>
      </p:sp>
      <p:sp>
        <p:nvSpPr>
          <p:cNvPr id="777" name="Google Shape;777;p32"/>
          <p:cNvSpPr/>
          <p:nvPr/>
        </p:nvSpPr>
        <p:spPr>
          <a:xfrm>
            <a:off x="4663268" y="1280073"/>
            <a:ext cx="4023000" cy="324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78" name="Google Shape;778;p32"/>
          <p:cNvSpPr/>
          <p:nvPr/>
        </p:nvSpPr>
        <p:spPr>
          <a:xfrm>
            <a:off x="4891693" y="1462864"/>
            <a:ext cx="594000" cy="5940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779" name="Google Shape;77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6406" y="1617304"/>
            <a:ext cx="284851" cy="2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2"/>
          <p:cNvSpPr/>
          <p:nvPr/>
        </p:nvSpPr>
        <p:spPr>
          <a:xfrm>
            <a:off x="5669309" y="1462864"/>
            <a:ext cx="28341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Targeta de xarxa SNMP</a:t>
            </a:r>
            <a:endParaRPr sz="1350"/>
          </a:p>
        </p:txBody>
      </p:sp>
      <p:sp>
        <p:nvSpPr>
          <p:cNvPr id="781" name="Google Shape;781;p32"/>
          <p:cNvSpPr/>
          <p:nvPr/>
        </p:nvSpPr>
        <p:spPr>
          <a:xfrm>
            <a:off x="4891963" y="2285826"/>
            <a:ext cx="35658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Útil en entorns corporatius per gestionar i supervisar el SAI a distància</a:t>
            </a:r>
            <a:endParaRPr/>
          </a:p>
        </p:txBody>
      </p:sp>
      <p:sp>
        <p:nvSpPr>
          <p:cNvPr id="782" name="Google Shape;78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3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89" name="Google Shape;789;p33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triar un SAI (III) - C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riteri 7: preses de corrent</a:t>
            </a:r>
            <a:endParaRPr sz="1350"/>
          </a:p>
        </p:txBody>
      </p:sp>
      <p:sp>
        <p:nvSpPr>
          <p:cNvPr id="790" name="Google Shape;790;p33"/>
          <p:cNvSpPr/>
          <p:nvPr/>
        </p:nvSpPr>
        <p:spPr>
          <a:xfrm>
            <a:off x="457119" y="1234173"/>
            <a:ext cx="25599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791" name="Google Shape;7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282" y="1371333"/>
            <a:ext cx="2285598" cy="1371063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33"/>
          <p:cNvSpPr/>
          <p:nvPr/>
        </p:nvSpPr>
        <p:spPr>
          <a:xfrm>
            <a:off x="639913" y="2834467"/>
            <a:ext cx="2194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Schuko</a:t>
            </a:r>
            <a:endParaRPr sz="1350"/>
          </a:p>
        </p:txBody>
      </p:sp>
      <p:sp>
        <p:nvSpPr>
          <p:cNvPr id="793" name="Google Shape;793;p33"/>
          <p:cNvSpPr/>
          <p:nvPr/>
        </p:nvSpPr>
        <p:spPr>
          <a:xfrm>
            <a:off x="639913" y="3200048"/>
            <a:ext cx="21942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4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Endoll domèstic estàndard. Útil per connectar qualsevol dispositiu directament, sense adaptadors.</a:t>
            </a:r>
            <a:endParaRPr sz="1850"/>
          </a:p>
        </p:txBody>
      </p:sp>
      <p:sp>
        <p:nvSpPr>
          <p:cNvPr id="794" name="Google Shape;794;p33"/>
          <p:cNvSpPr/>
          <p:nvPr/>
        </p:nvSpPr>
        <p:spPr>
          <a:xfrm>
            <a:off x="3291639" y="1234173"/>
            <a:ext cx="2559900" cy="329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795" name="Google Shape;79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8802" y="1371333"/>
            <a:ext cx="2285599" cy="1371063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3"/>
          <p:cNvSpPr/>
          <p:nvPr/>
        </p:nvSpPr>
        <p:spPr>
          <a:xfrm>
            <a:off x="3474703" y="2834467"/>
            <a:ext cx="2194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IEC C13/C14</a:t>
            </a:r>
            <a:endParaRPr sz="1350"/>
          </a:p>
        </p:txBody>
      </p:sp>
      <p:sp>
        <p:nvSpPr>
          <p:cNvPr id="797" name="Google Shape;797;p33"/>
          <p:cNvSpPr/>
          <p:nvPr/>
        </p:nvSpPr>
        <p:spPr>
          <a:xfrm>
            <a:off x="3474703" y="3200048"/>
            <a:ext cx="21942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Estàndard en servidors i sistemes professionals; requereix cables específics.</a:t>
            </a:r>
            <a:endParaRPr/>
          </a:p>
        </p:txBody>
      </p:sp>
      <p:sp>
        <p:nvSpPr>
          <p:cNvPr id="798" name="Google Shape;798;p33"/>
          <p:cNvSpPr/>
          <p:nvPr/>
        </p:nvSpPr>
        <p:spPr>
          <a:xfrm>
            <a:off x="6126429" y="1234173"/>
            <a:ext cx="2559900" cy="32913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99" name="Google Shape;799;p33"/>
          <p:cNvSpPr/>
          <p:nvPr/>
        </p:nvSpPr>
        <p:spPr>
          <a:xfrm>
            <a:off x="6400755" y="1462864"/>
            <a:ext cx="548100" cy="548400"/>
          </a:xfrm>
          <a:prstGeom prst="ellipse">
            <a:avLst/>
          </a:prstGeom>
          <a:solidFill>
            <a:srgbClr val="9FBCF1"/>
          </a:solidFill>
          <a:ln cap="flat" cmpd="sng" w="7150">
            <a:solidFill>
              <a:srgbClr val="9FB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800" name="Google Shape;80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3318" y="1605424"/>
            <a:ext cx="263250" cy="26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33"/>
          <p:cNvSpPr/>
          <p:nvPr/>
        </p:nvSpPr>
        <p:spPr>
          <a:xfrm>
            <a:off x="6400755" y="2194295"/>
            <a:ext cx="210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de preses</a:t>
            </a:r>
            <a:endParaRPr sz="1350"/>
          </a:p>
        </p:txBody>
      </p:sp>
      <p:sp>
        <p:nvSpPr>
          <p:cNvPr id="802" name="Google Shape;802;p33"/>
          <p:cNvSpPr/>
          <p:nvPr/>
        </p:nvSpPr>
        <p:spPr>
          <a:xfrm>
            <a:off x="6400485" y="2651407"/>
            <a:ext cx="21486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Comprova quantes preses tenen protecció per bateria i quantes només tenen protecció contra sobretensions (surge only).</a:t>
            </a:r>
            <a:endParaRPr sz="1200"/>
          </a:p>
        </p:txBody>
      </p:sp>
      <p:sp>
        <p:nvSpPr>
          <p:cNvPr id="803" name="Google Shape;80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4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10" name="Google Shape;810;p34"/>
          <p:cNvSpPr/>
          <p:nvPr/>
        </p:nvSpPr>
        <p:spPr>
          <a:xfrm>
            <a:off x="82327" y="47458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11" name="Google Shape;811;p34"/>
          <p:cNvSpPr/>
          <p:nvPr/>
        </p:nvSpPr>
        <p:spPr>
          <a:xfrm>
            <a:off x="411475" y="1068525"/>
            <a:ext cx="8010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No totes les preses d’un SAI ofereixen el mateix tipus de protecció.</a:t>
            </a:r>
            <a:endParaRPr sz="1350"/>
          </a:p>
        </p:txBody>
      </p:sp>
      <p:sp>
        <p:nvSpPr>
          <p:cNvPr id="812" name="Google Shape;812;p34"/>
          <p:cNvSpPr/>
          <p:nvPr/>
        </p:nvSpPr>
        <p:spPr>
          <a:xfrm>
            <a:off x="617233" y="1371603"/>
            <a:ext cx="3703200" cy="22971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13" name="Google Shape;813;p34"/>
          <p:cNvSpPr/>
          <p:nvPr/>
        </p:nvSpPr>
        <p:spPr>
          <a:xfrm>
            <a:off x="822977" y="1543054"/>
            <a:ext cx="32916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Preses amb bateria</a:t>
            </a:r>
            <a:endParaRPr sz="1350"/>
          </a:p>
        </p:txBody>
      </p:sp>
      <p:sp>
        <p:nvSpPr>
          <p:cNvPr id="814" name="Google Shape;814;p34"/>
          <p:cNvSpPr/>
          <p:nvPr/>
        </p:nvSpPr>
        <p:spPr>
          <a:xfrm>
            <a:off x="822977" y="1865435"/>
            <a:ext cx="3291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Alimenten l’equip durant un tall de corrent. Són les que hem d’utilitzar per ordinador, monitor essencial, NAS o router.</a:t>
            </a:r>
            <a:endParaRPr sz="1100"/>
          </a:p>
        </p:txBody>
      </p:sp>
      <p:sp>
        <p:nvSpPr>
          <p:cNvPr id="815" name="Google Shape;815;p34"/>
          <p:cNvSpPr/>
          <p:nvPr/>
        </p:nvSpPr>
        <p:spPr>
          <a:xfrm>
            <a:off x="925849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E6F3FF"/>
          </a:solidFill>
          <a:ln cap="flat" cmpd="sng" w="9425">
            <a:solidFill>
              <a:srgbClr val="2F7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16" name="Google Shape;816;p34"/>
          <p:cNvSpPr/>
          <p:nvPr/>
        </p:nvSpPr>
        <p:spPr>
          <a:xfrm>
            <a:off x="1076782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2F78C7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1350"/>
          </a:p>
        </p:txBody>
      </p:sp>
      <p:sp>
        <p:nvSpPr>
          <p:cNvPr id="817" name="Google Shape;817;p34"/>
          <p:cNvSpPr/>
          <p:nvPr/>
        </p:nvSpPr>
        <p:spPr>
          <a:xfrm>
            <a:off x="1645954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E6F3FF"/>
          </a:solidFill>
          <a:ln cap="flat" cmpd="sng" w="9425">
            <a:solidFill>
              <a:srgbClr val="2F7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18" name="Google Shape;818;p34"/>
          <p:cNvSpPr/>
          <p:nvPr/>
        </p:nvSpPr>
        <p:spPr>
          <a:xfrm>
            <a:off x="1796888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2F78C7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1350"/>
          </a:p>
        </p:txBody>
      </p:sp>
      <p:sp>
        <p:nvSpPr>
          <p:cNvPr id="819" name="Google Shape;819;p34"/>
          <p:cNvSpPr/>
          <p:nvPr/>
        </p:nvSpPr>
        <p:spPr>
          <a:xfrm>
            <a:off x="2366060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E6F3FF"/>
          </a:solidFill>
          <a:ln cap="flat" cmpd="sng" w="9425">
            <a:solidFill>
              <a:srgbClr val="2F7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20" name="Google Shape;820;p34"/>
          <p:cNvSpPr/>
          <p:nvPr/>
        </p:nvSpPr>
        <p:spPr>
          <a:xfrm>
            <a:off x="2516993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2F78C7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1350"/>
          </a:p>
        </p:txBody>
      </p:sp>
      <p:sp>
        <p:nvSpPr>
          <p:cNvPr id="821" name="Google Shape;821;p34"/>
          <p:cNvSpPr/>
          <p:nvPr/>
        </p:nvSpPr>
        <p:spPr>
          <a:xfrm>
            <a:off x="3086164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E6F3FF"/>
          </a:solidFill>
          <a:ln cap="flat" cmpd="sng" w="9425">
            <a:solidFill>
              <a:srgbClr val="2F78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22" name="Google Shape;822;p34"/>
          <p:cNvSpPr/>
          <p:nvPr/>
        </p:nvSpPr>
        <p:spPr>
          <a:xfrm>
            <a:off x="3237098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2F78C7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1350"/>
          </a:p>
        </p:txBody>
      </p:sp>
      <p:sp>
        <p:nvSpPr>
          <p:cNvPr id="823" name="Google Shape;823;p34"/>
          <p:cNvSpPr/>
          <p:nvPr/>
        </p:nvSpPr>
        <p:spPr>
          <a:xfrm>
            <a:off x="4800701" y="1371603"/>
            <a:ext cx="3703200" cy="22971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24" name="Google Shape;824;p34"/>
          <p:cNvSpPr/>
          <p:nvPr/>
        </p:nvSpPr>
        <p:spPr>
          <a:xfrm>
            <a:off x="5006445" y="1543054"/>
            <a:ext cx="32916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Preses només per a sobretensions</a:t>
            </a:r>
            <a:endParaRPr sz="1350"/>
          </a:p>
        </p:txBody>
      </p:sp>
      <p:sp>
        <p:nvSpPr>
          <p:cNvPr id="825" name="Google Shape;825;p34"/>
          <p:cNvSpPr/>
          <p:nvPr/>
        </p:nvSpPr>
        <p:spPr>
          <a:xfrm>
            <a:off x="5006445" y="1865435"/>
            <a:ext cx="32916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Protegeixen contra pics de tensió, però no donen autonomia quan marxa la llum. No són per equips crítics que han de continuar funcionant.</a:t>
            </a:r>
            <a:endParaRPr sz="1100"/>
          </a:p>
        </p:txBody>
      </p:sp>
      <p:sp>
        <p:nvSpPr>
          <p:cNvPr id="826" name="Google Shape;826;p34"/>
          <p:cNvSpPr/>
          <p:nvPr/>
        </p:nvSpPr>
        <p:spPr>
          <a:xfrm>
            <a:off x="5109317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FFF3D8"/>
          </a:solidFill>
          <a:ln cap="flat" cmpd="sng" w="94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27" name="Google Shape;827;p34"/>
          <p:cNvSpPr/>
          <p:nvPr/>
        </p:nvSpPr>
        <p:spPr>
          <a:xfrm>
            <a:off x="5260251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↯</a:t>
            </a:r>
            <a:endParaRPr sz="1350"/>
          </a:p>
        </p:txBody>
      </p:sp>
      <p:sp>
        <p:nvSpPr>
          <p:cNvPr id="828" name="Google Shape;828;p34"/>
          <p:cNvSpPr/>
          <p:nvPr/>
        </p:nvSpPr>
        <p:spPr>
          <a:xfrm>
            <a:off x="5829423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FFF3D8"/>
          </a:solidFill>
          <a:ln cap="flat" cmpd="sng" w="94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29" name="Google Shape;829;p34"/>
          <p:cNvSpPr/>
          <p:nvPr/>
        </p:nvSpPr>
        <p:spPr>
          <a:xfrm>
            <a:off x="5980356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↯</a:t>
            </a:r>
            <a:endParaRPr sz="1350"/>
          </a:p>
        </p:txBody>
      </p:sp>
      <p:sp>
        <p:nvSpPr>
          <p:cNvPr id="830" name="Google Shape;830;p34"/>
          <p:cNvSpPr/>
          <p:nvPr/>
        </p:nvSpPr>
        <p:spPr>
          <a:xfrm>
            <a:off x="6549527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FFF3D8"/>
          </a:solidFill>
          <a:ln cap="flat" cmpd="sng" w="94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31" name="Google Shape;831;p34"/>
          <p:cNvSpPr/>
          <p:nvPr/>
        </p:nvSpPr>
        <p:spPr>
          <a:xfrm>
            <a:off x="6700461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↯</a:t>
            </a:r>
            <a:endParaRPr sz="1350"/>
          </a:p>
        </p:txBody>
      </p:sp>
      <p:sp>
        <p:nvSpPr>
          <p:cNvPr id="832" name="Google Shape;832;p34"/>
          <p:cNvSpPr/>
          <p:nvPr/>
        </p:nvSpPr>
        <p:spPr>
          <a:xfrm>
            <a:off x="7269633" y="2743207"/>
            <a:ext cx="548400" cy="411300"/>
          </a:xfrm>
          <a:prstGeom prst="roundRect">
            <a:avLst>
              <a:gd fmla="val 16667" name="adj"/>
            </a:avLst>
          </a:prstGeom>
          <a:solidFill>
            <a:srgbClr val="FFF3D8"/>
          </a:solidFill>
          <a:ln cap="flat" cmpd="sng" w="94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33" name="Google Shape;833;p34"/>
          <p:cNvSpPr/>
          <p:nvPr/>
        </p:nvSpPr>
        <p:spPr>
          <a:xfrm>
            <a:off x="7420566" y="2832307"/>
            <a:ext cx="2397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F28C28"/>
                </a:solidFill>
                <a:latin typeface="Arial"/>
                <a:ea typeface="Arial"/>
                <a:cs typeface="Arial"/>
                <a:sym typeface="Arial"/>
              </a:rPr>
              <a:t>↯</a:t>
            </a:r>
            <a:endParaRPr sz="1350"/>
          </a:p>
        </p:txBody>
      </p:sp>
      <p:sp>
        <p:nvSpPr>
          <p:cNvPr id="834" name="Google Shape;834;p34"/>
          <p:cNvSpPr/>
          <p:nvPr/>
        </p:nvSpPr>
        <p:spPr>
          <a:xfrm>
            <a:off x="617200" y="4149150"/>
            <a:ext cx="7886700" cy="589500"/>
          </a:xfrm>
          <a:prstGeom prst="roundRect">
            <a:avLst>
              <a:gd fmla="val 16667" name="adj"/>
            </a:avLst>
          </a:prstGeom>
          <a:solidFill>
            <a:srgbClr val="EAF4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35" name="Google Shape;835;p34"/>
          <p:cNvSpPr/>
          <p:nvPr/>
        </p:nvSpPr>
        <p:spPr>
          <a:xfrm>
            <a:off x="1200150" y="4286301"/>
            <a:ext cx="67893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Quan triem un SAI, revisem quantes preses tenen bateria i quantes només són de protecció contra sobretensions.</a:t>
            </a:r>
            <a:endParaRPr sz="1200"/>
          </a:p>
        </p:txBody>
      </p:sp>
      <p:sp>
        <p:nvSpPr>
          <p:cNvPr id="836" name="Google Shape;836;p34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37" name="Google Shape;837;p34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triar un SAI (IV) - Criteri 8: Nombre de preses de corrent</a:t>
            </a:r>
            <a:endParaRPr sz="1350"/>
          </a:p>
        </p:txBody>
      </p:sp>
      <p:sp>
        <p:nvSpPr>
          <p:cNvPr id="838" name="Google Shape;83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5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45" name="Google Shape;845;p35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46" name="Google Shape;846;p35"/>
          <p:cNvSpPr/>
          <p:nvPr/>
        </p:nvSpPr>
        <p:spPr>
          <a:xfrm>
            <a:off x="394617" y="1122728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Exemple de SAI, amb diferents preses per sobre-tensions I per bateria .SAI Interactivo Cyberpower BR700ELCD 420 W</a:t>
            </a:r>
            <a:endParaRPr sz="1350"/>
          </a:p>
        </p:txBody>
      </p:sp>
      <p:pic>
        <p:nvPicPr>
          <p:cNvPr id="847" name="Google Shape;84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489" y="2118365"/>
            <a:ext cx="3611529" cy="177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5000" y="1819024"/>
            <a:ext cx="2793426" cy="25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35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50" name="Google Shape;850;p35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triar un SAI (V) - Criteri 8: Nombre de preses de corrent</a:t>
            </a:r>
            <a:endParaRPr sz="1350"/>
          </a:p>
        </p:txBody>
      </p:sp>
      <p:sp>
        <p:nvSpPr>
          <p:cNvPr id="851" name="Google Shape;85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sp>
        <p:nvSpPr>
          <p:cNvPr id="852" name="Google Shape;852;p35"/>
          <p:cNvSpPr/>
          <p:nvPr/>
        </p:nvSpPr>
        <p:spPr>
          <a:xfrm>
            <a:off x="1740450" y="1875000"/>
            <a:ext cx="2462100" cy="1009200"/>
          </a:xfrm>
          <a:prstGeom prst="rect">
            <a:avLst/>
          </a:prstGeom>
          <a:noFill/>
          <a:ln cap="flat" cmpd="sng" w="28575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5"/>
          <p:cNvSpPr/>
          <p:nvPr/>
        </p:nvSpPr>
        <p:spPr>
          <a:xfrm>
            <a:off x="1740450" y="3109575"/>
            <a:ext cx="2492400" cy="1112700"/>
          </a:xfrm>
          <a:prstGeom prst="rect">
            <a:avLst/>
          </a:prstGeom>
          <a:noFill/>
          <a:ln cap="flat" cmpd="sng" w="28575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5"/>
          <p:cNvSpPr/>
          <p:nvPr/>
        </p:nvSpPr>
        <p:spPr>
          <a:xfrm>
            <a:off x="1740450" y="4333075"/>
            <a:ext cx="4042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>
                <a:solidFill>
                  <a:srgbClr val="5B6B7A"/>
                </a:solidFill>
              </a:rPr>
              <a:t>Preses amb bateria i protecció de sobretensions</a:t>
            </a:r>
            <a:endParaRPr sz="1050">
              <a:solidFill>
                <a:srgbClr val="5B6B7A"/>
              </a:solidFill>
            </a:endParaRPr>
          </a:p>
        </p:txBody>
      </p:sp>
      <p:sp>
        <p:nvSpPr>
          <p:cNvPr id="855" name="Google Shape;855;p35"/>
          <p:cNvSpPr/>
          <p:nvPr/>
        </p:nvSpPr>
        <p:spPr>
          <a:xfrm>
            <a:off x="1740450" y="1579325"/>
            <a:ext cx="2680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00">
                <a:solidFill>
                  <a:srgbClr val="5B6B7A"/>
                </a:solidFill>
              </a:rPr>
              <a:t>Preses </a:t>
            </a:r>
            <a:r>
              <a:rPr lang="ca" sz="1000">
                <a:solidFill>
                  <a:srgbClr val="5B6B7A"/>
                </a:solidFill>
              </a:rPr>
              <a:t>només</a:t>
            </a:r>
            <a:r>
              <a:rPr lang="ca" sz="1000">
                <a:solidFill>
                  <a:srgbClr val="5B6B7A"/>
                </a:solidFill>
              </a:rPr>
              <a:t> amb protecció de sobretensions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6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62" name="Google Shape;862;p36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 triar un SA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(VI ) - 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 </a:t>
            </a: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9: forma de l’ona de sortida</a:t>
            </a:r>
            <a:endParaRPr sz="1350"/>
          </a:p>
        </p:txBody>
      </p:sp>
      <p:sp>
        <p:nvSpPr>
          <p:cNvPr id="863" name="Google Shape;863;p36"/>
          <p:cNvSpPr/>
          <p:nvPr/>
        </p:nvSpPr>
        <p:spPr>
          <a:xfrm>
            <a:off x="457119" y="1280073"/>
            <a:ext cx="4023000" cy="324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64" name="Google Shape;864;p36"/>
          <p:cNvSpPr/>
          <p:nvPr/>
        </p:nvSpPr>
        <p:spPr>
          <a:xfrm>
            <a:off x="456849" y="1280073"/>
            <a:ext cx="4023000" cy="776700"/>
          </a:xfrm>
          <a:prstGeom prst="roundRect">
            <a:avLst>
              <a:gd fmla="val 16667" name="adj"/>
            </a:avLst>
          </a:prstGeom>
          <a:solidFill>
            <a:srgbClr val="1F9D6B"/>
          </a:solidFill>
          <a:ln cap="flat" cmpd="sng" w="9425">
            <a:solidFill>
              <a:srgbClr val="1F9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65" name="Google Shape;865;p36"/>
          <p:cNvSpPr/>
          <p:nvPr/>
        </p:nvSpPr>
        <p:spPr>
          <a:xfrm>
            <a:off x="639913" y="1325703"/>
            <a:ext cx="3657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Ona sinusoïdal pura</a:t>
            </a:r>
            <a:endParaRPr sz="1350"/>
          </a:p>
        </p:txBody>
      </p:sp>
      <p:sp>
        <p:nvSpPr>
          <p:cNvPr id="866" name="Google Shape;866;p36"/>
          <p:cNvSpPr/>
          <p:nvPr/>
        </p:nvSpPr>
        <p:spPr>
          <a:xfrm>
            <a:off x="639913" y="1691284"/>
            <a:ext cx="36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Pure sine wave</a:t>
            </a:r>
            <a:endParaRPr sz="1350"/>
          </a:p>
        </p:txBody>
      </p:sp>
      <p:sp>
        <p:nvSpPr>
          <p:cNvPr id="867" name="Google Shape;867;p36"/>
          <p:cNvSpPr/>
          <p:nvPr/>
        </p:nvSpPr>
        <p:spPr>
          <a:xfrm>
            <a:off x="639913" y="2239925"/>
            <a:ext cx="36573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a" sz="1200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Recomanada per a ordinadors amb fonts d'alimentació amb PFC actiu, servidors i equips sensibles. Ofereix més compatibilitat i redueix el risc d'apagades inesperades.</a:t>
            </a:r>
            <a:endParaRPr sz="1200">
              <a:solidFill>
                <a:srgbClr val="4F648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F64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6"/>
          <p:cNvSpPr/>
          <p:nvPr/>
        </p:nvSpPr>
        <p:spPr>
          <a:xfrm>
            <a:off x="4663268" y="1280073"/>
            <a:ext cx="4023000" cy="324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69" name="Google Shape;869;p36"/>
          <p:cNvSpPr/>
          <p:nvPr/>
        </p:nvSpPr>
        <p:spPr>
          <a:xfrm>
            <a:off x="4663268" y="1280073"/>
            <a:ext cx="4023000" cy="776700"/>
          </a:xfrm>
          <a:prstGeom prst="roundRect">
            <a:avLst>
              <a:gd fmla="val 16667" name="adj"/>
            </a:avLst>
          </a:prstGeom>
          <a:solidFill>
            <a:srgbClr val="E8A317"/>
          </a:solidFill>
          <a:ln cap="flat" cmpd="sng" w="9425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70" name="Google Shape;870;p36"/>
          <p:cNvSpPr/>
          <p:nvPr/>
        </p:nvSpPr>
        <p:spPr>
          <a:xfrm>
            <a:off x="4846331" y="1325703"/>
            <a:ext cx="3657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Ona simulada</a:t>
            </a:r>
            <a:endParaRPr sz="1350"/>
          </a:p>
        </p:txBody>
      </p:sp>
      <p:sp>
        <p:nvSpPr>
          <p:cNvPr id="871" name="Google Shape;871;p36"/>
          <p:cNvSpPr/>
          <p:nvPr/>
        </p:nvSpPr>
        <p:spPr>
          <a:xfrm>
            <a:off x="4846331" y="1691284"/>
            <a:ext cx="36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Pseudosinusoïdal</a:t>
            </a:r>
            <a:endParaRPr sz="1350"/>
          </a:p>
        </p:txBody>
      </p:sp>
      <p:sp>
        <p:nvSpPr>
          <p:cNvPr id="872" name="Google Shape;872;p36"/>
          <p:cNvSpPr/>
          <p:nvPr/>
        </p:nvSpPr>
        <p:spPr>
          <a:xfrm>
            <a:off x="4846331" y="2239925"/>
            <a:ext cx="36573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Generalment més econòmica. Pot funcionar correctament amb molts equips, però algunes fonts d'alimentació poden presentar incompatibilitats.</a:t>
            </a:r>
            <a:endParaRPr sz="1200"/>
          </a:p>
        </p:txBody>
      </p:sp>
      <p:sp>
        <p:nvSpPr>
          <p:cNvPr id="873" name="Google Shape;87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h5809c451046e6e6c_0_483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80" name="Google Shape;880;h5809c451046e6e6c_0_483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81" name="Google Shape;881;h5809c451046e6e6c_0_483"/>
          <p:cNvSpPr/>
          <p:nvPr/>
        </p:nvSpPr>
        <p:spPr>
          <a:xfrm>
            <a:off x="436517" y="1221603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>
                <a:solidFill>
                  <a:srgbClr val="5B6B7A"/>
                </a:solidFill>
              </a:rPr>
              <a:t>Quant aguanta un SAI un tall de llum amb els equips connectats ( màxim equips)</a:t>
            </a:r>
            <a:endParaRPr sz="1350"/>
          </a:p>
        </p:txBody>
      </p:sp>
      <p:sp>
        <p:nvSpPr>
          <p:cNvPr id="882" name="Google Shape;882;h5809c451046e6e6c_0_483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83" name="Google Shape;883;h5809c451046e6e6c_0_483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triar un SAI (VII ) - Autonomia SAI</a:t>
            </a:r>
            <a:endParaRPr sz="1350"/>
          </a:p>
        </p:txBody>
      </p:sp>
      <p:sp>
        <p:nvSpPr>
          <p:cNvPr id="884" name="Google Shape;884;h5809c451046e6e6c_0_4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pic>
        <p:nvPicPr>
          <p:cNvPr id="885" name="Google Shape;885;h5809c451046e6e6c_0_4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196" y="1530825"/>
            <a:ext cx="5418254" cy="30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h5809c451046e6e6c_0_483"/>
          <p:cNvSpPr txBox="1"/>
          <p:nvPr/>
        </p:nvSpPr>
        <p:spPr>
          <a:xfrm>
            <a:off x="675775" y="4678175"/>
            <a:ext cx="754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Selector de SAI de Lapara - </a:t>
            </a:r>
            <a:r>
              <a:rPr lang="ca" u="sng">
                <a:solidFill>
                  <a:schemeClr val="hlink"/>
                </a:solidFill>
                <a:hlinkClick r:id="rId4"/>
              </a:rPr>
              <a:t>https://www.laparaups.com/recomendador-de-sais-ups/</a:t>
            </a:r>
            <a:r>
              <a:rPr lang="ca"/>
              <a:t>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7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893" name="Google Shape;893;p37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Programari de gestió de SAI</a:t>
            </a:r>
            <a:endParaRPr sz="1350"/>
          </a:p>
        </p:txBody>
      </p:sp>
      <p:sp>
        <p:nvSpPr>
          <p:cNvPr id="894" name="Google Shape;894;p37"/>
          <p:cNvSpPr/>
          <p:nvPr/>
        </p:nvSpPr>
        <p:spPr>
          <a:xfrm>
            <a:off x="456849" y="118854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El programari connecta el SAI amb els equips i actua quan falla la xarxa.</a:t>
            </a:r>
            <a:endParaRPr sz="1350"/>
          </a:p>
        </p:txBody>
      </p:sp>
      <p:sp>
        <p:nvSpPr>
          <p:cNvPr id="895" name="Google Shape;895;p37"/>
          <p:cNvSpPr/>
          <p:nvPr/>
        </p:nvSpPr>
        <p:spPr>
          <a:xfrm>
            <a:off x="457119" y="1691554"/>
            <a:ext cx="8229300" cy="2148300"/>
          </a:xfrm>
          <a:prstGeom prst="roundRect">
            <a:avLst>
              <a:gd fmla="val 16667" name="adj"/>
            </a:avLst>
          </a:prstGeom>
          <a:solidFill>
            <a:srgbClr val="161E31"/>
          </a:solidFill>
          <a:ln cap="flat" cmpd="sng" w="7150">
            <a:solidFill>
              <a:srgbClr val="161E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896" name="Google Shape;89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81" y="1782814"/>
            <a:ext cx="8046438" cy="1965604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37"/>
          <p:cNvSpPr/>
          <p:nvPr/>
        </p:nvSpPr>
        <p:spPr>
          <a:xfrm>
            <a:off x="457119" y="4114540"/>
            <a:ext cx="109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Exemples:</a:t>
            </a:r>
            <a:endParaRPr sz="1350"/>
          </a:p>
        </p:txBody>
      </p:sp>
      <p:sp>
        <p:nvSpPr>
          <p:cNvPr id="898" name="Google Shape;898;p37"/>
          <p:cNvSpPr/>
          <p:nvPr/>
        </p:nvSpPr>
        <p:spPr>
          <a:xfrm>
            <a:off x="1554422" y="4114540"/>
            <a:ext cx="2376900" cy="3654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NUT (Network UPS Tools)</a:t>
            </a:r>
            <a:endParaRPr sz="1350"/>
          </a:p>
        </p:txBody>
      </p:sp>
      <p:sp>
        <p:nvSpPr>
          <p:cNvPr id="899" name="Google Shape;899;p37"/>
          <p:cNvSpPr/>
          <p:nvPr/>
        </p:nvSpPr>
        <p:spPr>
          <a:xfrm>
            <a:off x="4068986" y="4114540"/>
            <a:ext cx="1462500" cy="3654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PowerChute</a:t>
            </a:r>
            <a:endParaRPr sz="1350"/>
          </a:p>
        </p:txBody>
      </p:sp>
      <p:sp>
        <p:nvSpPr>
          <p:cNvPr id="900" name="Google Shape;90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h626f9ea2796bc2f3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sp>
        <p:nvSpPr>
          <p:cNvPr id="906" name="Google Shape;906;h626f9ea2796bc2f3_0_66"/>
          <p:cNvSpPr/>
          <p:nvPr/>
        </p:nvSpPr>
        <p:spPr>
          <a:xfrm>
            <a:off x="639925" y="274050"/>
            <a:ext cx="6034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 SAI</a:t>
            </a:r>
            <a:endParaRPr sz="1350"/>
          </a:p>
        </p:txBody>
      </p:sp>
      <p:pic>
        <p:nvPicPr>
          <p:cNvPr descr="Te explico en que consiste el funcionamiento de los diferentes sistemas de alimentación ininterrumpida (SAI) también conocidos como UPS." id="907" name="Google Shape;907;h626f9ea2796bc2f3_0_66" title="Todo sobre los SAI (sistemas de alimentación Ininterrumpida)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300" y="1784325"/>
            <a:ext cx="3266900" cy="183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h626f9ea2796bc2f3_0_66"/>
          <p:cNvSpPr txBox="1"/>
          <p:nvPr/>
        </p:nvSpPr>
        <p:spPr>
          <a:xfrm>
            <a:off x="443925" y="1094725"/>
            <a:ext cx="8367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>
                <a:solidFill>
                  <a:srgbClr val="0F0F0F"/>
                </a:solidFill>
                <a:highlight>
                  <a:srgbClr val="ECF7FF"/>
                </a:highlight>
                <a:latin typeface="Roboto"/>
                <a:ea typeface="Roboto"/>
                <a:cs typeface="Roboto"/>
                <a:sym typeface="Roboto"/>
              </a:rPr>
              <a:t>Tot sobre els SAI (sistemes d'alimentació ininterrompuda)</a:t>
            </a:r>
            <a:endParaRPr b="1" sz="1050">
              <a:solidFill>
                <a:srgbClr val="0F0F0F"/>
              </a:solidFill>
              <a:highlight>
                <a:srgbClr val="ECF7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09" name="Google Shape;909;h626f9ea2796bc2f3_0_66"/>
          <p:cNvSpPr txBox="1"/>
          <p:nvPr/>
        </p:nvSpPr>
        <p:spPr>
          <a:xfrm>
            <a:off x="498400" y="3994725"/>
            <a:ext cx="8367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>
                <a:solidFill>
                  <a:srgbClr val="0F0F0F"/>
                </a:solidFill>
                <a:highlight>
                  <a:srgbClr val="ECF7FF"/>
                </a:highlight>
                <a:latin typeface="Roboto"/>
                <a:ea typeface="Roboto"/>
                <a:cs typeface="Roboto"/>
                <a:sym typeface="Roboto"/>
              </a:rPr>
              <a:t>Un altre vídeo molt recomanat:  </a:t>
            </a:r>
            <a:r>
              <a:rPr b="1" lang="ca" sz="1050" u="sng">
                <a:solidFill>
                  <a:schemeClr val="hlink"/>
                </a:solidFill>
                <a:highlight>
                  <a:srgbClr val="ECF7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https://www.youtube.com/watch?v=rp492vPid2E&amp;t=12s </a:t>
            </a:r>
            <a:endParaRPr b="1" sz="1050">
              <a:solidFill>
                <a:srgbClr val="0F0F0F"/>
              </a:solidFill>
              <a:highlight>
                <a:srgbClr val="ECF7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376B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8"/>
          <p:cNvSpPr/>
          <p:nvPr/>
        </p:nvSpPr>
        <p:spPr>
          <a:xfrm>
            <a:off x="5669039" y="822691"/>
            <a:ext cx="2925900" cy="2925600"/>
          </a:xfrm>
          <a:prstGeom prst="ellipse">
            <a:avLst/>
          </a:prstGeom>
          <a:solidFill>
            <a:srgbClr val="1B4A8C"/>
          </a:solidFill>
          <a:ln cap="flat" cmpd="sng" w="9425">
            <a:solidFill>
              <a:srgbClr val="1B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916" name="Google Shape;9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17" y="1371333"/>
            <a:ext cx="1188273" cy="1700194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38"/>
          <p:cNvSpPr/>
          <p:nvPr/>
        </p:nvSpPr>
        <p:spPr>
          <a:xfrm>
            <a:off x="548651" y="1371333"/>
            <a:ext cx="457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EXEMPLE PRÀCTIC</a:t>
            </a:r>
            <a:endParaRPr sz="1350"/>
          </a:p>
        </p:txBody>
      </p:sp>
      <p:sp>
        <p:nvSpPr>
          <p:cNvPr id="918" name="Google Shape;918;p38"/>
          <p:cNvSpPr/>
          <p:nvPr/>
        </p:nvSpPr>
        <p:spPr>
          <a:xfrm>
            <a:off x="548651" y="1828444"/>
            <a:ext cx="48459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8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Calcular quin SAI hem de comprar?</a:t>
            </a:r>
            <a:endParaRPr sz="1350"/>
          </a:p>
        </p:txBody>
      </p:sp>
      <p:sp>
        <p:nvSpPr>
          <p:cNvPr id="919" name="Google Shape;91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9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26" name="Google Shape;926;p39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Exemple: la fitxa tècnica del SAI</a:t>
            </a:r>
            <a:endParaRPr sz="1350"/>
          </a:p>
        </p:txBody>
      </p:sp>
      <p:sp>
        <p:nvSpPr>
          <p:cNvPr id="927" name="Google Shape;927;p39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endParaRPr sz="1350"/>
          </a:p>
        </p:txBody>
      </p:sp>
      <p:sp>
        <p:nvSpPr>
          <p:cNvPr id="928" name="Google Shape;928;p39"/>
          <p:cNvSpPr/>
          <p:nvPr/>
        </p:nvSpPr>
        <p:spPr>
          <a:xfrm>
            <a:off x="457119" y="118854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Tenim les dades de la fitxa tècnica del SAI següent:</a:t>
            </a:r>
            <a:endParaRPr sz="1350"/>
          </a:p>
        </p:txBody>
      </p:sp>
      <p:sp>
        <p:nvSpPr>
          <p:cNvPr id="929" name="Google Shape;929;p39"/>
          <p:cNvSpPr/>
          <p:nvPr/>
        </p:nvSpPr>
        <p:spPr>
          <a:xfrm>
            <a:off x="457119" y="1645654"/>
            <a:ext cx="4846200" cy="301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930" name="Google Shape;93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81" y="1737184"/>
            <a:ext cx="4662998" cy="2834196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39"/>
          <p:cNvSpPr/>
          <p:nvPr/>
        </p:nvSpPr>
        <p:spPr>
          <a:xfrm>
            <a:off x="5486245" y="1645654"/>
            <a:ext cx="3200100" cy="237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932" name="Google Shape;93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3408" y="1737184"/>
            <a:ext cx="2925782" cy="21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39"/>
          <p:cNvSpPr/>
          <p:nvPr/>
        </p:nvSpPr>
        <p:spPr>
          <a:xfrm>
            <a:off x="5486245" y="4160170"/>
            <a:ext cx="3200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Fitxa original (en castellà)</a:t>
            </a:r>
            <a:endParaRPr sz="1350"/>
          </a:p>
        </p:txBody>
      </p:sp>
      <p:sp>
        <p:nvSpPr>
          <p:cNvPr id="934" name="Google Shape;9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0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41" name="Google Shape;941;p40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dades útils de la fitxa</a:t>
            </a:r>
            <a:endParaRPr sz="1350"/>
          </a:p>
        </p:txBody>
      </p:sp>
      <p:sp>
        <p:nvSpPr>
          <p:cNvPr id="942" name="Google Shape;942;p40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endParaRPr sz="1350"/>
          </a:p>
        </p:txBody>
      </p:sp>
      <p:graphicFrame>
        <p:nvGraphicFramePr>
          <p:cNvPr id="943" name="Google Shape;943;p40"/>
          <p:cNvGraphicFramePr/>
          <p:nvPr/>
        </p:nvGraphicFramePr>
        <p:xfrm>
          <a:off x="457119" y="12800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{3787FB69-86A1-4C5D-B84A-D355D22D1D74}</a:tableStyleId>
              </a:tblPr>
              <a:tblGrid>
                <a:gridCol w="2925800"/>
                <a:gridCol w="2011550"/>
              </a:tblGrid>
              <a:tr h="50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88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Dada de la fitxa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88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Potència màxima de sortida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 VA / 600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de bateries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  <a:tr h="50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Voltatge de cada bateria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V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Capacitat de cada bateria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050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Ah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944" name="Google Shape;944;p40"/>
          <p:cNvSpPr/>
          <p:nvPr/>
        </p:nvSpPr>
        <p:spPr>
          <a:xfrm>
            <a:off x="5577777" y="1280073"/>
            <a:ext cx="3108600" cy="25140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45" name="Google Shape;945;p40"/>
          <p:cNvSpPr/>
          <p:nvPr/>
        </p:nvSpPr>
        <p:spPr>
          <a:xfrm>
            <a:off x="5760571" y="1416963"/>
            <a:ext cx="27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Per a l’exercici:</a:t>
            </a:r>
            <a:endParaRPr sz="1350"/>
          </a:p>
        </p:txBody>
      </p:sp>
      <p:sp>
        <p:nvSpPr>
          <p:cNvPr id="946" name="Google Shape;946;p40"/>
          <p:cNvSpPr/>
          <p:nvPr/>
        </p:nvSpPr>
        <p:spPr>
          <a:xfrm>
            <a:off x="5760571" y="1828444"/>
            <a:ext cx="27426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 de </a:t>
            </a:r>
            <a:r>
              <a:rPr b="1" lang="ca" sz="150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350 W</a:t>
            </a: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 eficiència del </a:t>
            </a:r>
            <a:r>
              <a:rPr b="1" lang="ca" sz="150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95 %</a:t>
            </a: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947" name="Google Shape;947;p40"/>
          <p:cNvSpPr/>
          <p:nvPr/>
        </p:nvSpPr>
        <p:spPr>
          <a:xfrm>
            <a:off x="457119" y="3977380"/>
            <a:ext cx="8229300" cy="548400"/>
          </a:xfrm>
          <a:prstGeom prst="roundRect">
            <a:avLst>
              <a:gd fmla="val 16667" name="adj"/>
            </a:avLst>
          </a:prstGeom>
          <a:solidFill>
            <a:srgbClr val="FFF6E0"/>
          </a:solidFill>
          <a:ln cap="flat" cmpd="sng" w="715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48" name="Google Shape;948;p40"/>
          <p:cNvSpPr/>
          <p:nvPr/>
        </p:nvSpPr>
        <p:spPr>
          <a:xfrm>
            <a:off x="594282" y="4068640"/>
            <a:ext cx="365400" cy="365700"/>
          </a:xfrm>
          <a:prstGeom prst="ellipse">
            <a:avLst/>
          </a:prstGeom>
          <a:solidFill>
            <a:srgbClr val="E8A317"/>
          </a:solidFill>
          <a:ln cap="flat" cmpd="sng" w="7150">
            <a:solidFill>
              <a:srgbClr val="E8A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949" name="Google Shape;9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324" y="4163951"/>
            <a:ext cx="175230" cy="1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40"/>
          <p:cNvSpPr/>
          <p:nvPr/>
        </p:nvSpPr>
        <p:spPr>
          <a:xfrm>
            <a:off x="1097032" y="3977380"/>
            <a:ext cx="7452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El 95 % és una hipòtesi afegida. La fitxa no el proporciona.</a:t>
            </a:r>
            <a:endParaRPr sz="1350"/>
          </a:p>
        </p:txBody>
      </p:sp>
      <p:sp>
        <p:nvSpPr>
          <p:cNvPr id="951" name="Google Shape;95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1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58" name="Google Shape;958;p41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 1: calculem consum i marge</a:t>
            </a:r>
            <a:endParaRPr sz="1350"/>
          </a:p>
        </p:txBody>
      </p:sp>
      <p:sp>
        <p:nvSpPr>
          <p:cNvPr id="959" name="Google Shape;959;p41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endParaRPr sz="1350"/>
          </a:p>
        </p:txBody>
      </p:sp>
      <p:sp>
        <p:nvSpPr>
          <p:cNvPr id="960" name="Google Shape;960;p41"/>
          <p:cNvSpPr/>
          <p:nvPr/>
        </p:nvSpPr>
        <p:spPr>
          <a:xfrm>
            <a:off x="457119" y="1188543"/>
            <a:ext cx="40227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Volem comprar un SAI per a casa i donar cobertura als equips següents:</a:t>
            </a:r>
            <a:endParaRPr sz="1350"/>
          </a:p>
        </p:txBody>
      </p:sp>
      <p:graphicFrame>
        <p:nvGraphicFramePr>
          <p:cNvPr id="961" name="Google Shape;961;p41"/>
          <p:cNvGraphicFramePr/>
          <p:nvPr/>
        </p:nvGraphicFramePr>
        <p:xfrm>
          <a:off x="457119" y="1874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{3787FB69-86A1-4C5D-B84A-D355D22D1D74}</a:tableStyleId>
              </a:tblPr>
              <a:tblGrid>
                <a:gridCol w="2011275"/>
                <a:gridCol w="2011550"/>
              </a:tblGrid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13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013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 de l’exemple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Ordinador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Router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97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962" name="Google Shape;962;p41"/>
          <p:cNvSpPr/>
          <p:nvPr/>
        </p:nvSpPr>
        <p:spPr>
          <a:xfrm>
            <a:off x="457119" y="3931480"/>
            <a:ext cx="40227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Per fer-ho bé, utilitzem el consum d’entrada dels equips (a la fitxa tècnica o a internet): mateixa marca i model!</a:t>
            </a:r>
            <a:endParaRPr sz="1350"/>
          </a:p>
        </p:txBody>
      </p:sp>
      <p:sp>
        <p:nvSpPr>
          <p:cNvPr id="963" name="Google Shape;963;p41"/>
          <p:cNvSpPr/>
          <p:nvPr/>
        </p:nvSpPr>
        <p:spPr>
          <a:xfrm>
            <a:off x="4663268" y="1188543"/>
            <a:ext cx="4023000" cy="159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64" name="Google Shape;964;p41"/>
          <p:cNvSpPr/>
          <p:nvPr/>
        </p:nvSpPr>
        <p:spPr>
          <a:xfrm>
            <a:off x="4846062" y="1188543"/>
            <a:ext cx="36573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Marge triat: 25 %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Per no anar justos: per si canviem o afegim algun equip, o si un equip consumeix més del que indica el manual o la fitxa tècnica.</a:t>
            </a:r>
            <a:endParaRPr sz="1200"/>
          </a:p>
        </p:txBody>
      </p:sp>
      <p:sp>
        <p:nvSpPr>
          <p:cNvPr id="965" name="Google Shape;965;p41"/>
          <p:cNvSpPr/>
          <p:nvPr/>
        </p:nvSpPr>
        <p:spPr>
          <a:xfrm>
            <a:off x="4663268" y="2971357"/>
            <a:ext cx="4023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66" name="Google Shape;966;p41"/>
          <p:cNvSpPr/>
          <p:nvPr/>
        </p:nvSpPr>
        <p:spPr>
          <a:xfrm>
            <a:off x="4800431" y="2971357"/>
            <a:ext cx="3748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350 × 1,25 = 437,5 W</a:t>
            </a:r>
            <a:endParaRPr sz="1350"/>
          </a:p>
        </p:txBody>
      </p:sp>
      <p:sp>
        <p:nvSpPr>
          <p:cNvPr id="967" name="Google Shape;967;p41"/>
          <p:cNvSpPr/>
          <p:nvPr/>
        </p:nvSpPr>
        <p:spPr>
          <a:xfrm>
            <a:off x="4663268" y="3794320"/>
            <a:ext cx="402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Demanem almenys </a:t>
            </a:r>
            <a:r>
              <a:rPr b="1" lang="ca" sz="112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438 W</a:t>
            </a:r>
            <a:r>
              <a:rPr b="1"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968" name="Google Shape;968;p41"/>
          <p:cNvSpPr/>
          <p:nvPr/>
        </p:nvSpPr>
        <p:spPr>
          <a:xfrm>
            <a:off x="4663268" y="4297331"/>
            <a:ext cx="4023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825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* El 25 % és un criteri de l’exercici.</a:t>
            </a:r>
            <a:endParaRPr sz="1350"/>
          </a:p>
        </p:txBody>
      </p:sp>
      <p:sp>
        <p:nvSpPr>
          <p:cNvPr id="969" name="Google Shape;96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2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76" name="Google Shape;976;p42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 2: VA i elecció del SAI</a:t>
            </a:r>
            <a:endParaRPr sz="1350"/>
          </a:p>
        </p:txBody>
      </p:sp>
      <p:sp>
        <p:nvSpPr>
          <p:cNvPr id="977" name="Google Shape;977;p42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endParaRPr sz="1350"/>
          </a:p>
        </p:txBody>
      </p:sp>
      <p:sp>
        <p:nvSpPr>
          <p:cNvPr id="978" name="Google Shape;978;p42"/>
          <p:cNvSpPr/>
          <p:nvPr/>
        </p:nvSpPr>
        <p:spPr>
          <a:xfrm>
            <a:off x="457119" y="123417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L’enunciat dona un factor de potència: </a:t>
            </a: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FP = 0,7</a:t>
            </a: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979" name="Google Shape;979;p42"/>
          <p:cNvSpPr/>
          <p:nvPr/>
        </p:nvSpPr>
        <p:spPr>
          <a:xfrm>
            <a:off x="457119" y="1737184"/>
            <a:ext cx="8229300" cy="685500"/>
          </a:xfrm>
          <a:prstGeom prst="roundRect">
            <a:avLst>
              <a:gd fmla="val 16667" name="adj"/>
            </a:avLst>
          </a:prstGeom>
          <a:solidFill>
            <a:srgbClr val="0081BF"/>
          </a:solidFill>
          <a:ln cap="flat" cmpd="sng" w="9425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80" name="Google Shape;980;p42"/>
          <p:cNvSpPr/>
          <p:nvPr/>
        </p:nvSpPr>
        <p:spPr>
          <a:xfrm>
            <a:off x="594012" y="1737184"/>
            <a:ext cx="79548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6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 necessaris = W amb marge ÷ FP</a:t>
            </a:r>
            <a:endParaRPr sz="1350"/>
          </a:p>
        </p:txBody>
      </p:sp>
      <p:sp>
        <p:nvSpPr>
          <p:cNvPr id="981" name="Google Shape;981;p42"/>
          <p:cNvSpPr/>
          <p:nvPr/>
        </p:nvSpPr>
        <p:spPr>
          <a:xfrm>
            <a:off x="457119" y="2605777"/>
            <a:ext cx="8229300" cy="8223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82" name="Google Shape;982;p42"/>
          <p:cNvSpPr/>
          <p:nvPr/>
        </p:nvSpPr>
        <p:spPr>
          <a:xfrm>
            <a:off x="594012" y="2605777"/>
            <a:ext cx="7954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22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437,5 ÷ 0,7 = 625 VA</a:t>
            </a:r>
            <a:endParaRPr sz="1350"/>
          </a:p>
        </p:txBody>
      </p:sp>
      <p:sp>
        <p:nvSpPr>
          <p:cNvPr id="983" name="Google Shape;983;p42"/>
          <p:cNvSpPr/>
          <p:nvPr/>
        </p:nvSpPr>
        <p:spPr>
          <a:xfrm>
            <a:off x="457119" y="3657429"/>
            <a:ext cx="8229300" cy="8682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84" name="Google Shape;984;p42"/>
          <p:cNvSpPr/>
          <p:nvPr/>
        </p:nvSpPr>
        <p:spPr>
          <a:xfrm>
            <a:off x="731445" y="3657429"/>
            <a:ext cx="76806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Conclusió:</a:t>
            </a:r>
            <a:r>
              <a:rPr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El SAI ha de tenir com a mínim 438 W i 625 VA</a:t>
            </a:r>
            <a:endParaRPr sz="1350"/>
          </a:p>
        </p:txBody>
      </p:sp>
      <p:sp>
        <p:nvSpPr>
          <p:cNvPr id="985" name="Google Shape;98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3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92" name="Google Shape;992;p43"/>
          <p:cNvSpPr/>
          <p:nvPr/>
        </p:nvSpPr>
        <p:spPr>
          <a:xfrm>
            <a:off x="45727" y="49284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93" name="Google Shape;993;p43"/>
          <p:cNvSpPr/>
          <p:nvPr/>
        </p:nvSpPr>
        <p:spPr>
          <a:xfrm>
            <a:off x="388493" y="1074212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Ara calculem minuts amb el consum real, no amb la potència màxima del SAI.</a:t>
            </a:r>
            <a:endParaRPr sz="1350"/>
          </a:p>
        </p:txBody>
      </p:sp>
      <p:sp>
        <p:nvSpPr>
          <p:cNvPr id="994" name="Google Shape;994;p43"/>
          <p:cNvSpPr/>
          <p:nvPr/>
        </p:nvSpPr>
        <p:spPr>
          <a:xfrm>
            <a:off x="580608" y="1622823"/>
            <a:ext cx="3840300" cy="24000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95" name="Google Shape;995;p43"/>
          <p:cNvSpPr/>
          <p:nvPr/>
        </p:nvSpPr>
        <p:spPr>
          <a:xfrm>
            <a:off x="786352" y="1794274"/>
            <a:ext cx="34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Dades</a:t>
            </a:r>
            <a:endParaRPr sz="1350"/>
          </a:p>
        </p:txBody>
      </p:sp>
      <p:sp>
        <p:nvSpPr>
          <p:cNvPr id="996" name="Google Shape;996;p43"/>
          <p:cNvSpPr/>
          <p:nvPr/>
        </p:nvSpPr>
        <p:spPr>
          <a:xfrm>
            <a:off x="854900" y="2257200"/>
            <a:ext cx="32916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N = 2 bateries iguals.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V = 12 V cada bateria.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Ah = 7 Ah cada bateria.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Eficiència = 95 % = 0,95.</a:t>
            </a:r>
            <a:endParaRPr sz="1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P = 350 W de consum real.</a:t>
            </a:r>
            <a:endParaRPr sz="1200"/>
          </a:p>
        </p:txBody>
      </p:sp>
      <p:sp>
        <p:nvSpPr>
          <p:cNvPr id="997" name="Google Shape;997;p43"/>
          <p:cNvSpPr/>
          <p:nvPr/>
        </p:nvSpPr>
        <p:spPr>
          <a:xfrm>
            <a:off x="4695494" y="1622823"/>
            <a:ext cx="3840300" cy="2400000"/>
          </a:xfrm>
          <a:prstGeom prst="roundRect">
            <a:avLst>
              <a:gd fmla="val 16667" name="adj"/>
            </a:avLst>
          </a:prstGeom>
          <a:solidFill>
            <a:srgbClr val="F8FCF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98" name="Google Shape;998;p43"/>
          <p:cNvSpPr/>
          <p:nvPr/>
        </p:nvSpPr>
        <p:spPr>
          <a:xfrm>
            <a:off x="4901239" y="1794274"/>
            <a:ext cx="3428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Càlcul</a:t>
            </a:r>
            <a:endParaRPr sz="1350"/>
          </a:p>
        </p:txBody>
      </p:sp>
      <p:sp>
        <p:nvSpPr>
          <p:cNvPr id="999" name="Google Shape;999;p43"/>
          <p:cNvSpPr/>
          <p:nvPr/>
        </p:nvSpPr>
        <p:spPr>
          <a:xfrm>
            <a:off x="4935530" y="2274335"/>
            <a:ext cx="3428700" cy="514200"/>
          </a:xfrm>
          <a:prstGeom prst="roundRect">
            <a:avLst>
              <a:gd fmla="val 16667" name="adj"/>
            </a:avLst>
          </a:prstGeom>
          <a:solidFill>
            <a:srgbClr val="E5F2FF"/>
          </a:solidFill>
          <a:ln cap="flat" cmpd="sng" w="9425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00" name="Google Shape;1000;p43"/>
          <p:cNvSpPr/>
          <p:nvPr/>
        </p:nvSpPr>
        <p:spPr>
          <a:xfrm>
            <a:off x="4935530" y="2308625"/>
            <a:ext cx="34287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[(2 × 12 × 7 × 0,95) / 350] × 60</a:t>
            </a:r>
            <a:endParaRPr sz="1350"/>
          </a:p>
        </p:txBody>
      </p:sp>
      <p:sp>
        <p:nvSpPr>
          <p:cNvPr id="1001" name="Google Shape;1001;p43"/>
          <p:cNvSpPr/>
          <p:nvPr/>
        </p:nvSpPr>
        <p:spPr>
          <a:xfrm>
            <a:off x="4935530" y="3028717"/>
            <a:ext cx="34287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Autonomia te</a:t>
            </a:r>
            <a:r>
              <a:rPr b="1" lang="ca" sz="1200">
                <a:solidFill>
                  <a:srgbClr val="0A84D6"/>
                </a:solidFill>
              </a:rPr>
              <a:t>òrica </a:t>
            </a:r>
            <a:r>
              <a:rPr b="1" lang="ca" sz="1200" u="none">
                <a:solidFill>
                  <a:srgbClr val="0A84D6"/>
                </a:solidFill>
                <a:latin typeface="Arial"/>
                <a:ea typeface="Arial"/>
                <a:cs typeface="Arial"/>
                <a:sym typeface="Arial"/>
              </a:rPr>
              <a:t>= 27,36 min → aproximadament 28 min</a:t>
            </a:r>
            <a:endParaRPr sz="1350"/>
          </a:p>
        </p:txBody>
      </p:sp>
      <p:sp>
        <p:nvSpPr>
          <p:cNvPr id="1002" name="Google Shape;1002;p43"/>
          <p:cNvSpPr/>
          <p:nvPr/>
        </p:nvSpPr>
        <p:spPr>
          <a:xfrm>
            <a:off x="655200" y="4171825"/>
            <a:ext cx="7833600" cy="788400"/>
          </a:xfrm>
          <a:prstGeom prst="roundRect">
            <a:avLst>
              <a:gd fmla="val 16667" name="adj"/>
            </a:avLst>
          </a:prstGeom>
          <a:solidFill>
            <a:srgbClr val="FFEFEF"/>
          </a:solidFill>
          <a:ln cap="flat" cmpd="sng" w="9425">
            <a:solidFill>
              <a:srgbClr val="D7E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03" name="Google Shape;1003;p43"/>
          <p:cNvSpPr/>
          <p:nvPr/>
        </p:nvSpPr>
        <p:spPr>
          <a:xfrm>
            <a:off x="836544" y="4330136"/>
            <a:ext cx="74712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D94848"/>
                </a:solidFill>
                <a:latin typeface="Arial"/>
                <a:ea typeface="Arial"/>
                <a:cs typeface="Arial"/>
                <a:sym typeface="Arial"/>
              </a:rPr>
              <a:t>P és la potència real dels equips connectats. No utilitzem els 438 W amb marge per calcular autonomia.</a:t>
            </a:r>
            <a:endParaRPr sz="1200"/>
          </a:p>
        </p:txBody>
      </p:sp>
      <p:sp>
        <p:nvSpPr>
          <p:cNvPr id="1004" name="Google Shape;1004;p43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05" name="Google Shape;1005;p43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 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Est</a:t>
            </a: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imació de l’autonomia</a:t>
            </a:r>
            <a:endParaRPr sz="1350"/>
          </a:p>
        </p:txBody>
      </p:sp>
      <p:sp>
        <p:nvSpPr>
          <p:cNvPr id="1006" name="Google Shape;10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4"/>
          <p:cNvSpPr/>
          <p:nvPr/>
        </p:nvSpPr>
        <p:spPr>
          <a:xfrm>
            <a:off x="7543959" y="377191"/>
            <a:ext cx="1302900" cy="7884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13" name="Google Shape;1013;p44"/>
          <p:cNvSpPr/>
          <p:nvPr/>
        </p:nvSpPr>
        <p:spPr>
          <a:xfrm>
            <a:off x="82352" y="4608641"/>
            <a:ext cx="617100" cy="376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FFFFF">
              <a:alpha val="0"/>
            </a:srgbClr>
          </a:solidFill>
          <a:ln cap="flat" cmpd="sng" w="9425">
            <a:solidFill>
              <a:srgbClr val="BBD7F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14" name="Google Shape;1014;p44"/>
          <p:cNvSpPr/>
          <p:nvPr/>
        </p:nvSpPr>
        <p:spPr>
          <a:xfrm>
            <a:off x="365568" y="1005162"/>
            <a:ext cx="80238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050" u="non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No fem servir el mateix valor per a tot.</a:t>
            </a:r>
            <a:endParaRPr sz="1350"/>
          </a:p>
        </p:txBody>
      </p:sp>
      <p:sp>
        <p:nvSpPr>
          <p:cNvPr id="1015" name="Google Shape;1015;p44"/>
          <p:cNvSpPr/>
          <p:nvPr/>
        </p:nvSpPr>
        <p:spPr>
          <a:xfrm>
            <a:off x="669652" y="1643078"/>
            <a:ext cx="2712300" cy="479700"/>
          </a:xfrm>
          <a:prstGeom prst="rect">
            <a:avLst/>
          </a:prstGeom>
          <a:solidFill>
            <a:srgbClr val="DCE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16" name="Google Shape;1016;p44"/>
          <p:cNvSpPr/>
          <p:nvPr/>
        </p:nvSpPr>
        <p:spPr>
          <a:xfrm>
            <a:off x="703942" y="1677299"/>
            <a:ext cx="2643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Dada</a:t>
            </a:r>
            <a:endParaRPr sz="1350"/>
          </a:p>
        </p:txBody>
      </p:sp>
      <p:sp>
        <p:nvSpPr>
          <p:cNvPr id="1017" name="Google Shape;1017;p44"/>
          <p:cNvSpPr/>
          <p:nvPr/>
        </p:nvSpPr>
        <p:spPr>
          <a:xfrm>
            <a:off x="3382129" y="1643078"/>
            <a:ext cx="5037000" cy="479700"/>
          </a:xfrm>
          <a:prstGeom prst="rect">
            <a:avLst/>
          </a:prstGeom>
          <a:solidFill>
            <a:srgbClr val="DCE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18" name="Google Shape;1018;p44"/>
          <p:cNvSpPr/>
          <p:nvPr/>
        </p:nvSpPr>
        <p:spPr>
          <a:xfrm>
            <a:off x="3416419" y="1663599"/>
            <a:ext cx="4968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Per a què serveix?</a:t>
            </a:r>
            <a:endParaRPr sz="1350"/>
          </a:p>
        </p:txBody>
      </p:sp>
      <p:sp>
        <p:nvSpPr>
          <p:cNvPr id="1019" name="Google Shape;1019;p44"/>
          <p:cNvSpPr/>
          <p:nvPr/>
        </p:nvSpPr>
        <p:spPr>
          <a:xfrm>
            <a:off x="669652" y="2123140"/>
            <a:ext cx="2712300" cy="4797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20" name="Google Shape;1020;p44"/>
          <p:cNvSpPr/>
          <p:nvPr/>
        </p:nvSpPr>
        <p:spPr>
          <a:xfrm>
            <a:off x="703942" y="2143659"/>
            <a:ext cx="2643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350 W de consum real</a:t>
            </a:r>
            <a:endParaRPr sz="1350"/>
          </a:p>
        </p:txBody>
      </p:sp>
      <p:sp>
        <p:nvSpPr>
          <p:cNvPr id="1021" name="Google Shape;1021;p44"/>
          <p:cNvSpPr/>
          <p:nvPr/>
        </p:nvSpPr>
        <p:spPr>
          <a:xfrm>
            <a:off x="3382129" y="2123140"/>
            <a:ext cx="5037000" cy="4797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22" name="Google Shape;1022;p44"/>
          <p:cNvSpPr/>
          <p:nvPr/>
        </p:nvSpPr>
        <p:spPr>
          <a:xfrm>
            <a:off x="3416419" y="2143659"/>
            <a:ext cx="4968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Calcular l’autonomia dels equips.</a:t>
            </a:r>
            <a:endParaRPr sz="1350"/>
          </a:p>
        </p:txBody>
      </p:sp>
      <p:sp>
        <p:nvSpPr>
          <p:cNvPr id="1023" name="Google Shape;1023;p44"/>
          <p:cNvSpPr/>
          <p:nvPr/>
        </p:nvSpPr>
        <p:spPr>
          <a:xfrm>
            <a:off x="669652" y="2603201"/>
            <a:ext cx="2712300" cy="4797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24" name="Google Shape;1024;p44"/>
          <p:cNvSpPr/>
          <p:nvPr/>
        </p:nvSpPr>
        <p:spPr>
          <a:xfrm>
            <a:off x="703942" y="2623721"/>
            <a:ext cx="2643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438 W amb marge</a:t>
            </a:r>
            <a:endParaRPr sz="1350"/>
          </a:p>
        </p:txBody>
      </p:sp>
      <p:sp>
        <p:nvSpPr>
          <p:cNvPr id="1025" name="Google Shape;1025;p44"/>
          <p:cNvSpPr/>
          <p:nvPr/>
        </p:nvSpPr>
        <p:spPr>
          <a:xfrm>
            <a:off x="3382129" y="2603201"/>
            <a:ext cx="5037000" cy="479700"/>
          </a:xfrm>
          <a:prstGeom prst="rect">
            <a:avLst/>
          </a:prstGeom>
          <a:solidFill>
            <a:srgbClr val="F6FB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26" name="Google Shape;1026;p44"/>
          <p:cNvSpPr/>
          <p:nvPr/>
        </p:nvSpPr>
        <p:spPr>
          <a:xfrm>
            <a:off x="3416419" y="2623721"/>
            <a:ext cx="4968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Escollir la potència mínima del SAI.</a:t>
            </a:r>
            <a:endParaRPr sz="1350"/>
          </a:p>
        </p:txBody>
      </p:sp>
      <p:sp>
        <p:nvSpPr>
          <p:cNvPr id="1027" name="Google Shape;1027;p44"/>
          <p:cNvSpPr/>
          <p:nvPr/>
        </p:nvSpPr>
        <p:spPr>
          <a:xfrm>
            <a:off x="669652" y="3083262"/>
            <a:ext cx="2712300" cy="4797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28" name="Google Shape;1028;p44"/>
          <p:cNvSpPr/>
          <p:nvPr/>
        </p:nvSpPr>
        <p:spPr>
          <a:xfrm>
            <a:off x="703942" y="3103782"/>
            <a:ext cx="2643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600 W màxims del SAI</a:t>
            </a:r>
            <a:endParaRPr sz="1350"/>
          </a:p>
        </p:txBody>
      </p:sp>
      <p:sp>
        <p:nvSpPr>
          <p:cNvPr id="1029" name="Google Shape;1029;p44"/>
          <p:cNvSpPr/>
          <p:nvPr/>
        </p:nvSpPr>
        <p:spPr>
          <a:xfrm>
            <a:off x="3382129" y="3083262"/>
            <a:ext cx="5037000" cy="479700"/>
          </a:xfrm>
          <a:prstGeom prst="rect">
            <a:avLst/>
          </a:prstGeom>
          <a:solidFill>
            <a:srgbClr val="FFFFFF"/>
          </a:solidFill>
          <a:ln cap="flat" cmpd="sng" w="7550">
            <a:solidFill>
              <a:srgbClr val="BBD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72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30" name="Google Shape;1030;p44"/>
          <p:cNvSpPr/>
          <p:nvPr/>
        </p:nvSpPr>
        <p:spPr>
          <a:xfrm>
            <a:off x="3416419" y="3103782"/>
            <a:ext cx="4968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5" lIns="525" spcFirstLastPara="1" rIns="525" wrap="square" tIns="525">
            <a:normAutofit/>
          </a:bodyPr>
          <a:lstStyle/>
          <a:p>
            <a:pPr indent="0" lvl="0" marL="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13315C"/>
                </a:solidFill>
                <a:latin typeface="Arial"/>
                <a:ea typeface="Arial"/>
                <a:cs typeface="Arial"/>
                <a:sym typeface="Arial"/>
              </a:rPr>
              <a:t>Només serviria per calcular autonomia a plena càrrega.</a:t>
            </a:r>
            <a:endParaRPr sz="1350"/>
          </a:p>
        </p:txBody>
      </p:sp>
      <p:sp>
        <p:nvSpPr>
          <p:cNvPr id="1031" name="Google Shape;1031;p44"/>
          <p:cNvSpPr/>
          <p:nvPr/>
        </p:nvSpPr>
        <p:spPr>
          <a:xfrm>
            <a:off x="1081200" y="4040430"/>
            <a:ext cx="69264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525" lIns="525" spcFirstLastPara="1" rIns="525" wrap="square" tIns="525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88" u="none">
                <a:solidFill>
                  <a:srgbClr val="0B2E6D"/>
                </a:solidFill>
                <a:latin typeface="Arial"/>
                <a:ea typeface="Arial"/>
                <a:cs typeface="Arial"/>
                <a:sym typeface="Arial"/>
              </a:rPr>
              <a:t>Si connectem menys equips, tindrem més autonomia. Sempre revisem el pitjor cas: tots els equips essencials connectats alhora.</a:t>
            </a:r>
            <a:endParaRPr sz="1350"/>
          </a:p>
        </p:txBody>
      </p:sp>
      <p:sp>
        <p:nvSpPr>
          <p:cNvPr id="1032" name="Google Shape;1032;p44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33" name="Google Shape;1033;p44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Quins watts posem a cada càlcul ? </a:t>
            </a:r>
            <a:endParaRPr sz="1350"/>
          </a:p>
        </p:txBody>
      </p:sp>
      <p:sp>
        <p:nvSpPr>
          <p:cNvPr id="1034" name="Google Shape;10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45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41" name="Google Shape;1041;p45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Quin SAI compleix la potència?</a:t>
            </a:r>
            <a:endParaRPr sz="1350"/>
          </a:p>
        </p:txBody>
      </p:sp>
      <p:sp>
        <p:nvSpPr>
          <p:cNvPr id="1042" name="Google Shape;1042;p45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Exemple</a:t>
            </a:r>
            <a:endParaRPr sz="1350"/>
          </a:p>
        </p:txBody>
      </p:sp>
      <p:sp>
        <p:nvSpPr>
          <p:cNvPr id="1043" name="Google Shape;1043;p45"/>
          <p:cNvSpPr/>
          <p:nvPr/>
        </p:nvSpPr>
        <p:spPr>
          <a:xfrm>
            <a:off x="457119" y="1188543"/>
            <a:ext cx="82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Necessitem almenys </a:t>
            </a: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438 W</a:t>
            </a:r>
            <a:r>
              <a:rPr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b="1" lang="ca" sz="120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625 VA, </a:t>
            </a:r>
            <a:r>
              <a:rPr lang="ca" sz="12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i tenim aquests tres SAIs disponibles :</a:t>
            </a:r>
            <a:endParaRPr sz="1350"/>
          </a:p>
        </p:txBody>
      </p:sp>
      <p:graphicFrame>
        <p:nvGraphicFramePr>
          <p:cNvPr id="1044" name="Google Shape;1044;p45"/>
          <p:cNvGraphicFramePr/>
          <p:nvPr/>
        </p:nvGraphicFramePr>
        <p:xfrm>
          <a:off x="457119" y="1691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{3787FB69-86A1-4C5D-B84A-D355D22D1D74}</a:tableStyleId>
              </a:tblPr>
              <a:tblGrid>
                <a:gridCol w="1828475"/>
                <a:gridCol w="3200100"/>
                <a:gridCol w="3200650"/>
              </a:tblGrid>
              <a:tr h="59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63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fictici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63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Especificació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63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Compleix?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</a:tr>
              <a:tr h="59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2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 VA / 400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 u="none">
                          <a:solidFill>
                            <a:srgbClr val="D645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No: falten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2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650 VA / 500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 u="none">
                          <a:solidFill>
                            <a:srgbClr val="1F9D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  <a:tr h="59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125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 VA / 600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1125" u="none">
                          <a:solidFill>
                            <a:srgbClr val="1F9D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5" name="Google Shape;1045;p45"/>
          <p:cNvSpPr/>
          <p:nvPr/>
        </p:nvSpPr>
        <p:spPr>
          <a:xfrm>
            <a:off x="457125" y="4294750"/>
            <a:ext cx="8198700" cy="5157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46" name="Google Shape;1046;p45"/>
          <p:cNvSpPr/>
          <p:nvPr/>
        </p:nvSpPr>
        <p:spPr>
          <a:xfrm>
            <a:off x="563645" y="4353428"/>
            <a:ext cx="365400" cy="365700"/>
          </a:xfrm>
          <a:prstGeom prst="ellipse">
            <a:avLst/>
          </a:prstGeom>
          <a:solidFill>
            <a:srgbClr val="0081BF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047" name="Google Shape;104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24" y="4448676"/>
            <a:ext cx="175230" cy="1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45"/>
          <p:cNvSpPr/>
          <p:nvPr/>
        </p:nvSpPr>
        <p:spPr>
          <a:xfrm>
            <a:off x="1066432" y="4262105"/>
            <a:ext cx="7452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B i C serveixen per potència. Encara falta comprovar l’autonomia i les connexions.</a:t>
            </a:r>
            <a:endParaRPr sz="1350"/>
          </a:p>
        </p:txBody>
      </p:sp>
      <p:sp>
        <p:nvSpPr>
          <p:cNvPr id="1049" name="Google Shape;104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46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56" name="Google Shape;1056;p46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 tu: un segon càlcul</a:t>
            </a:r>
            <a:endParaRPr sz="1350"/>
          </a:p>
        </p:txBody>
      </p:sp>
      <p:sp>
        <p:nvSpPr>
          <p:cNvPr id="1057" name="Google Shape;1057;p46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Pràctica</a:t>
            </a:r>
            <a:endParaRPr sz="1350"/>
          </a:p>
        </p:txBody>
      </p:sp>
      <p:sp>
        <p:nvSpPr>
          <p:cNvPr id="1058" name="Google Shape;1058;p46"/>
          <p:cNvSpPr/>
          <p:nvPr/>
        </p:nvSpPr>
        <p:spPr>
          <a:xfrm>
            <a:off x="457119" y="1280073"/>
            <a:ext cx="40230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59" name="Google Shape;1059;p46"/>
          <p:cNvSpPr/>
          <p:nvPr/>
        </p:nvSpPr>
        <p:spPr>
          <a:xfrm>
            <a:off x="685814" y="1352973"/>
            <a:ext cx="36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Bateria</a:t>
            </a:r>
            <a:endParaRPr sz="1350"/>
          </a:p>
        </p:txBody>
      </p:sp>
      <p:sp>
        <p:nvSpPr>
          <p:cNvPr id="1060" name="Google Shape;1060;p46"/>
          <p:cNvSpPr/>
          <p:nvPr/>
        </p:nvSpPr>
        <p:spPr>
          <a:xfrm>
            <a:off x="685544" y="1645654"/>
            <a:ext cx="3657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1 unitat de 12 V i 9 Ah</a:t>
            </a:r>
            <a:endParaRPr sz="1350"/>
          </a:p>
        </p:txBody>
      </p:sp>
      <p:sp>
        <p:nvSpPr>
          <p:cNvPr id="1061" name="Google Shape;1061;p46"/>
          <p:cNvSpPr/>
          <p:nvPr/>
        </p:nvSpPr>
        <p:spPr>
          <a:xfrm>
            <a:off x="4663268" y="1280073"/>
            <a:ext cx="40230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62" name="Google Shape;1062;p46"/>
          <p:cNvSpPr/>
          <p:nvPr/>
        </p:nvSpPr>
        <p:spPr>
          <a:xfrm>
            <a:off x="4891963" y="1352973"/>
            <a:ext cx="36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Consum dels equips</a:t>
            </a:r>
            <a:endParaRPr sz="1350"/>
          </a:p>
        </p:txBody>
      </p:sp>
      <p:sp>
        <p:nvSpPr>
          <p:cNvPr id="1063" name="Google Shape;1063;p46"/>
          <p:cNvSpPr/>
          <p:nvPr/>
        </p:nvSpPr>
        <p:spPr>
          <a:xfrm>
            <a:off x="4891693" y="1645654"/>
            <a:ext cx="3657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500 W</a:t>
            </a:r>
            <a:endParaRPr sz="1350"/>
          </a:p>
        </p:txBody>
      </p:sp>
      <p:sp>
        <p:nvSpPr>
          <p:cNvPr id="1064" name="Google Shape;1064;p46"/>
          <p:cNvSpPr/>
          <p:nvPr/>
        </p:nvSpPr>
        <p:spPr>
          <a:xfrm>
            <a:off x="457119" y="2240195"/>
            <a:ext cx="40230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65" name="Google Shape;1065;p46"/>
          <p:cNvSpPr/>
          <p:nvPr/>
        </p:nvSpPr>
        <p:spPr>
          <a:xfrm>
            <a:off x="685814" y="2313096"/>
            <a:ext cx="36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Eficiència suposada</a:t>
            </a:r>
            <a:endParaRPr sz="1350"/>
          </a:p>
        </p:txBody>
      </p:sp>
      <p:sp>
        <p:nvSpPr>
          <p:cNvPr id="1066" name="Google Shape;1066;p46"/>
          <p:cNvSpPr/>
          <p:nvPr/>
        </p:nvSpPr>
        <p:spPr>
          <a:xfrm>
            <a:off x="685544" y="2605777"/>
            <a:ext cx="3657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90 % (0,90)</a:t>
            </a:r>
            <a:endParaRPr sz="1350"/>
          </a:p>
        </p:txBody>
      </p:sp>
      <p:sp>
        <p:nvSpPr>
          <p:cNvPr id="1067" name="Google Shape;1067;p46"/>
          <p:cNvSpPr/>
          <p:nvPr/>
        </p:nvSpPr>
        <p:spPr>
          <a:xfrm>
            <a:off x="4663268" y="2240195"/>
            <a:ext cx="40230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68" name="Google Shape;1068;p46"/>
          <p:cNvSpPr/>
          <p:nvPr/>
        </p:nvSpPr>
        <p:spPr>
          <a:xfrm>
            <a:off x="4891693" y="2313096"/>
            <a:ext cx="365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El SAI admet</a:t>
            </a:r>
            <a:endParaRPr sz="1350"/>
          </a:p>
        </p:txBody>
      </p:sp>
      <p:sp>
        <p:nvSpPr>
          <p:cNvPr id="1069" name="Google Shape;1069;p46"/>
          <p:cNvSpPr/>
          <p:nvPr/>
        </p:nvSpPr>
        <p:spPr>
          <a:xfrm>
            <a:off x="4891963" y="2605777"/>
            <a:ext cx="3657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aquesta càrrega en W i en VA</a:t>
            </a:r>
            <a:endParaRPr sz="1350"/>
          </a:p>
        </p:txBody>
      </p:sp>
      <p:sp>
        <p:nvSpPr>
          <p:cNvPr id="1070" name="Google Shape;1070;p46"/>
          <p:cNvSpPr/>
          <p:nvPr/>
        </p:nvSpPr>
        <p:spPr>
          <a:xfrm>
            <a:off x="456849" y="3291578"/>
            <a:ext cx="8229300" cy="6399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71" name="Google Shape;1071;p46"/>
          <p:cNvSpPr/>
          <p:nvPr/>
        </p:nvSpPr>
        <p:spPr>
          <a:xfrm>
            <a:off x="594012" y="3291578"/>
            <a:ext cx="7954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 els Wh totals, els Wh útils i els minuts.</a:t>
            </a:r>
            <a:endParaRPr sz="1350"/>
          </a:p>
        </p:txBody>
      </p:sp>
      <p:sp>
        <p:nvSpPr>
          <p:cNvPr id="1072" name="Google Shape;107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7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79" name="Google Shape;1079;p47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Solució: un segon càlcul</a:t>
            </a:r>
            <a:endParaRPr sz="1350"/>
          </a:p>
        </p:txBody>
      </p:sp>
      <p:sp>
        <p:nvSpPr>
          <p:cNvPr id="1080" name="Google Shape;1080;p47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Pràctica</a:t>
            </a:r>
            <a:endParaRPr sz="1350"/>
          </a:p>
        </p:txBody>
      </p:sp>
      <p:sp>
        <p:nvSpPr>
          <p:cNvPr id="1081" name="Google Shape;1081;p47"/>
          <p:cNvSpPr/>
          <p:nvPr/>
        </p:nvSpPr>
        <p:spPr>
          <a:xfrm>
            <a:off x="457119" y="1325703"/>
            <a:ext cx="2559900" cy="228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82" name="Google Shape;1082;p47"/>
          <p:cNvSpPr/>
          <p:nvPr/>
        </p:nvSpPr>
        <p:spPr>
          <a:xfrm>
            <a:off x="639913" y="1508494"/>
            <a:ext cx="411300" cy="411300"/>
          </a:xfrm>
          <a:prstGeom prst="ellipse">
            <a:avLst/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/>
          </a:p>
        </p:txBody>
      </p:sp>
      <p:sp>
        <p:nvSpPr>
          <p:cNvPr id="1083" name="Google Shape;1083;p47"/>
          <p:cNvSpPr/>
          <p:nvPr/>
        </p:nvSpPr>
        <p:spPr>
          <a:xfrm>
            <a:off x="1234196" y="1508494"/>
            <a:ext cx="169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Energia de la bateria</a:t>
            </a:r>
            <a:endParaRPr sz="1350"/>
          </a:p>
        </p:txBody>
      </p:sp>
      <p:sp>
        <p:nvSpPr>
          <p:cNvPr id="1084" name="Google Shape;1084;p47"/>
          <p:cNvSpPr/>
          <p:nvPr/>
        </p:nvSpPr>
        <p:spPr>
          <a:xfrm>
            <a:off x="639913" y="2194295"/>
            <a:ext cx="21942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1 × 12 × 9 = </a:t>
            </a:r>
            <a:r>
              <a:rPr b="1" lang="ca" sz="135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108 Wh</a:t>
            </a:r>
            <a:endParaRPr sz="1350"/>
          </a:p>
        </p:txBody>
      </p:sp>
      <p:sp>
        <p:nvSpPr>
          <p:cNvPr id="1085" name="Google Shape;1085;p47"/>
          <p:cNvSpPr/>
          <p:nvPr/>
        </p:nvSpPr>
        <p:spPr>
          <a:xfrm>
            <a:off x="3291909" y="1325703"/>
            <a:ext cx="2559900" cy="228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86" name="Google Shape;1086;p47"/>
          <p:cNvSpPr/>
          <p:nvPr/>
        </p:nvSpPr>
        <p:spPr>
          <a:xfrm>
            <a:off x="3474703" y="1508494"/>
            <a:ext cx="411300" cy="411300"/>
          </a:xfrm>
          <a:prstGeom prst="ellipse">
            <a:avLst/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50"/>
          </a:p>
        </p:txBody>
      </p:sp>
      <p:sp>
        <p:nvSpPr>
          <p:cNvPr id="1087" name="Google Shape;1087;p47"/>
          <p:cNvSpPr/>
          <p:nvPr/>
        </p:nvSpPr>
        <p:spPr>
          <a:xfrm>
            <a:off x="4068986" y="1508494"/>
            <a:ext cx="169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Energia útil</a:t>
            </a:r>
            <a:endParaRPr sz="1350"/>
          </a:p>
        </p:txBody>
      </p:sp>
      <p:sp>
        <p:nvSpPr>
          <p:cNvPr id="1088" name="Google Shape;1088;p47"/>
          <p:cNvSpPr/>
          <p:nvPr/>
        </p:nvSpPr>
        <p:spPr>
          <a:xfrm>
            <a:off x="3474433" y="2194295"/>
            <a:ext cx="21942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108 × 0,90 = </a:t>
            </a:r>
            <a:r>
              <a:rPr b="1" lang="ca" sz="135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97,2 Wh</a:t>
            </a:r>
            <a:endParaRPr sz="1350"/>
          </a:p>
        </p:txBody>
      </p:sp>
      <p:sp>
        <p:nvSpPr>
          <p:cNvPr id="1089" name="Google Shape;1089;p47"/>
          <p:cNvSpPr/>
          <p:nvPr/>
        </p:nvSpPr>
        <p:spPr>
          <a:xfrm>
            <a:off x="6126429" y="1325703"/>
            <a:ext cx="2559900" cy="228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90" name="Google Shape;1090;p47"/>
          <p:cNvSpPr/>
          <p:nvPr/>
        </p:nvSpPr>
        <p:spPr>
          <a:xfrm>
            <a:off x="6309223" y="1508494"/>
            <a:ext cx="411300" cy="411300"/>
          </a:xfrm>
          <a:prstGeom prst="ellipse">
            <a:avLst/>
          </a:prstGeom>
          <a:solidFill>
            <a:srgbClr val="11376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/>
          </a:p>
        </p:txBody>
      </p:sp>
      <p:sp>
        <p:nvSpPr>
          <p:cNvPr id="1091" name="Google Shape;1091;p47"/>
          <p:cNvSpPr/>
          <p:nvPr/>
        </p:nvSpPr>
        <p:spPr>
          <a:xfrm>
            <a:off x="6903505" y="1508494"/>
            <a:ext cx="1691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13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Autonomia amb 500 W</a:t>
            </a:r>
            <a:endParaRPr sz="1350"/>
          </a:p>
        </p:txBody>
      </p:sp>
      <p:sp>
        <p:nvSpPr>
          <p:cNvPr id="1092" name="Google Shape;1092;p47"/>
          <p:cNvSpPr/>
          <p:nvPr/>
        </p:nvSpPr>
        <p:spPr>
          <a:xfrm>
            <a:off x="6309223" y="2194295"/>
            <a:ext cx="21942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3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(97,2 ÷ 500) × 60 ≈ </a:t>
            </a:r>
            <a:r>
              <a:rPr b="1" lang="ca" sz="135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11,7 minuts</a:t>
            </a:r>
            <a:endParaRPr sz="1350"/>
          </a:p>
        </p:txBody>
      </p:sp>
      <p:sp>
        <p:nvSpPr>
          <p:cNvPr id="1093" name="Google Shape;1093;p47"/>
          <p:cNvSpPr/>
          <p:nvPr/>
        </p:nvSpPr>
        <p:spPr>
          <a:xfrm>
            <a:off x="457119" y="3931750"/>
            <a:ext cx="8229300" cy="5940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094" name="Google Shape;1094;p47"/>
          <p:cNvSpPr/>
          <p:nvPr/>
        </p:nvSpPr>
        <p:spPr>
          <a:xfrm>
            <a:off x="594282" y="4046231"/>
            <a:ext cx="365400" cy="365400"/>
          </a:xfrm>
          <a:prstGeom prst="ellipse">
            <a:avLst/>
          </a:prstGeom>
          <a:solidFill>
            <a:srgbClr val="0081BF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095" name="Google Shape;109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324" y="4141271"/>
            <a:ext cx="175230" cy="1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47"/>
          <p:cNvSpPr/>
          <p:nvPr/>
        </p:nvSpPr>
        <p:spPr>
          <a:xfrm>
            <a:off x="1097032" y="3931750"/>
            <a:ext cx="74523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És una estimació teòrica, no una autonomia garantida.</a:t>
            </a:r>
            <a:endParaRPr sz="1350"/>
          </a:p>
        </p:txBody>
      </p:sp>
      <p:sp>
        <p:nvSpPr>
          <p:cNvPr id="1097" name="Google Shape;109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48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04" name="Google Shape;1104;p48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Pràctica: un lloc de treball</a:t>
            </a:r>
            <a:endParaRPr sz="1350"/>
          </a:p>
        </p:txBody>
      </p:sp>
      <p:sp>
        <p:nvSpPr>
          <p:cNvPr id="1105" name="Google Shape;1105;p48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Pràctica</a:t>
            </a:r>
            <a:endParaRPr sz="1350"/>
          </a:p>
        </p:txBody>
      </p:sp>
      <p:sp>
        <p:nvSpPr>
          <p:cNvPr id="1106" name="Google Shape;1106;p48"/>
          <p:cNvSpPr/>
          <p:nvPr/>
        </p:nvSpPr>
        <p:spPr>
          <a:xfrm>
            <a:off x="457119" y="1234173"/>
            <a:ext cx="15543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07" name="Google Shape;1107;p48"/>
          <p:cNvSpPr/>
          <p:nvPr/>
        </p:nvSpPr>
        <p:spPr>
          <a:xfrm>
            <a:off x="456849" y="1279803"/>
            <a:ext cx="15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Ordinador</a:t>
            </a:r>
            <a:endParaRPr sz="1350"/>
          </a:p>
        </p:txBody>
      </p:sp>
      <p:sp>
        <p:nvSpPr>
          <p:cNvPr id="1108" name="Google Shape;1108;p48"/>
          <p:cNvSpPr/>
          <p:nvPr/>
        </p:nvSpPr>
        <p:spPr>
          <a:xfrm>
            <a:off x="456849" y="1572753"/>
            <a:ext cx="1554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220 W</a:t>
            </a:r>
            <a:endParaRPr sz="1350"/>
          </a:p>
        </p:txBody>
      </p:sp>
      <p:sp>
        <p:nvSpPr>
          <p:cNvPr id="1109" name="Google Shape;1109;p48"/>
          <p:cNvSpPr/>
          <p:nvPr/>
        </p:nvSpPr>
        <p:spPr>
          <a:xfrm>
            <a:off x="2130345" y="1234173"/>
            <a:ext cx="15543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10" name="Google Shape;1110;p48"/>
          <p:cNvSpPr/>
          <p:nvPr/>
        </p:nvSpPr>
        <p:spPr>
          <a:xfrm>
            <a:off x="2130345" y="1279803"/>
            <a:ext cx="15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sz="1350"/>
          </a:p>
        </p:txBody>
      </p:sp>
      <p:sp>
        <p:nvSpPr>
          <p:cNvPr id="1111" name="Google Shape;1111;p48"/>
          <p:cNvSpPr/>
          <p:nvPr/>
        </p:nvSpPr>
        <p:spPr>
          <a:xfrm>
            <a:off x="2130345" y="1572753"/>
            <a:ext cx="1554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30 W</a:t>
            </a:r>
            <a:endParaRPr sz="1350"/>
          </a:p>
        </p:txBody>
      </p:sp>
      <p:sp>
        <p:nvSpPr>
          <p:cNvPr id="1112" name="Google Shape;1112;p48"/>
          <p:cNvSpPr/>
          <p:nvPr/>
        </p:nvSpPr>
        <p:spPr>
          <a:xfrm>
            <a:off x="3803570" y="1234173"/>
            <a:ext cx="15543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13" name="Google Shape;1113;p48"/>
          <p:cNvSpPr/>
          <p:nvPr/>
        </p:nvSpPr>
        <p:spPr>
          <a:xfrm>
            <a:off x="3803570" y="1279803"/>
            <a:ext cx="15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sz="1350"/>
          </a:p>
        </p:txBody>
      </p:sp>
      <p:sp>
        <p:nvSpPr>
          <p:cNvPr id="1114" name="Google Shape;1114;p48"/>
          <p:cNvSpPr/>
          <p:nvPr/>
        </p:nvSpPr>
        <p:spPr>
          <a:xfrm>
            <a:off x="3803570" y="1572753"/>
            <a:ext cx="1554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10 W</a:t>
            </a:r>
            <a:endParaRPr sz="1350"/>
          </a:p>
        </p:txBody>
      </p:sp>
      <p:sp>
        <p:nvSpPr>
          <p:cNvPr id="1115" name="Google Shape;1115;p48"/>
          <p:cNvSpPr/>
          <p:nvPr/>
        </p:nvSpPr>
        <p:spPr>
          <a:xfrm>
            <a:off x="5477335" y="1234173"/>
            <a:ext cx="15543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16" name="Google Shape;1116;p48"/>
          <p:cNvSpPr/>
          <p:nvPr/>
        </p:nvSpPr>
        <p:spPr>
          <a:xfrm>
            <a:off x="5477065" y="1279803"/>
            <a:ext cx="15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Marge</a:t>
            </a:r>
            <a:endParaRPr sz="1350"/>
          </a:p>
        </p:txBody>
      </p:sp>
      <p:sp>
        <p:nvSpPr>
          <p:cNvPr id="1117" name="Google Shape;1117;p48"/>
          <p:cNvSpPr/>
          <p:nvPr/>
        </p:nvSpPr>
        <p:spPr>
          <a:xfrm>
            <a:off x="5477065" y="1572753"/>
            <a:ext cx="1554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25 %</a:t>
            </a:r>
            <a:endParaRPr sz="1350"/>
          </a:p>
        </p:txBody>
      </p:sp>
      <p:sp>
        <p:nvSpPr>
          <p:cNvPr id="1118" name="Google Shape;1118;p48"/>
          <p:cNvSpPr/>
          <p:nvPr/>
        </p:nvSpPr>
        <p:spPr>
          <a:xfrm>
            <a:off x="7150560" y="1234173"/>
            <a:ext cx="1554300" cy="822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19" name="Google Shape;1119;p48"/>
          <p:cNvSpPr/>
          <p:nvPr/>
        </p:nvSpPr>
        <p:spPr>
          <a:xfrm>
            <a:off x="7150560" y="1279803"/>
            <a:ext cx="1554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63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FP donat</a:t>
            </a:r>
            <a:endParaRPr sz="1350"/>
          </a:p>
        </p:txBody>
      </p:sp>
      <p:sp>
        <p:nvSpPr>
          <p:cNvPr id="1120" name="Google Shape;1120;p48"/>
          <p:cNvSpPr/>
          <p:nvPr/>
        </p:nvSpPr>
        <p:spPr>
          <a:xfrm>
            <a:off x="7150560" y="1572753"/>
            <a:ext cx="15543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4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0,7</a:t>
            </a:r>
            <a:endParaRPr sz="1350"/>
          </a:p>
        </p:txBody>
      </p:sp>
      <p:sp>
        <p:nvSpPr>
          <p:cNvPr id="1121" name="Google Shape;1121;p48"/>
          <p:cNvSpPr/>
          <p:nvPr/>
        </p:nvSpPr>
        <p:spPr>
          <a:xfrm>
            <a:off x="457119" y="2285826"/>
            <a:ext cx="8229300" cy="52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22" name="Google Shape;1122;p48"/>
          <p:cNvSpPr/>
          <p:nvPr/>
        </p:nvSpPr>
        <p:spPr>
          <a:xfrm>
            <a:off x="594282" y="2368446"/>
            <a:ext cx="365400" cy="3654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/>
          </a:p>
        </p:txBody>
      </p:sp>
      <p:sp>
        <p:nvSpPr>
          <p:cNvPr id="1123" name="Google Shape;1123;p48"/>
          <p:cNvSpPr/>
          <p:nvPr/>
        </p:nvSpPr>
        <p:spPr>
          <a:xfrm>
            <a:off x="1142934" y="2285826"/>
            <a:ext cx="7406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Donat un lloc de treball amb els equips i les dades de dalt. </a:t>
            </a: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Calcula els W totals i els W amb marge.</a:t>
            </a:r>
            <a:endParaRPr sz="1350"/>
          </a:p>
        </p:txBody>
      </p:sp>
      <p:sp>
        <p:nvSpPr>
          <p:cNvPr id="1124" name="Google Shape;1124;p48"/>
          <p:cNvSpPr/>
          <p:nvPr/>
        </p:nvSpPr>
        <p:spPr>
          <a:xfrm>
            <a:off x="457119" y="2907637"/>
            <a:ext cx="8229300" cy="52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25" name="Google Shape;1125;p48"/>
          <p:cNvSpPr/>
          <p:nvPr/>
        </p:nvSpPr>
        <p:spPr>
          <a:xfrm>
            <a:off x="594282" y="2989987"/>
            <a:ext cx="365400" cy="3654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50"/>
          </a:p>
        </p:txBody>
      </p:sp>
      <p:sp>
        <p:nvSpPr>
          <p:cNvPr id="1126" name="Google Shape;1126;p48"/>
          <p:cNvSpPr/>
          <p:nvPr/>
        </p:nvSpPr>
        <p:spPr>
          <a:xfrm>
            <a:off x="1142934" y="2907367"/>
            <a:ext cx="7406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Calcula els VA necessaris.</a:t>
            </a:r>
            <a:endParaRPr sz="1350"/>
          </a:p>
        </p:txBody>
      </p:sp>
      <p:sp>
        <p:nvSpPr>
          <p:cNvPr id="1127" name="Google Shape;1127;p48"/>
          <p:cNvSpPr/>
          <p:nvPr/>
        </p:nvSpPr>
        <p:spPr>
          <a:xfrm>
            <a:off x="457119" y="3529179"/>
            <a:ext cx="8229300" cy="52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28" name="Google Shape;1128;p48"/>
          <p:cNvSpPr/>
          <p:nvPr/>
        </p:nvSpPr>
        <p:spPr>
          <a:xfrm>
            <a:off x="594282" y="3611529"/>
            <a:ext cx="365400" cy="3657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/>
          </a:p>
        </p:txBody>
      </p:sp>
      <p:sp>
        <p:nvSpPr>
          <p:cNvPr id="1129" name="Google Shape;1129;p48"/>
          <p:cNvSpPr/>
          <p:nvPr/>
        </p:nvSpPr>
        <p:spPr>
          <a:xfrm>
            <a:off x="1142934" y="3529179"/>
            <a:ext cx="74064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Tria entre dos tipus de SAI que ens ofereixen : </a:t>
            </a:r>
            <a:r>
              <a:rPr b="1" lang="ca" sz="112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500 VA / 300 W o </a:t>
            </a:r>
            <a:r>
              <a:rPr b="1" lang="ca" sz="112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650 VA / 360 W.</a:t>
            </a:r>
            <a:endParaRPr sz="1350"/>
          </a:p>
        </p:txBody>
      </p:sp>
      <p:sp>
        <p:nvSpPr>
          <p:cNvPr id="1130" name="Google Shape;1130;p48"/>
          <p:cNvSpPr/>
          <p:nvPr/>
        </p:nvSpPr>
        <p:spPr>
          <a:xfrm>
            <a:off x="457119" y="4160440"/>
            <a:ext cx="8229300" cy="5025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31" name="Google Shape;1131;p48"/>
          <p:cNvSpPr/>
          <p:nvPr/>
        </p:nvSpPr>
        <p:spPr>
          <a:xfrm>
            <a:off x="594282" y="4229020"/>
            <a:ext cx="365400" cy="365400"/>
          </a:xfrm>
          <a:prstGeom prst="ellipse">
            <a:avLst/>
          </a:prstGeom>
          <a:solidFill>
            <a:srgbClr val="0081BF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32" name="Google Shape;113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324" y="4324061"/>
            <a:ext cx="175230" cy="1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48"/>
          <p:cNvSpPr/>
          <p:nvPr/>
        </p:nvSpPr>
        <p:spPr>
          <a:xfrm>
            <a:off x="1097032" y="4160170"/>
            <a:ext cx="74523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Justifica la tria comprovant els W i els VA per separat.</a:t>
            </a:r>
            <a:endParaRPr sz="1350"/>
          </a:p>
        </p:txBody>
      </p:sp>
      <p:sp>
        <p:nvSpPr>
          <p:cNvPr id="1134" name="Google Shape;11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49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41" name="Google Shape;1141;p49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Solució: un lloc de treball</a:t>
            </a:r>
            <a:endParaRPr sz="1350"/>
          </a:p>
        </p:txBody>
      </p:sp>
      <p:sp>
        <p:nvSpPr>
          <p:cNvPr id="1142" name="Google Shape;1142;p49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Pràctica</a:t>
            </a:r>
            <a:endParaRPr sz="1350"/>
          </a:p>
        </p:txBody>
      </p:sp>
      <p:sp>
        <p:nvSpPr>
          <p:cNvPr id="1143" name="Google Shape;1143;p49"/>
          <p:cNvSpPr/>
          <p:nvPr/>
        </p:nvSpPr>
        <p:spPr>
          <a:xfrm>
            <a:off x="457119" y="1280073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44" name="Google Shape;1144;p49"/>
          <p:cNvSpPr/>
          <p:nvPr/>
        </p:nvSpPr>
        <p:spPr>
          <a:xfrm>
            <a:off x="639913" y="1371333"/>
            <a:ext cx="2194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Consum total</a:t>
            </a:r>
            <a:endParaRPr sz="1350"/>
          </a:p>
        </p:txBody>
      </p:sp>
      <p:sp>
        <p:nvSpPr>
          <p:cNvPr id="1145" name="Google Shape;1145;p49"/>
          <p:cNvSpPr/>
          <p:nvPr/>
        </p:nvSpPr>
        <p:spPr>
          <a:xfrm>
            <a:off x="639913" y="1737184"/>
            <a:ext cx="21942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220 + 30 + 10 = </a:t>
            </a:r>
            <a:r>
              <a:rPr b="1" lang="ca" sz="12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260 W</a:t>
            </a:r>
            <a:endParaRPr sz="1350"/>
          </a:p>
        </p:txBody>
      </p:sp>
      <p:sp>
        <p:nvSpPr>
          <p:cNvPr id="1146" name="Google Shape;1146;p49"/>
          <p:cNvSpPr/>
          <p:nvPr/>
        </p:nvSpPr>
        <p:spPr>
          <a:xfrm>
            <a:off x="3291639" y="1280073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47" name="Google Shape;1147;p49"/>
          <p:cNvSpPr/>
          <p:nvPr/>
        </p:nvSpPr>
        <p:spPr>
          <a:xfrm>
            <a:off x="3474703" y="1371333"/>
            <a:ext cx="2194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Amb marge</a:t>
            </a:r>
            <a:endParaRPr sz="1350"/>
          </a:p>
        </p:txBody>
      </p:sp>
      <p:sp>
        <p:nvSpPr>
          <p:cNvPr id="1148" name="Google Shape;1148;p49"/>
          <p:cNvSpPr/>
          <p:nvPr/>
        </p:nvSpPr>
        <p:spPr>
          <a:xfrm>
            <a:off x="3474433" y="1737184"/>
            <a:ext cx="21942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260 × 1,25 = </a:t>
            </a:r>
            <a:r>
              <a:rPr b="1" lang="ca" sz="12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325 W</a:t>
            </a:r>
            <a:endParaRPr sz="1350"/>
          </a:p>
        </p:txBody>
      </p:sp>
      <p:sp>
        <p:nvSpPr>
          <p:cNvPr id="1149" name="Google Shape;1149;p49"/>
          <p:cNvSpPr/>
          <p:nvPr/>
        </p:nvSpPr>
        <p:spPr>
          <a:xfrm>
            <a:off x="6126429" y="1280073"/>
            <a:ext cx="2559900" cy="132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50" name="Google Shape;1150;p49"/>
          <p:cNvSpPr/>
          <p:nvPr/>
        </p:nvSpPr>
        <p:spPr>
          <a:xfrm>
            <a:off x="6309223" y="1371333"/>
            <a:ext cx="2194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00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VA necessaris</a:t>
            </a:r>
            <a:endParaRPr sz="1350"/>
          </a:p>
        </p:txBody>
      </p:sp>
      <p:sp>
        <p:nvSpPr>
          <p:cNvPr id="1151" name="Google Shape;1151;p49"/>
          <p:cNvSpPr/>
          <p:nvPr/>
        </p:nvSpPr>
        <p:spPr>
          <a:xfrm>
            <a:off x="6309223" y="1737184"/>
            <a:ext cx="21942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7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325 ÷ 0,7 ≈ </a:t>
            </a:r>
            <a:r>
              <a:rPr b="1" lang="ca" sz="12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464,3 VA</a:t>
            </a:r>
            <a:endParaRPr sz="1350"/>
          </a:p>
        </p:txBody>
      </p:sp>
      <p:sp>
        <p:nvSpPr>
          <p:cNvPr id="1152" name="Google Shape;1152;p49"/>
          <p:cNvSpPr/>
          <p:nvPr/>
        </p:nvSpPr>
        <p:spPr>
          <a:xfrm>
            <a:off x="457119" y="2788837"/>
            <a:ext cx="4023000" cy="776700"/>
          </a:xfrm>
          <a:prstGeom prst="roundRect">
            <a:avLst>
              <a:gd fmla="val 16667" name="adj"/>
            </a:avLst>
          </a:prstGeom>
          <a:solidFill>
            <a:srgbClr val="FBEAEA"/>
          </a:solidFill>
          <a:ln cap="flat" cmpd="sng" w="7150">
            <a:solidFill>
              <a:srgbClr val="D6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53" name="Google Shape;1153;p49"/>
          <p:cNvSpPr/>
          <p:nvPr/>
        </p:nvSpPr>
        <p:spPr>
          <a:xfrm>
            <a:off x="639913" y="2788567"/>
            <a:ext cx="36573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88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El SAI </a:t>
            </a:r>
            <a:r>
              <a:rPr b="1" lang="ca" sz="1088" u="non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lang="ca" sz="108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no compleix, perquè 300 W &lt; 325 W.</a:t>
            </a:r>
            <a:endParaRPr sz="1350"/>
          </a:p>
        </p:txBody>
      </p:sp>
      <p:sp>
        <p:nvSpPr>
          <p:cNvPr id="1154" name="Google Shape;1154;p49"/>
          <p:cNvSpPr/>
          <p:nvPr/>
        </p:nvSpPr>
        <p:spPr>
          <a:xfrm>
            <a:off x="4663268" y="2788837"/>
            <a:ext cx="4023000" cy="776700"/>
          </a:xfrm>
          <a:prstGeom prst="roundRect">
            <a:avLst>
              <a:gd fmla="val 16667" name="adj"/>
            </a:avLst>
          </a:prstGeom>
          <a:solidFill>
            <a:srgbClr val="E4F5EE"/>
          </a:solidFill>
          <a:ln cap="flat" cmpd="sng" w="7150">
            <a:solidFill>
              <a:srgbClr val="1F9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55" name="Google Shape;1155;p49"/>
          <p:cNvSpPr/>
          <p:nvPr/>
        </p:nvSpPr>
        <p:spPr>
          <a:xfrm>
            <a:off x="4846062" y="2788567"/>
            <a:ext cx="36573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88">
                <a:solidFill>
                  <a:srgbClr val="1F9D6B"/>
                </a:solidFill>
                <a:latin typeface="Calibri"/>
                <a:ea typeface="Calibri"/>
                <a:cs typeface="Calibri"/>
                <a:sym typeface="Calibri"/>
              </a:rPr>
              <a:t>EL SAI </a:t>
            </a:r>
            <a:r>
              <a:rPr b="1" lang="ca" sz="1088" u="none">
                <a:solidFill>
                  <a:srgbClr val="1F9D6B"/>
                </a:solidFill>
                <a:latin typeface="Calibri"/>
                <a:ea typeface="Calibri"/>
                <a:cs typeface="Calibri"/>
                <a:sym typeface="Calibri"/>
              </a:rPr>
              <a:t>B:</a:t>
            </a:r>
            <a:r>
              <a:rPr lang="ca" sz="108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compleix 325 W i 464,3 VA.</a:t>
            </a:r>
            <a:endParaRPr sz="1350"/>
          </a:p>
        </p:txBody>
      </p:sp>
      <p:sp>
        <p:nvSpPr>
          <p:cNvPr id="1156" name="Google Shape;1156;p49"/>
          <p:cNvSpPr/>
          <p:nvPr/>
        </p:nvSpPr>
        <p:spPr>
          <a:xfrm>
            <a:off x="457119" y="3840220"/>
            <a:ext cx="8229300" cy="6396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57" name="Google Shape;1157;p49"/>
          <p:cNvSpPr/>
          <p:nvPr/>
        </p:nvSpPr>
        <p:spPr>
          <a:xfrm>
            <a:off x="594282" y="3977380"/>
            <a:ext cx="365400" cy="365700"/>
          </a:xfrm>
          <a:prstGeom prst="ellipse">
            <a:avLst/>
          </a:prstGeom>
          <a:solidFill>
            <a:srgbClr val="0081BF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58" name="Google Shape;115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324" y="4072420"/>
            <a:ext cx="175230" cy="1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49"/>
          <p:cNvSpPr/>
          <p:nvPr/>
        </p:nvSpPr>
        <p:spPr>
          <a:xfrm>
            <a:off x="1097032" y="3840220"/>
            <a:ext cx="7452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Per calcular l’autonomia d’aquests equips utilitzaríem P = 260 W (sense marge).</a:t>
            </a:r>
            <a:endParaRPr sz="1350"/>
          </a:p>
        </p:txBody>
      </p:sp>
      <p:sp>
        <p:nvSpPr>
          <p:cNvPr id="1160" name="Google Shape;116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0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67" name="Google Shape;1167;p50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Repte: cerca d’un SAI per internet</a:t>
            </a:r>
            <a:endParaRPr sz="1350"/>
          </a:p>
        </p:txBody>
      </p:sp>
      <p:sp>
        <p:nvSpPr>
          <p:cNvPr id="1168" name="Google Shape;1168;p50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Pràctica</a:t>
            </a:r>
            <a:endParaRPr sz="1350"/>
          </a:p>
        </p:txBody>
      </p:sp>
      <p:sp>
        <p:nvSpPr>
          <p:cNvPr id="1169" name="Google Shape;1169;p50"/>
          <p:cNvSpPr/>
          <p:nvPr/>
        </p:nvSpPr>
        <p:spPr>
          <a:xfrm>
            <a:off x="457133" y="1188443"/>
            <a:ext cx="566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Compareu </a:t>
            </a:r>
            <a:r>
              <a:rPr b="1" lang="ca" sz="1125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tres </a:t>
            </a:r>
            <a:r>
              <a:rPr b="1" lang="ca" sz="1125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models reals.</a:t>
            </a:r>
            <a:endParaRPr sz="1350"/>
          </a:p>
        </p:txBody>
      </p:sp>
      <p:sp>
        <p:nvSpPr>
          <p:cNvPr id="1170" name="Google Shape;1170;p50"/>
          <p:cNvSpPr/>
          <p:nvPr/>
        </p:nvSpPr>
        <p:spPr>
          <a:xfrm>
            <a:off x="457119" y="1737184"/>
            <a:ext cx="4023000" cy="80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71" name="Google Shape;1171;p50"/>
          <p:cNvSpPr/>
          <p:nvPr/>
        </p:nvSpPr>
        <p:spPr>
          <a:xfrm>
            <a:off x="594282" y="1892705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72" name="Google Shape;11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965" y="2023385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50"/>
          <p:cNvSpPr/>
          <p:nvPr/>
        </p:nvSpPr>
        <p:spPr>
          <a:xfrm>
            <a:off x="1234200" y="1737175"/>
            <a:ext cx="34290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381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 sz="938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L'empresa ens encarrega </a:t>
            </a:r>
            <a:r>
              <a:rPr lang="ca" sz="938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escollir un SAI per a un lloc de treball.</a:t>
            </a:r>
            <a:endParaRPr sz="938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" sz="938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També demana una autonomia mínima: 10 minuts amb una càrrega de 350 W.</a:t>
            </a:r>
            <a:endParaRPr sz="938">
              <a:solidFill>
                <a:srgbClr val="1428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50"/>
          <p:cNvSpPr/>
          <p:nvPr/>
        </p:nvSpPr>
        <p:spPr>
          <a:xfrm>
            <a:off x="4663268" y="1737184"/>
            <a:ext cx="4023000" cy="80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75" name="Google Shape;1175;p50"/>
          <p:cNvSpPr/>
          <p:nvPr/>
        </p:nvSpPr>
        <p:spPr>
          <a:xfrm>
            <a:off x="4800431" y="1892705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76" name="Google Shape;117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1113" y="2023385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50"/>
          <p:cNvSpPr/>
          <p:nvPr/>
        </p:nvSpPr>
        <p:spPr>
          <a:xfrm>
            <a:off x="5440345" y="1737184"/>
            <a:ext cx="31545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Criteris de l’exercici: marge del </a:t>
            </a:r>
            <a:r>
              <a:rPr b="1" lang="ca" sz="938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25 %</a:t>
            </a: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i FP suposat </a:t>
            </a:r>
            <a:r>
              <a:rPr b="1" lang="ca" sz="938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0,7</a:t>
            </a: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1178" name="Google Shape;1178;p50"/>
          <p:cNvSpPr/>
          <p:nvPr/>
        </p:nvSpPr>
        <p:spPr>
          <a:xfrm>
            <a:off x="4663268" y="2651677"/>
            <a:ext cx="4023000" cy="80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79" name="Google Shape;1179;p50"/>
          <p:cNvSpPr/>
          <p:nvPr/>
        </p:nvSpPr>
        <p:spPr>
          <a:xfrm>
            <a:off x="4800431" y="2806927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80" name="Google Shape;1180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1113" y="2937608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50"/>
          <p:cNvSpPr/>
          <p:nvPr/>
        </p:nvSpPr>
        <p:spPr>
          <a:xfrm>
            <a:off x="5440345" y="2651407"/>
            <a:ext cx="31545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Calen </a:t>
            </a:r>
            <a:r>
              <a:rPr b="1" lang="ca" sz="938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3 preses amb bateria</a:t>
            </a: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compatibles amb els equips.</a:t>
            </a:r>
            <a:endParaRPr sz="1350"/>
          </a:p>
        </p:txBody>
      </p:sp>
      <p:sp>
        <p:nvSpPr>
          <p:cNvPr id="1182" name="Google Shape;1182;p50"/>
          <p:cNvSpPr/>
          <p:nvPr/>
        </p:nvSpPr>
        <p:spPr>
          <a:xfrm>
            <a:off x="457119" y="3703060"/>
            <a:ext cx="8229300" cy="639600"/>
          </a:xfrm>
          <a:prstGeom prst="roundRect">
            <a:avLst>
              <a:gd fmla="val 16667" name="adj"/>
            </a:avLst>
          </a:prstGeom>
          <a:solidFill>
            <a:srgbClr val="DCE8FB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83" name="Google Shape;1183;p50"/>
          <p:cNvSpPr/>
          <p:nvPr/>
        </p:nvSpPr>
        <p:spPr>
          <a:xfrm>
            <a:off x="594282" y="3840220"/>
            <a:ext cx="365400" cy="365700"/>
          </a:xfrm>
          <a:prstGeom prst="ellipse">
            <a:avLst/>
          </a:prstGeom>
          <a:solidFill>
            <a:srgbClr val="0081BF"/>
          </a:solidFill>
          <a:ln cap="flat" cmpd="sng" w="7150">
            <a:solidFill>
              <a:srgbClr val="0081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84" name="Google Shape;1184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324" y="3935260"/>
            <a:ext cx="175230" cy="175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50"/>
          <p:cNvSpPr/>
          <p:nvPr/>
        </p:nvSpPr>
        <p:spPr>
          <a:xfrm>
            <a:off x="1097032" y="3703060"/>
            <a:ext cx="74523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Cerqueu «SAI fitxa tècnica autonomia» i confirmeu les dades al web del fabricant.</a:t>
            </a:r>
            <a:endParaRPr sz="1350"/>
          </a:p>
        </p:txBody>
      </p:sp>
      <p:sp>
        <p:nvSpPr>
          <p:cNvPr id="1186" name="Google Shape;1186;p50"/>
          <p:cNvSpPr/>
          <p:nvPr/>
        </p:nvSpPr>
        <p:spPr>
          <a:xfrm>
            <a:off x="536244" y="2719972"/>
            <a:ext cx="4023000" cy="80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87" name="Google Shape;1187;p50"/>
          <p:cNvSpPr/>
          <p:nvPr/>
        </p:nvSpPr>
        <p:spPr>
          <a:xfrm>
            <a:off x="1313321" y="2719972"/>
            <a:ext cx="31545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Protegim l’ordinador, el monitor i el router: </a:t>
            </a:r>
            <a:r>
              <a:rPr b="1" lang="ca" sz="938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350 W</a:t>
            </a:r>
            <a:r>
              <a:rPr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50"/>
          </a:p>
        </p:txBody>
      </p:sp>
      <p:sp>
        <p:nvSpPr>
          <p:cNvPr id="1188" name="Google Shape;1188;p50"/>
          <p:cNvSpPr/>
          <p:nvPr/>
        </p:nvSpPr>
        <p:spPr>
          <a:xfrm>
            <a:off x="615382" y="2939305"/>
            <a:ext cx="502500" cy="502800"/>
          </a:xfrm>
          <a:prstGeom prst="ellipse">
            <a:avLst/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189" name="Google Shape;118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615" y="3070148"/>
            <a:ext cx="241110" cy="241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1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97" name="Google Shape;1197;p51"/>
          <p:cNvSpPr/>
          <p:nvPr/>
        </p:nvSpPr>
        <p:spPr>
          <a:xfrm>
            <a:off x="639913" y="274050"/>
            <a:ext cx="6034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Recordatori: </a:t>
            </a: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Els passos per escollir un SAI</a:t>
            </a:r>
            <a:endParaRPr sz="1350"/>
          </a:p>
        </p:txBody>
      </p:sp>
      <p:sp>
        <p:nvSpPr>
          <p:cNvPr id="1198" name="Google Shape;1198;p51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Resum</a:t>
            </a:r>
            <a:endParaRPr sz="1350"/>
          </a:p>
        </p:txBody>
      </p:sp>
      <p:sp>
        <p:nvSpPr>
          <p:cNvPr id="1199" name="Google Shape;1199;p51"/>
          <p:cNvSpPr/>
          <p:nvPr/>
        </p:nvSpPr>
        <p:spPr>
          <a:xfrm>
            <a:off x="457119" y="1325703"/>
            <a:ext cx="1554300" cy="214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00" name="Google Shape;1200;p51"/>
          <p:cNvSpPr/>
          <p:nvPr/>
        </p:nvSpPr>
        <p:spPr>
          <a:xfrm>
            <a:off x="960140" y="1462864"/>
            <a:ext cx="548100" cy="5484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50"/>
          </a:p>
        </p:txBody>
      </p:sp>
      <p:sp>
        <p:nvSpPr>
          <p:cNvPr id="1201" name="Google Shape;1201;p51"/>
          <p:cNvSpPr/>
          <p:nvPr/>
        </p:nvSpPr>
        <p:spPr>
          <a:xfrm>
            <a:off x="566742" y="2148665"/>
            <a:ext cx="13347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Sumar els W dels equips essencials.</a:t>
            </a:r>
            <a:endParaRPr sz="1350"/>
          </a:p>
        </p:txBody>
      </p:sp>
      <p:sp>
        <p:nvSpPr>
          <p:cNvPr id="1202" name="Google Shape;1202;p51"/>
          <p:cNvSpPr/>
          <p:nvPr/>
        </p:nvSpPr>
        <p:spPr>
          <a:xfrm>
            <a:off x="2139795" y="1325703"/>
            <a:ext cx="1554300" cy="214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03" name="Google Shape;1203;p51"/>
          <p:cNvSpPr/>
          <p:nvPr/>
        </p:nvSpPr>
        <p:spPr>
          <a:xfrm>
            <a:off x="2642546" y="1462864"/>
            <a:ext cx="548400" cy="5484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50"/>
          </a:p>
        </p:txBody>
      </p:sp>
      <p:sp>
        <p:nvSpPr>
          <p:cNvPr id="1204" name="Google Shape;1204;p51"/>
          <p:cNvSpPr/>
          <p:nvPr/>
        </p:nvSpPr>
        <p:spPr>
          <a:xfrm>
            <a:off x="2249147" y="2148665"/>
            <a:ext cx="13347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Afegir el marge de reserva acordat.</a:t>
            </a:r>
            <a:endParaRPr sz="1350"/>
          </a:p>
        </p:txBody>
      </p:sp>
      <p:sp>
        <p:nvSpPr>
          <p:cNvPr id="1205" name="Google Shape;1205;p51"/>
          <p:cNvSpPr/>
          <p:nvPr/>
        </p:nvSpPr>
        <p:spPr>
          <a:xfrm>
            <a:off x="3821931" y="1325703"/>
            <a:ext cx="1554300" cy="214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06" name="Google Shape;1206;p51"/>
          <p:cNvSpPr/>
          <p:nvPr/>
        </p:nvSpPr>
        <p:spPr>
          <a:xfrm>
            <a:off x="4324951" y="1462864"/>
            <a:ext cx="548400" cy="5484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50"/>
          </a:p>
        </p:txBody>
      </p:sp>
      <p:sp>
        <p:nvSpPr>
          <p:cNvPr id="1207" name="Google Shape;1207;p51"/>
          <p:cNvSpPr/>
          <p:nvPr/>
        </p:nvSpPr>
        <p:spPr>
          <a:xfrm>
            <a:off x="3931822" y="2148665"/>
            <a:ext cx="13347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Comprovar els W i els VA del SAI.</a:t>
            </a:r>
            <a:endParaRPr sz="1350"/>
          </a:p>
        </p:txBody>
      </p:sp>
      <p:sp>
        <p:nvSpPr>
          <p:cNvPr id="1208" name="Google Shape;1208;p51"/>
          <p:cNvSpPr/>
          <p:nvPr/>
        </p:nvSpPr>
        <p:spPr>
          <a:xfrm>
            <a:off x="5504606" y="1325703"/>
            <a:ext cx="1554300" cy="214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09" name="Google Shape;1209;p51"/>
          <p:cNvSpPr/>
          <p:nvPr/>
        </p:nvSpPr>
        <p:spPr>
          <a:xfrm>
            <a:off x="6007626" y="1462864"/>
            <a:ext cx="548100" cy="5484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50"/>
          </a:p>
        </p:txBody>
      </p:sp>
      <p:sp>
        <p:nvSpPr>
          <p:cNvPr id="1210" name="Google Shape;1210;p51"/>
          <p:cNvSpPr/>
          <p:nvPr/>
        </p:nvSpPr>
        <p:spPr>
          <a:xfrm>
            <a:off x="5614228" y="2148665"/>
            <a:ext cx="13347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Verificar els minuts al consum real.</a:t>
            </a:r>
            <a:endParaRPr sz="1350"/>
          </a:p>
        </p:txBody>
      </p:sp>
      <p:sp>
        <p:nvSpPr>
          <p:cNvPr id="1211" name="Google Shape;1211;p51"/>
          <p:cNvSpPr/>
          <p:nvPr/>
        </p:nvSpPr>
        <p:spPr>
          <a:xfrm>
            <a:off x="7187011" y="1325703"/>
            <a:ext cx="1554300" cy="214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7150">
            <a:solidFill>
              <a:srgbClr val="C9DA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12" name="Google Shape;1212;p51"/>
          <p:cNvSpPr/>
          <p:nvPr/>
        </p:nvSpPr>
        <p:spPr>
          <a:xfrm>
            <a:off x="7689762" y="1462864"/>
            <a:ext cx="548400" cy="548400"/>
          </a:xfrm>
          <a:prstGeom prst="ellipse">
            <a:avLst/>
          </a:prstGeom>
          <a:solidFill>
            <a:srgbClr val="0081BF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5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50"/>
          </a:p>
        </p:txBody>
      </p:sp>
      <p:sp>
        <p:nvSpPr>
          <p:cNvPr id="1213" name="Google Shape;1213;p51"/>
          <p:cNvSpPr/>
          <p:nvPr/>
        </p:nvSpPr>
        <p:spPr>
          <a:xfrm>
            <a:off x="7296634" y="2148665"/>
            <a:ext cx="13347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38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Revisar les preses i configurar l’apagada segura.</a:t>
            </a:r>
            <a:endParaRPr sz="1350"/>
          </a:p>
        </p:txBody>
      </p:sp>
      <p:sp>
        <p:nvSpPr>
          <p:cNvPr id="1214" name="Google Shape;1214;p51"/>
          <p:cNvSpPr/>
          <p:nvPr/>
        </p:nvSpPr>
        <p:spPr>
          <a:xfrm>
            <a:off x="457119" y="3748960"/>
            <a:ext cx="4023000" cy="7767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15" name="Google Shape;1215;p51"/>
          <p:cNvSpPr/>
          <p:nvPr/>
        </p:nvSpPr>
        <p:spPr>
          <a:xfrm>
            <a:off x="639913" y="3748690"/>
            <a:ext cx="36573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Potència:</a:t>
            </a:r>
            <a:r>
              <a:rPr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quins equips suporta?</a:t>
            </a:r>
            <a:endParaRPr sz="1350"/>
          </a:p>
        </p:txBody>
      </p:sp>
      <p:sp>
        <p:nvSpPr>
          <p:cNvPr id="1216" name="Google Shape;1216;p51"/>
          <p:cNvSpPr/>
          <p:nvPr/>
        </p:nvSpPr>
        <p:spPr>
          <a:xfrm>
            <a:off x="4663268" y="3748960"/>
            <a:ext cx="4023000" cy="7767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7150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17" name="Google Shape;1217;p51"/>
          <p:cNvSpPr/>
          <p:nvPr/>
        </p:nvSpPr>
        <p:spPr>
          <a:xfrm>
            <a:off x="4846331" y="3748690"/>
            <a:ext cx="36573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200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Autonomia:</a:t>
            </a:r>
            <a:r>
              <a:rPr lang="ca" sz="12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durant quant de temps?</a:t>
            </a:r>
            <a:endParaRPr sz="1350"/>
          </a:p>
        </p:txBody>
      </p:sp>
      <p:sp>
        <p:nvSpPr>
          <p:cNvPr id="1218" name="Google Shape;121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52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25" name="Google Shape;1225;p52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Fitxa de comparació per lliurar</a:t>
            </a:r>
            <a:endParaRPr sz="1350"/>
          </a:p>
        </p:txBody>
      </p:sp>
      <p:sp>
        <p:nvSpPr>
          <p:cNvPr id="1226" name="Google Shape;1226;p52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Pràctica</a:t>
            </a:r>
            <a:endParaRPr sz="1350"/>
          </a:p>
        </p:txBody>
      </p:sp>
      <p:graphicFrame>
        <p:nvGraphicFramePr>
          <p:cNvPr id="1227" name="Google Shape;1227;p52"/>
          <p:cNvGraphicFramePr/>
          <p:nvPr/>
        </p:nvGraphicFramePr>
        <p:xfrm>
          <a:off x="457119" y="12344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{3787FB69-86A1-4C5D-B84A-D355D22D1D74}</a:tableStyleId>
              </a:tblPr>
              <a:tblGrid>
                <a:gridCol w="2370950"/>
                <a:gridCol w="1952700"/>
                <a:gridCol w="1952700"/>
                <a:gridCol w="1952900"/>
              </a:tblGrid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975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Dada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975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A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ca" sz="975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B</a:t>
                      </a:r>
                      <a:endParaRPr b="1" sz="975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 sz="975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</a:t>
                      </a:r>
                      <a:r>
                        <a:rPr b="1" lang="ca" sz="975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6B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38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Marca, model i tipus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38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Potència: VA i W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38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Minuts a 350 W i font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38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Preses amb bateria i USB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  <a:tr h="38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38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Preu, data i enllaç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38" u="none">
                          <a:solidFill>
                            <a:srgbClr val="1428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Compleix? Què falta confirmar?</a:t>
                      </a:r>
                      <a:endParaRPr sz="13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/>
                    </a:p>
                  </a:txBody>
                  <a:tcPr marT="20525" marB="20525" marR="68575" marL="68575" anchor="ctr">
                    <a:lnL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9DAF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1228" name="Google Shape;1228;p52"/>
          <p:cNvSpPr/>
          <p:nvPr/>
        </p:nvSpPr>
        <p:spPr>
          <a:xfrm>
            <a:off x="457119" y="4023010"/>
            <a:ext cx="82293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050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Conclusió:</a:t>
            </a:r>
            <a:r>
              <a:rPr lang="ca" sz="1050" u="none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escollim ______________ perquè ______________________.</a:t>
            </a:r>
            <a:endParaRPr sz="1350"/>
          </a:p>
        </p:txBody>
      </p:sp>
      <p:sp>
        <p:nvSpPr>
          <p:cNvPr id="1229" name="Google Shape;1229;p52"/>
          <p:cNvSpPr/>
          <p:nvPr/>
        </p:nvSpPr>
        <p:spPr>
          <a:xfrm>
            <a:off x="457119" y="4370501"/>
            <a:ext cx="82293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975" u="none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Lliurament:</a:t>
            </a:r>
            <a:r>
              <a:rPr lang="ca" sz="975" u="none">
                <a:solidFill>
                  <a:srgbClr val="4F6486"/>
                </a:solidFill>
                <a:latin typeface="Calibri"/>
                <a:ea typeface="Calibri"/>
                <a:cs typeface="Calibri"/>
                <a:sym typeface="Calibri"/>
              </a:rPr>
              <a:t> taula + enllaços o captures + justificació de 3 frases.</a:t>
            </a:r>
            <a:endParaRPr sz="1350"/>
          </a:p>
        </p:txBody>
      </p:sp>
      <p:sp>
        <p:nvSpPr>
          <p:cNvPr id="1230" name="Google Shape;123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F3FC"/>
        </a:solidFill>
      </p:bgPr>
    </p:bg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" name="Google Shape;1236;h680225e668bdddc0_0_13"/>
          <p:cNvGraphicFramePr/>
          <p:nvPr/>
        </p:nvGraphicFramePr>
        <p:xfrm>
          <a:off x="580775" y="166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{AEA5E236-F88D-4E05-BB41-9C2D3993B466}</a:tableStyleId>
              </a:tblPr>
              <a:tblGrid>
                <a:gridCol w="1188250"/>
                <a:gridCol w="6965200"/>
              </a:tblGrid>
              <a:tr h="94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</a:rPr>
                        <a:t>APC Back-UPS Pro BR1500G-GR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</a:rPr>
                        <a:t>Line-interactive, 3 preses amb bateria. Referència comercial coneguda.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 u="sng">
                          <a:solidFill>
                            <a:schemeClr val="accent5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Veure a PcComponentes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94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</a:rPr>
                        <a:t>CyberPower CP1500EPFCLCD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</a:rPr>
                        <a:t>Line-interactive, ona sinusoidal pura i 6 preses Schuko amb bateria.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 u="sng">
                          <a:solidFill>
                            <a:schemeClr val="accent5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Fitxa oficial</a:t>
                      </a:r>
                      <a:r>
                        <a:rPr lang="ca" sz="1100">
                          <a:solidFill>
                            <a:schemeClr val="dk1"/>
                          </a:solidFill>
                        </a:rPr>
                        <a:t> ·</a:t>
                      </a:r>
                      <a:r>
                        <a:rPr lang="ca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ca" sz="1100" u="sng">
                          <a:solidFill>
                            <a:schemeClr val="accent5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Botiga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949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</a:rPr>
                        <a:t>Eaton 5P1150IG2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>
                          <a:solidFill>
                            <a:schemeClr val="dk1"/>
                          </a:solidFill>
                        </a:rPr>
                        <a:t>Line-interactive, 8 preses IEC C13. Cal comprovar els cables per connectar els equips amb endolls Schuko.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ca" sz="1100" u="sng">
                          <a:solidFill>
                            <a:schemeClr val="accent5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Fitxa oficial</a:t>
                      </a:r>
                      <a:r>
                        <a:rPr lang="ca" sz="1100">
                          <a:solidFill>
                            <a:schemeClr val="dk1"/>
                          </a:solidFill>
                        </a:rPr>
                        <a:t> ·</a:t>
                      </a:r>
                      <a:r>
                        <a:rPr lang="ca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ca" sz="1100" u="sng">
                          <a:solidFill>
                            <a:schemeClr val="accent5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LDLC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37" name="Google Shape;1237;h680225e668bdddc0_0_13"/>
          <p:cNvSpPr/>
          <p:nvPr/>
        </p:nvSpPr>
        <p:spPr>
          <a:xfrm>
            <a:off x="365587" y="274320"/>
            <a:ext cx="8412000" cy="731100"/>
          </a:xfrm>
          <a:prstGeom prst="roundRect">
            <a:avLst>
              <a:gd fmla="val 16667" name="adj"/>
            </a:avLst>
          </a:prstGeom>
          <a:solidFill>
            <a:srgbClr val="11376B"/>
          </a:solidFill>
          <a:ln cap="flat" cmpd="sng" w="9425">
            <a:solidFill>
              <a:srgbClr val="113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3725" lIns="67475" spcFirstLastPara="1" rIns="67475" wrap="square" tIns="33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238" name="Google Shape;1238;h680225e668bdddc0_0_13"/>
          <p:cNvSpPr/>
          <p:nvPr/>
        </p:nvSpPr>
        <p:spPr>
          <a:xfrm>
            <a:off x="639913" y="274050"/>
            <a:ext cx="6034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Proposta solució orientativa</a:t>
            </a:r>
            <a:endParaRPr sz="1350"/>
          </a:p>
        </p:txBody>
      </p:sp>
      <p:sp>
        <p:nvSpPr>
          <p:cNvPr id="1239" name="Google Shape;1239;h680225e668bdddc0_0_13"/>
          <p:cNvSpPr/>
          <p:nvPr/>
        </p:nvSpPr>
        <p:spPr>
          <a:xfrm>
            <a:off x="6400755" y="274050"/>
            <a:ext cx="2148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825" u="none">
                <a:solidFill>
                  <a:srgbClr val="9FBCF1"/>
                </a:solidFill>
                <a:latin typeface="Calibri"/>
                <a:ea typeface="Calibri"/>
                <a:cs typeface="Calibri"/>
                <a:sym typeface="Calibri"/>
              </a:rPr>
              <a:t>Pràctica</a:t>
            </a:r>
            <a:endParaRPr sz="1350"/>
          </a:p>
        </p:txBody>
      </p:sp>
      <p:sp>
        <p:nvSpPr>
          <p:cNvPr id="1240" name="Google Shape;1240;h680225e668bdddc0_0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 sz="1000"/>
              <a:t>‹#›</a:t>
            </a:fld>
            <a:endParaRPr sz="1000"/>
          </a:p>
        </p:txBody>
      </p:sp>
      <p:pic>
        <p:nvPicPr>
          <p:cNvPr descr="APC Unidad Back-UPS Pro 1500 BR1500G" id="1241" name="Google Shape;1241;h680225e668bdddc0_0_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3275" y="1664187"/>
            <a:ext cx="686761" cy="813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P1500EPFCLCD. Источник бесперебойного питания. CyberPower" id="1242" name="Google Shape;1242;h680225e668bdddc0_0_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3250" y="2676700"/>
            <a:ext cx="731101" cy="7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h680225e668bdddc0_0_13"/>
          <p:cNvSpPr txBox="1"/>
          <p:nvPr/>
        </p:nvSpPr>
        <p:spPr>
          <a:xfrm>
            <a:off x="410600" y="1150138"/>
            <a:ext cx="841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2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Sol.lució proposada: : almenys </a:t>
            </a:r>
            <a:r>
              <a:rPr b="1" lang="ca" sz="1200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438 W</a:t>
            </a:r>
            <a:r>
              <a:rPr lang="ca" sz="12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ca" sz="1200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625 VA</a:t>
            </a:r>
            <a:r>
              <a:rPr lang="ca" sz="12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i </a:t>
            </a:r>
            <a:r>
              <a:rPr b="1" lang="ca" sz="1200">
                <a:solidFill>
                  <a:srgbClr val="0081BF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r>
              <a:rPr lang="ca" sz="1200">
                <a:solidFill>
                  <a:srgbClr val="14284B"/>
                </a:solidFill>
                <a:latin typeface="Calibri"/>
                <a:ea typeface="Calibri"/>
                <a:cs typeface="Calibri"/>
                <a:sym typeface="Calibri"/>
              </a:rPr>
              <a:t> a 350 W. Amb aquestes dades podem proposar que compleixen els requisits: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descr="Buy Eaton 5P1150IG2BS 5P 1150i G2 | Comms Express" id="1244" name="Google Shape;1244;h680225e668bdddc0_0_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15425" y="3577100"/>
            <a:ext cx="686750" cy="81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laFontanal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ser Theme: 3">
  <a:themeElements>
    <a:clrScheme name="User Theme: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