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12192000"/>
  <p:embeddedFontLst>
    <p:embeddedFont>
      <p:font typeface="Play"/>
      <p:regular r:id="rId52"/>
      <p:bold r:id="rId53"/>
    </p:embeddedFont>
    <p:embeddedFont>
      <p:font typeface="Cascadia Mono"/>
      <p:regular r:id="rId54"/>
      <p:bold r:id="rId55"/>
      <p:italic r:id="rId56"/>
      <p:boldItalic r:id="rId57"/>
    </p:embeddedFont>
    <p:embeddedFont>
      <p:font typeface="Roboto Mon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jHSMLolU/kx01uZvxTWciUd3wh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71348E-5254-4334-A548-1F1C5E6C880E}">
  <a:tblStyle styleId="{1B71348E-5254-4334-A548-1F1C5E6C88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0153560-13FC-4864-B91A-DFBC8653FB2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247124D-D94B-4204-BD82-86F96101B9F8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Play-bold.fntdata"/><Relationship Id="rId52" Type="http://schemas.openxmlformats.org/officeDocument/2006/relationships/font" Target="fonts/Play-regular.fntdata"/><Relationship Id="rId11" Type="http://schemas.openxmlformats.org/officeDocument/2006/relationships/slide" Target="slides/slide6.xml"/><Relationship Id="rId55" Type="http://schemas.openxmlformats.org/officeDocument/2006/relationships/font" Target="fonts/CascadiaMono-bold.fntdata"/><Relationship Id="rId10" Type="http://schemas.openxmlformats.org/officeDocument/2006/relationships/slide" Target="slides/slide5.xml"/><Relationship Id="rId54" Type="http://schemas.openxmlformats.org/officeDocument/2006/relationships/font" Target="fonts/CascadiaMono-regular.fntdata"/><Relationship Id="rId13" Type="http://schemas.openxmlformats.org/officeDocument/2006/relationships/slide" Target="slides/slide8.xml"/><Relationship Id="rId57" Type="http://schemas.openxmlformats.org/officeDocument/2006/relationships/font" Target="fonts/CascadiaMono-boldItalic.fntdata"/><Relationship Id="rId12" Type="http://schemas.openxmlformats.org/officeDocument/2006/relationships/slide" Target="slides/slide7.xml"/><Relationship Id="rId56" Type="http://schemas.openxmlformats.org/officeDocument/2006/relationships/font" Target="fonts/CascadiaMono-italic.fntdata"/><Relationship Id="rId15" Type="http://schemas.openxmlformats.org/officeDocument/2006/relationships/slide" Target="slides/slide10.xml"/><Relationship Id="rId59" Type="http://schemas.openxmlformats.org/officeDocument/2006/relationships/font" Target="fonts/RobotoMono-bold.fntdata"/><Relationship Id="rId14" Type="http://schemas.openxmlformats.org/officeDocument/2006/relationships/slide" Target="slides/slide9.xml"/><Relationship Id="rId58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h7e69cd57b07db49f_0_0:notes"/>
          <p:cNvSpPr txBox="1"/>
          <p:nvPr>
            <p:ph idx="1" type="body"/>
          </p:nvPr>
        </p:nvSpPr>
        <p:spPr>
          <a:xfrm>
            <a:off x="685756" y="5867149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" name="Google Shape;29;h7e69cd57b07db49f_0_0:notes"/>
          <p:cNvSpPr txBox="1"/>
          <p:nvPr>
            <p:ph idx="12" type="sldNum"/>
          </p:nvPr>
        </p:nvSpPr>
        <p:spPr>
          <a:xfrm>
            <a:off x="3884515" y="11579749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0" name="Google Shape;30;h7e69cd57b07db49f_0_0:notes"/>
          <p:cNvSpPr/>
          <p:nvPr>
            <p:ph idx="2" type="sldImg"/>
          </p:nvPr>
        </p:nvSpPr>
        <p:spPr>
          <a:xfrm>
            <a:off x="1143183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h7e69cd57b07db49f_0_31:notes"/>
          <p:cNvSpPr txBox="1"/>
          <p:nvPr>
            <p:ph idx="1" type="body"/>
          </p:nvPr>
        </p:nvSpPr>
        <p:spPr>
          <a:xfrm>
            <a:off x="685756" y="5867149"/>
            <a:ext cx="5485800" cy="4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h7e69cd57b07db49f_0_31:notes"/>
          <p:cNvSpPr txBox="1"/>
          <p:nvPr>
            <p:ph idx="12" type="sldNum"/>
          </p:nvPr>
        </p:nvSpPr>
        <p:spPr>
          <a:xfrm>
            <a:off x="3884515" y="11579749"/>
            <a:ext cx="2971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6" name="Google Shape;46;h7e69cd57b07db49f_0_31:notes"/>
          <p:cNvSpPr/>
          <p:nvPr>
            <p:ph idx="2" type="sldImg"/>
          </p:nvPr>
        </p:nvSpPr>
        <p:spPr>
          <a:xfrm>
            <a:off x="1143183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e69cd57b07db49f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h7e69cd57b07db49f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h7e69cd57b07db49f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7e69cd57b07db49f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7e69cd57b07db49f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h7e69cd57b07db49f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7e69cd57b07db49f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h7e69cd57b07db49f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7e69cd57b07db49f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7e69cd57b07db49f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h7e69cd57b07db49f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h7e69cd57b07db49f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7e69cd57b07db49f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7e69cd57b07db49f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7e69cd57b07db49f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7e69cd57b07db49f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h7e69cd57b07db49f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7e69cd57b07db49f_0_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7e69cd57b07db49f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h7e69cd57b07db49f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7e69cd57b07db49f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7e69cd57b07db49f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h7e69cd57b07db49f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7e69cd57b07db49f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7e69cd57b07db49f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7e69cd57b07db49f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7e69cd57b07db49f_0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7e69cd57b07db49f_0_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h7e69cd57b07db49f_0_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7e69cd57b07db49f_0_2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7e69cd57b07db49f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h7e69cd57b07db49f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7e69cd57b07db49f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4dd68895a2cb8c6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h4dd68895a2cb8c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7e69cd57b07db49f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7e69cd57b07db49f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7e69cd57b07db49f_0_3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7e69cd57b07db49f_0_5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h7e69cd57b07db49f_0_5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h7e69cd57b07db49f_0_5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7e69cd57b07db49f_0_4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h7e69cd57b07db49f_0_4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7e69cd57b07db49f_0_4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7e69cd57b07db49f_0_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h7e69cd57b07db49f_0_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h7e69cd57b07db49f_0_6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7e69cd57b07db49f_0_5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7e69cd57b07db49f_0_5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h7e69cd57b07db49f_0_5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7e69cd57b07db49f_0_5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h7e69cd57b07db49f_0_5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h7e69cd57b07db49f_0_5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h7e69cd57b07db49f_0_6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h7e69cd57b07db49f_0_6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h7e69cd57b07db49f_0_6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7e69cd57b07db49f_0_7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h7e69cd57b07db49f_0_7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Mostrar la sortida d'icacls i relacionar-la amb una ACE: subjecte, permetre o denegar i permisos. Remarcar que a Windows no hi ha màscara i que la herència és automàtica.</a:t>
            </a:r>
            <a:endParaRPr/>
          </a:p>
        </p:txBody>
      </p:sp>
      <p:sp>
        <p:nvSpPr>
          <p:cNvPr id="442" name="Google Shape;442;h7e69cd57b07db49f_0_7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7e69cd57b07db49f_0_8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h7e69cd57b07db49f_0_8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Mostrar la sortida d'icacls i relacionar-la amb una ACE: subjecte, permetre o denegar i permisos. Remarcar que a Windows no hi ha màscara i que la herència és automàtica.</a:t>
            </a:r>
            <a:endParaRPr/>
          </a:p>
        </p:txBody>
      </p:sp>
      <p:sp>
        <p:nvSpPr>
          <p:cNvPr id="458" name="Google Shape;458;h7e69cd57b07db49f_0_8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h7e69cd57b07db49f_0_8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h7e69cd57b07db49f_0_8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h7e69cd57b07db49f_0_8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h7e69cd57b07db49f_0_8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h7e69cd57b07db49f_0_8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h7e69cd57b07db49f_0_8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7e69cd57b07db49f_0_8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h7e69cd57b07db49f_0_8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h7e69cd57b07db49f_0_8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h7e69cd57b07db49f_0_8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h7e69cd57b07db49f_0_8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h7e69cd57b07db49f_0_8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h7e69cd57b07db49f_0_8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7e854a8b383ac190_0_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EBF3F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7e854a8b383ac190_0_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6" name="Google Shape;16;h7e854a8b383ac190_0_5"/>
          <p:cNvSpPr/>
          <p:nvPr/>
        </p:nvSpPr>
        <p:spPr>
          <a:xfrm>
            <a:off x="487433" y="365765"/>
            <a:ext cx="11216100" cy="8040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1270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975" lIns="89975" spcFirstLastPara="1" rIns="89975" wrap="square" tIns="44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7e854a8b383ac190_0_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●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○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■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●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○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■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●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○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■"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h7e854a8b383ac190_0_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7e854a8b383ac190_0_1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31__5f_DEFAULT">
  <p:cSld name="_31__5f_DEFAU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7e854a8b383ac190_0_13"/>
          <p:cNvSpPr txBox="1"/>
          <p:nvPr>
            <p:ph idx="12" type="sldNum"/>
          </p:nvPr>
        </p:nvSpPr>
        <p:spPr>
          <a:xfrm>
            <a:off x="11378700" y="6333133"/>
            <a:ext cx="76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L">
  <p:cSld name="ACL">
    <p:bg>
      <p:bgPr>
        <a:solidFill>
          <a:srgbClr val="E8F0F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7e69cd57b07db49f_0_799"/>
          <p:cNvSpPr txBox="1"/>
          <p:nvPr>
            <p:ph type="title"/>
          </p:nvPr>
        </p:nvSpPr>
        <p:spPr>
          <a:xfrm>
            <a:off x="731520" y="36576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h7e69cd57b07db49f_0_799"/>
          <p:cNvSpPr txBox="1"/>
          <p:nvPr>
            <p:ph idx="12" type="sldNum"/>
          </p:nvPr>
        </p:nvSpPr>
        <p:spPr>
          <a:xfrm>
            <a:off x="11155680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7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7e854a8b383ac190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h7e854a8b383ac190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h7e69cd57b07db49f_0_0"/>
          <p:cNvSpPr/>
          <p:nvPr/>
        </p:nvSpPr>
        <p:spPr>
          <a:xfrm>
            <a:off x="109802" y="6144855"/>
            <a:ext cx="822900" cy="5025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12575">
            <a:solidFill>
              <a:srgbClr val="BBD7F2">
                <a:alpha val="3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975" lIns="89975" spcFirstLastPara="1" rIns="89975" wrap="square" tIns="4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h7e69cd57b07db49f_0_0"/>
          <p:cNvSpPr/>
          <p:nvPr/>
        </p:nvSpPr>
        <p:spPr>
          <a:xfrm>
            <a:off x="465650" y="853175"/>
            <a:ext cx="106449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ca" sz="3000">
                <a:solidFill>
                  <a:srgbClr val="173F63"/>
                </a:solidFill>
              </a:rPr>
              <a:t>Llistes de Control d’Accés (ACL)</a:t>
            </a:r>
            <a:r>
              <a:rPr lang="ca">
                <a:solidFill>
                  <a:schemeClr val="dk1"/>
                </a:solidFill>
              </a:rPr>
              <a:t> </a:t>
            </a:r>
            <a:r>
              <a:rPr b="1" lang="ca" sz="3000">
                <a:solidFill>
                  <a:srgbClr val="173F63"/>
                </a:solidFill>
              </a:rPr>
              <a:t>i polítiques de seguretat</a:t>
            </a:r>
            <a:endParaRPr b="1" sz="3200">
              <a:solidFill>
                <a:srgbClr val="123D6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0B2E6D"/>
              </a:solidFill>
            </a:endParaRPr>
          </a:p>
        </p:txBody>
      </p:sp>
      <p:sp>
        <p:nvSpPr>
          <p:cNvPr id="34" name="Google Shape;34;h7e69cd57b07db49f_0_0"/>
          <p:cNvSpPr/>
          <p:nvPr/>
        </p:nvSpPr>
        <p:spPr>
          <a:xfrm>
            <a:off x="530291" y="1858510"/>
            <a:ext cx="105156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1r CFGM SMX · M0226 · Seguretat Informàtica</a:t>
            </a:r>
            <a:endParaRPr sz="1800"/>
          </a:p>
        </p:txBody>
      </p:sp>
      <p:sp>
        <p:nvSpPr>
          <p:cNvPr id="35" name="Google Shape;35;h7e69cd57b07db49f_0_0"/>
          <p:cNvSpPr/>
          <p:nvPr/>
        </p:nvSpPr>
        <p:spPr>
          <a:xfrm>
            <a:off x="530291" y="2498674"/>
            <a:ext cx="105156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900" u="none">
                <a:solidFill>
                  <a:srgbClr val="13315C"/>
                </a:solidFill>
              </a:rPr>
              <a:t>RA1 · Seguretat passiva en equips informàtics - P</a:t>
            </a:r>
            <a:r>
              <a:rPr b="1" lang="ca" sz="1900">
                <a:solidFill>
                  <a:srgbClr val="13315C"/>
                </a:solidFill>
              </a:rPr>
              <a:t>art VI</a:t>
            </a:r>
            <a:endParaRPr b="1" sz="1900"/>
          </a:p>
        </p:txBody>
      </p:sp>
      <p:sp>
        <p:nvSpPr>
          <p:cNvPr id="36" name="Google Shape;36;h7e69cd57b07db49f_0_0"/>
          <p:cNvSpPr/>
          <p:nvPr/>
        </p:nvSpPr>
        <p:spPr>
          <a:xfrm>
            <a:off x="5815225" y="3008925"/>
            <a:ext cx="5721900" cy="213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57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975" lIns="89975" spcFirstLastPara="1" rIns="89975" wrap="square" tIns="44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" name="Google Shape;37;h7e69cd57b07db49f_0_0"/>
          <p:cNvSpPr/>
          <p:nvPr/>
        </p:nvSpPr>
        <p:spPr>
          <a:xfrm>
            <a:off x="6068770" y="3377542"/>
            <a:ext cx="34743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Autors i crèdits</a:t>
            </a:r>
            <a:endParaRPr sz="1600"/>
          </a:p>
        </p:txBody>
      </p:sp>
      <p:sp>
        <p:nvSpPr>
          <p:cNvPr id="38" name="Google Shape;38;h7e69cd57b07db49f_0_0"/>
          <p:cNvSpPr/>
          <p:nvPr/>
        </p:nvSpPr>
        <p:spPr>
          <a:xfrm>
            <a:off x="6068767" y="3835992"/>
            <a:ext cx="54684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Idea original: Ivan Basart Carrillo</a:t>
            </a:r>
            <a:r>
              <a:rPr lang="ca" sz="1300">
                <a:solidFill>
                  <a:srgbClr val="13315C"/>
                </a:solidFill>
              </a:rPr>
              <a:t>. </a:t>
            </a:r>
            <a:r>
              <a:rPr lang="ca" sz="13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Carles Caño Valls i </a:t>
            </a:r>
            <a:r>
              <a:rPr lang="ca" sz="1300">
                <a:solidFill>
                  <a:srgbClr val="13315C"/>
                </a:solidFill>
              </a:rPr>
              <a:t>Carles Franquesa</a:t>
            </a:r>
            <a:endParaRPr sz="1300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3315C"/>
                </a:solidFill>
              </a:rPr>
              <a:t>Modificació: Amanda Fontana</a:t>
            </a:r>
            <a:endParaRPr sz="1300">
              <a:solidFill>
                <a:srgbClr val="1331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Adaptació, modificaci</a:t>
            </a:r>
            <a:r>
              <a:rPr lang="ca" sz="1300">
                <a:solidFill>
                  <a:srgbClr val="13315C"/>
                </a:solidFill>
              </a:rPr>
              <a:t>ó </a:t>
            </a:r>
            <a:r>
              <a:rPr lang="ca" sz="13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 i reorganització: Eduard Gutiérrez</a:t>
            </a:r>
            <a:endParaRPr sz="1300"/>
          </a:p>
        </p:txBody>
      </p:sp>
      <p:pic>
        <p:nvPicPr>
          <p:cNvPr id="39" name="Google Shape;39;h7e69cd57b07db49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487" y="6148424"/>
            <a:ext cx="1416963" cy="49536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h7e69cd57b07db49f_0_0"/>
          <p:cNvSpPr/>
          <p:nvPr/>
        </p:nvSpPr>
        <p:spPr>
          <a:xfrm>
            <a:off x="1946143" y="6420415"/>
            <a:ext cx="6857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Llicència del material: Creative Commons BY-NC-SA 4.0</a:t>
            </a:r>
            <a:endParaRPr sz="1800"/>
          </a:p>
        </p:txBody>
      </p:sp>
      <p:pic>
        <p:nvPicPr>
          <p:cNvPr id="41" name="Google Shape;41;h7e69cd57b07db49f_0_0"/>
          <p:cNvPicPr preferRelativeResize="0"/>
          <p:nvPr/>
        </p:nvPicPr>
        <p:blipFill rotWithShape="1">
          <a:blip r:embed="rId4">
            <a:alphaModFix/>
          </a:blip>
          <a:srcRect b="0" l="0" r="0" t="32167"/>
          <a:stretch/>
        </p:blipFill>
        <p:spPr>
          <a:xfrm>
            <a:off x="465650" y="3206850"/>
            <a:ext cx="5127900" cy="186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h7e69cd57b07db49f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h7e69cd57b07db49f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4328" y="639721"/>
            <a:ext cx="607332" cy="8262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h7e69cd57b07db49f_0_31"/>
          <p:cNvSpPr/>
          <p:nvPr/>
        </p:nvSpPr>
        <p:spPr>
          <a:xfrm>
            <a:off x="481642" y="995603"/>
            <a:ext cx="11081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40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Criteris d’avaluació i continguts que treballarem amb </a:t>
            </a:r>
            <a:r>
              <a:rPr lang="ca">
                <a:solidFill>
                  <a:srgbClr val="5B6B7A"/>
                </a:solidFill>
              </a:rPr>
              <a:t>les ACL</a:t>
            </a:r>
            <a:endParaRPr sz="1800"/>
          </a:p>
        </p:txBody>
      </p:sp>
      <p:sp>
        <p:nvSpPr>
          <p:cNvPr id="50" name="Google Shape;50;h7e69cd57b07db49f_0_31"/>
          <p:cNvSpPr/>
          <p:nvPr/>
        </p:nvSpPr>
        <p:spPr>
          <a:xfrm>
            <a:off x="243616" y="264401"/>
            <a:ext cx="14874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30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 RA1 · Seguretat passiva en equips informàtics</a:t>
            </a:r>
            <a:endParaRPr sz="1800"/>
          </a:p>
        </p:txBody>
      </p:sp>
      <p:graphicFrame>
        <p:nvGraphicFramePr>
          <p:cNvPr id="51" name="Google Shape;51;h7e69cd57b07db49f_0_31"/>
          <p:cNvGraphicFramePr/>
          <p:nvPr/>
        </p:nvGraphicFramePr>
        <p:xfrm>
          <a:off x="528831" y="1546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{1B71348E-5254-4334-A548-1F1C5E6C880E}</a:tableStyleId>
              </a:tblPr>
              <a:tblGrid>
                <a:gridCol w="5393100"/>
                <a:gridCol w="5393100"/>
              </a:tblGrid>
              <a:tr h="809675">
                <a:tc gridSpan="2">
                  <a:txBody>
                    <a:bodyPr/>
                    <a:lstStyle/>
                    <a:p>
                      <a:pPr indent="0" lvl="0" marL="1778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 hMerge="1"/>
              </a:tr>
              <a:tr h="91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2000">
                          <a:solidFill>
                            <a:srgbClr val="13315C"/>
                          </a:solidFill>
                        </a:rPr>
                        <a:t>Criteris d’avaluació</a:t>
                      </a:r>
                      <a:endParaRPr sz="1400"/>
                    </a:p>
                  </a:txBody>
                  <a:tcPr marT="91425" marB="91425" marR="91425" marL="91425" anchor="ctr">
                    <a:lnL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2000">
                          <a:solidFill>
                            <a:srgbClr val="13315C"/>
                          </a:solidFill>
                        </a:rPr>
                        <a:t>Continguts</a:t>
                      </a:r>
                      <a:endParaRPr sz="1400"/>
                    </a:p>
                  </a:txBody>
                  <a:tcPr marT="91425" marB="91425" marR="91425" marL="91425" anchor="ctr">
                    <a:lnL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</a:tr>
              <a:tr h="809675">
                <a:tc>
                  <a:txBody>
                    <a:bodyPr/>
                    <a:lstStyle/>
                    <a:p>
                      <a:pPr indent="0" lvl="0" marL="1778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700">
                          <a:solidFill>
                            <a:srgbClr val="13315C"/>
                          </a:solidFill>
                        </a:rPr>
                        <a:t>            </a:t>
                      </a: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Esquematitza les característiques d’una </a:t>
                      </a:r>
                      <a:endParaRPr b="1" sz="1500">
                        <a:solidFill>
                          <a:srgbClr val="13315C"/>
                        </a:solidFill>
                      </a:endParaRPr>
                    </a:p>
                    <a:p>
                      <a:pPr indent="0" lvl="0" marL="1778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              política de seguretat basada en llistes de</a:t>
                      </a:r>
                      <a:endParaRPr b="1" sz="1500">
                        <a:solidFill>
                          <a:srgbClr val="13315C"/>
                        </a:solidFill>
                      </a:endParaRPr>
                    </a:p>
                    <a:p>
                      <a:pPr indent="0" lvl="0" marL="1778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              control d’accés.</a:t>
                      </a:r>
                      <a:endParaRPr b="1" sz="1500">
                        <a:solidFill>
                          <a:srgbClr val="13315C"/>
                        </a:solidFill>
                      </a:endParaRPr>
                    </a:p>
                    <a:p>
                      <a:pPr indent="0" lvl="0" marL="1778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13315C"/>
                        </a:solidFill>
                      </a:endParaRPr>
                    </a:p>
                    <a:p>
                      <a:pPr indent="0" lvl="0" marL="17780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13315C"/>
                        </a:solidFill>
                      </a:endParaRPr>
                    </a:p>
                  </a:txBody>
                  <a:tcPr marT="144000" marB="91425" marR="91425" marL="91425">
                    <a:lnL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6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Polítiques de seguretat basades en llistes de </a:t>
                      </a:r>
                      <a:endParaRPr sz="16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6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control d’accés.</a:t>
                      </a:r>
                      <a:endParaRPr sz="16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4000" marB="91425" marR="91425" marL="91425">
                    <a:lnL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" name="Google Shape;52;h7e69cd57b07db49f_0_31"/>
          <p:cNvSpPr/>
          <p:nvPr/>
        </p:nvSpPr>
        <p:spPr>
          <a:xfrm>
            <a:off x="696267" y="3467099"/>
            <a:ext cx="670500" cy="5247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800"/>
          </a:p>
        </p:txBody>
      </p:sp>
      <p:sp>
        <p:nvSpPr>
          <p:cNvPr id="53" name="Google Shape;53;h7e69cd57b07db49f_0_31"/>
          <p:cNvSpPr/>
          <p:nvPr/>
        </p:nvSpPr>
        <p:spPr>
          <a:xfrm>
            <a:off x="528833" y="1559767"/>
            <a:ext cx="10785900" cy="8265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· Seguretat passiva en equips informàtics - Part VI</a:t>
            </a:r>
            <a:endParaRPr sz="1800"/>
          </a:p>
        </p:txBody>
      </p:sp>
      <p:sp>
        <p:nvSpPr>
          <p:cNvPr id="54" name="Google Shape;54;h7e69cd57b07db49f_0_31"/>
          <p:cNvSpPr/>
          <p:nvPr/>
        </p:nvSpPr>
        <p:spPr>
          <a:xfrm>
            <a:off x="6136078" y="3467087"/>
            <a:ext cx="670500" cy="5484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00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1300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/>
          </a:p>
        </p:txBody>
      </p:sp>
      <p:sp>
        <p:nvSpPr>
          <p:cNvPr id="55" name="Google Shape;55;h7e69cd57b07db49f_0_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d’accés: la idea base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95175" y="1265449"/>
            <a:ext cx="107898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Abans de parlar d’ACL, recordem què decideix un sistema segur.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21250" y="2068775"/>
            <a:ext cx="3108900" cy="21843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600">
                <a:solidFill>
                  <a:srgbClr val="123E66"/>
                </a:solidFill>
              </a:rPr>
              <a:t>1 - </a:t>
            </a:r>
            <a:r>
              <a:rPr b="1" lang="ca" sz="16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Identificació</a:t>
            </a:r>
            <a:endParaRPr b="1" sz="16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t/>
            </a:r>
            <a:endParaRPr b="1" sz="16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63B5C"/>
                </a:solidFill>
              </a:rPr>
              <a:t>L’usuari diu qui és.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Ex.: nom.usuari, DNI, compte.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361725" y="2068776"/>
            <a:ext cx="3108900" cy="21843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600">
                <a:solidFill>
                  <a:srgbClr val="123E66"/>
                </a:solidFill>
              </a:rPr>
              <a:t>2 - </a:t>
            </a:r>
            <a:r>
              <a:rPr b="1" lang="ca" sz="16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Autenticació</a:t>
            </a:r>
            <a:endParaRPr b="1" sz="16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t/>
            </a:r>
            <a:endParaRPr b="1" sz="16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63B5C"/>
                </a:solidFill>
              </a:rPr>
              <a:t>El sistema comprova que és qui diu ser.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Ex.: contrasenya, biometria, MFA.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202200" y="2068776"/>
            <a:ext cx="3108900" cy="21843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</a:rPr>
              <a:t>3 - </a:t>
            </a: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Autorització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Un cop dins, el sistema decideix </a:t>
            </a:r>
            <a:r>
              <a:rPr b="1" lang="ca" sz="1500">
                <a:solidFill>
                  <a:srgbClr val="163B5C"/>
                </a:solidFill>
              </a:rPr>
              <a:t>quins recursos pot utilitzar.</a:t>
            </a:r>
            <a:endParaRPr b="1" sz="150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</a:rPr>
              <a:t>Ex: pots llegir i escriure en carpeta </a:t>
            </a:r>
            <a:r>
              <a:rPr lang="ca" sz="1500">
                <a:solidFill>
                  <a:srgbClr val="163B5C"/>
                </a:solidFill>
              </a:rPr>
              <a:t>nòmines</a:t>
            </a:r>
            <a:endParaRPr sz="1500">
              <a:solidFill>
                <a:srgbClr val="163B5C"/>
              </a:solidFill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8397" y="459022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8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Pregunta clau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58397" y="5001705"/>
            <a:ext cx="10241400" cy="6219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87DBE"/>
              </a:buClr>
              <a:buSzPts val="3000"/>
              <a:buFont typeface="Arial"/>
              <a:buNone/>
            </a:pPr>
            <a:r>
              <a:rPr b="1" lang="ca" sz="3000">
                <a:solidFill>
                  <a:srgbClr val="087DBE"/>
                </a:solidFill>
                <a:latin typeface="Arial"/>
                <a:ea typeface="Arial"/>
                <a:cs typeface="Arial"/>
                <a:sym typeface="Arial"/>
              </a:rPr>
              <a:t>Qui pot fer què sobre quin recurs?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32718" y="6007545"/>
            <a:ext cx="9692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ACL = una manera pràctica de convertir aquesta pregunta en regles concretes.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Recordatori: permisos tradicionals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57800" y="1369323"/>
            <a:ext cx="107898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</a:rPr>
              <a:t>Ja hem treballat els permisos tradicionals de Linux i els permisos NTFS de Windows. Ara veurem com s’estructuren i es gestionen les ACL.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22400" y="2298899"/>
            <a:ext cx="5212200" cy="20712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Linux / UNIX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Propietari · grup · altres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Permisos: r, w, x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Exemple: chmod 644 fitxer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→ propietari rw, grup r, altres 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391677" y="2298899"/>
            <a:ext cx="5212200" cy="20712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6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Windows / NTFS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Usuaris i grups amb permisos sobre fitxers i carpetes.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Ex.: lectura, escriptura, modificació, control total.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22400" y="4994650"/>
            <a:ext cx="662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8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</a:rPr>
              <a:t>Limitació a Linux: el model propietari · grup · altres...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22963" y="5654225"/>
            <a:ext cx="10515600" cy="8748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87DBE"/>
              </a:buClr>
              <a:buSzPts val="2200"/>
              <a:buFont typeface="Arial"/>
              <a:buNone/>
            </a:pPr>
            <a:r>
              <a:rPr b="1" lang="ca" sz="2200">
                <a:solidFill>
                  <a:srgbClr val="087DBE"/>
                </a:solidFill>
              </a:rPr>
              <a:t>El model propietari · grup · altres no permet definir fàcilment permisos diferents per a diversos usuaris o grups concrets.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 què no sempre n’hi ha prou amb chmod?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80646" y="129387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Dos casos típics per veure les mancances del model tradicional.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5" y="1882650"/>
            <a:ext cx="5581800" cy="40581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Cas 1 · </a:t>
            </a:r>
            <a:endParaRPr b="1" sz="14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</a:rPr>
              <a:t>Joan necessita lectura sobre Fitxer: informe.txt</a:t>
            </a:r>
            <a:endParaRPr sz="145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</a:rPr>
              <a:t>a més: Anna = rw · grup profes = r · altres = cap</a:t>
            </a:r>
            <a:endParaRPr sz="145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</a:rPr>
              <a:t>Joan és un altre usuari del mateix sistema: no és Anna i no pertany a profes.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02925" y="6098025"/>
            <a:ext cx="10698600" cy="5928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2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Idea clau: ACL = excepcions controlades sense canviar tota l’estructura de permisos.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" name="Google Shape;91;p5"/>
          <p:cNvGraphicFramePr/>
          <p:nvPr/>
        </p:nvGraphicFramePr>
        <p:xfrm>
          <a:off x="731475" y="2494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{50153560-13FC-4864-B91A-DFBC8653FB23}</a:tableStyleId>
              </a:tblPr>
              <a:tblGrid>
                <a:gridCol w="3357225"/>
                <a:gridCol w="1387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Qui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Permís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Anna (propietària)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rw-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Grup </a:t>
                      </a: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profes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r--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Altres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---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5"/>
          <p:cNvSpPr txBox="1"/>
          <p:nvPr/>
        </p:nvSpPr>
        <p:spPr>
          <a:xfrm>
            <a:off x="6453000" y="1882725"/>
            <a:ext cx="5205600" cy="405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dk1"/>
                </a:solidFill>
              </a:rPr>
              <a:t>Joan no és Anna i no és de </a:t>
            </a:r>
            <a:r>
              <a:rPr lang="ca" sz="1300">
                <a:solidFill>
                  <a:srgbClr val="188038"/>
                </a:solidFill>
              </a:rPr>
              <a:t>profes</a:t>
            </a:r>
            <a:r>
              <a:rPr lang="ca" sz="1300">
                <a:solidFill>
                  <a:schemeClr val="dk1"/>
                </a:solidFill>
              </a:rPr>
              <a:t>, així que cau a «altres» i no pot ni llegir-lo.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ca" sz="1300">
                <a:solidFill>
                  <a:schemeClr val="dk1"/>
                </a:solidFill>
              </a:rPr>
              <a:t>Per què chmod i chgrp no arriben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ca" sz="1300">
                <a:solidFill>
                  <a:srgbClr val="188038"/>
                </a:solidFill>
              </a:rPr>
              <a:t>chmod o+r</a:t>
            </a:r>
            <a:r>
              <a:rPr b="1" lang="ca" sz="1300">
                <a:solidFill>
                  <a:schemeClr val="dk1"/>
                </a:solidFill>
              </a:rPr>
              <a:t>:</a:t>
            </a:r>
            <a:r>
              <a:rPr lang="ca" sz="1300">
                <a:solidFill>
                  <a:schemeClr val="dk1"/>
                </a:solidFill>
              </a:rPr>
              <a:t> Joan pot llegir, però també </a:t>
            </a:r>
            <a:r>
              <a:rPr b="1" lang="ca" sz="1300">
                <a:solidFill>
                  <a:schemeClr val="dk1"/>
                </a:solidFill>
              </a:rPr>
              <a:t>tots els usuaris del sistema</a:t>
            </a:r>
            <a:r>
              <a:rPr lang="ca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ca" sz="1300">
                <a:solidFill>
                  <a:srgbClr val="188038"/>
                </a:solidFill>
              </a:rPr>
              <a:t>chgrp</a:t>
            </a:r>
            <a:r>
              <a:rPr b="1" lang="ca" sz="1300">
                <a:solidFill>
                  <a:schemeClr val="dk1"/>
                </a:solidFill>
              </a:rPr>
              <a:t> a un grup que inclogui Joan:</a:t>
            </a:r>
            <a:r>
              <a:rPr lang="ca" sz="1300">
                <a:solidFill>
                  <a:schemeClr val="dk1"/>
                </a:solidFill>
              </a:rPr>
              <a:t> el fitxer només té un grup, així que </a:t>
            </a:r>
            <a:r>
              <a:rPr lang="ca" sz="1300">
                <a:solidFill>
                  <a:srgbClr val="188038"/>
                </a:solidFill>
              </a:rPr>
              <a:t>profes</a:t>
            </a:r>
            <a:r>
              <a:rPr lang="ca" sz="1300">
                <a:solidFill>
                  <a:schemeClr val="dk1"/>
                </a:solidFill>
              </a:rPr>
              <a:t> perdria la lectura, o caldria crear un grup nou amb tots els professors i Joan.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ca" sz="1300">
                <a:solidFill>
                  <a:schemeClr val="dk1"/>
                </a:solidFill>
              </a:rPr>
              <a:t>Fer Joan propietari:</a:t>
            </a:r>
            <a:r>
              <a:rPr lang="ca" sz="1300">
                <a:solidFill>
                  <a:schemeClr val="dk1"/>
                </a:solidFill>
              </a:rPr>
              <a:t> Anna perdria el control del fitxer.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3" name="Google Shape;93;p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7e69cd57b07db49f_0_63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 què no sempre n’hi ha prou amb chmod?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h7e69cd57b07db49f_0_63"/>
          <p:cNvSpPr/>
          <p:nvPr/>
        </p:nvSpPr>
        <p:spPr>
          <a:xfrm>
            <a:off x="580646" y="129387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Dos casos típics per veure les mancances del model tradicional.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h7e69cd57b07db49f_0_63"/>
          <p:cNvSpPr/>
          <p:nvPr/>
        </p:nvSpPr>
        <p:spPr>
          <a:xfrm>
            <a:off x="502925" y="1778425"/>
            <a:ext cx="5392800" cy="45492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Cas 2 · </a:t>
            </a:r>
            <a:endParaRPr b="1" sz="14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23E66"/>
                </a:solidFill>
              </a:rPr>
              <a:t>Maria necessita editar la carpeta </a:t>
            </a:r>
            <a:r>
              <a:rPr lang="ca" sz="1450">
                <a:solidFill>
                  <a:srgbClr val="123E66"/>
                </a:solidFill>
              </a:rPr>
              <a:t>Pràctica</a:t>
            </a:r>
            <a:r>
              <a:rPr lang="ca" sz="1450">
                <a:solidFill>
                  <a:srgbClr val="123E66"/>
                </a:solidFill>
              </a:rPr>
              <a:t> d’un grup d’alumnes: el grup es diu “alumnat”</a:t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Amb ACL podem donar a Maria més permisos sense donar-los a tot el grup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h7e69cd57b07db49f_0_63"/>
          <p:cNvSpPr txBox="1"/>
          <p:nvPr/>
        </p:nvSpPr>
        <p:spPr>
          <a:xfrm>
            <a:off x="6499325" y="1778300"/>
            <a:ext cx="5073300" cy="454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ca" sz="1500"/>
              <a:t>Per què els permisos tradicionals no ho resolen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300"/>
              <a:t>Una carpeta només té </a:t>
            </a:r>
            <a:r>
              <a:rPr b="1" lang="ca" sz="1300"/>
              <a:t>un propietari, un grup i «altres»</a:t>
            </a:r>
            <a:r>
              <a:rPr lang="ca" sz="1300"/>
              <a:t>. Volem això: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300"/>
              <a:t>Amb </a:t>
            </a:r>
            <a:r>
              <a:rPr lang="ca" sz="1300">
                <a:solidFill>
                  <a:srgbClr val="188038"/>
                </a:solidFill>
              </a:rPr>
              <a:t>rwx</a:t>
            </a:r>
            <a:r>
              <a:rPr lang="ca" sz="1300"/>
              <a:t> clàssics, cap opció ho aconsegueix: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ca" sz="1300"/>
              <a:t>Maria com a propietària:</a:t>
            </a:r>
            <a:r>
              <a:rPr lang="ca" sz="1300"/>
              <a:t> el professor perd la propietat. A més, Maria podria canviar-ne els permisos, i només es pot tenir un propietari.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ca" sz="1300"/>
              <a:t>Donar permisos de modificació (rwx) al grup alumnat</a:t>
            </a:r>
            <a:r>
              <a:rPr lang="ca" sz="1300"/>
              <a:t>: tots els alumnes podrien modificar la carpeta, i no volem això.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ca" sz="1300"/>
              <a:t>Crear un grup només amb Maria:</a:t>
            </a:r>
            <a:r>
              <a:rPr lang="ca" sz="1300"/>
              <a:t> la carpeta només pot tenir un grup, així que </a:t>
            </a:r>
            <a:r>
              <a:rPr lang="ca" sz="1300">
                <a:solidFill>
                  <a:srgbClr val="188038"/>
                </a:solidFill>
              </a:rPr>
              <a:t>alumnat</a:t>
            </a:r>
            <a:r>
              <a:rPr lang="ca" sz="1300"/>
              <a:t> perdria la lectura.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ca" sz="1300"/>
              <a:t>Donar </a:t>
            </a:r>
            <a:r>
              <a:rPr b="1" lang="ca" sz="1300">
                <a:solidFill>
                  <a:srgbClr val="188038"/>
                </a:solidFill>
              </a:rPr>
              <a:t>rwx</a:t>
            </a:r>
            <a:r>
              <a:rPr b="1" lang="ca" sz="1300"/>
              <a:t> a «altres»:</a:t>
            </a:r>
            <a:r>
              <a:rPr lang="ca" sz="1300"/>
              <a:t> s’obre la carpeta a tot el sistema.</a:t>
            </a:r>
            <a:endParaRPr sz="1300"/>
          </a:p>
        </p:txBody>
      </p:sp>
      <p:graphicFrame>
        <p:nvGraphicFramePr>
          <p:cNvPr id="103" name="Google Shape;103;h7e69cd57b07db49f_0_63"/>
          <p:cNvGraphicFramePr/>
          <p:nvPr/>
        </p:nvGraphicFramePr>
        <p:xfrm>
          <a:off x="1092950" y="314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{50153560-13FC-4864-B91A-DFBC8653FB23}</a:tableStyleId>
              </a:tblPr>
              <a:tblGrid>
                <a:gridCol w="2219875"/>
                <a:gridCol w="22198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Qui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Permís desitjat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El professor (propietari)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tot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Grup </a:t>
                      </a: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alumnat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només llegir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Maria (és de </a:t>
                      </a:r>
                      <a:r>
                        <a:rPr lang="ca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alumnat</a:t>
                      </a:r>
                      <a:r>
                        <a:rPr lang="ca" sz="1200"/>
                        <a:t>)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llegir i modificar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La resta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/>
                        <a:t>res</a:t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" name="Google Shape;104;h7e69cd57b07db49f_0_6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la matriu d’accés a les ACL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02933" y="125847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La idea teòrica és una taula; en sistemes reals es guarda de forma més manejable.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40025" y="2201235"/>
            <a:ext cx="3383400" cy="21030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6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Matriu d’accés</a:t>
            </a:r>
            <a:endParaRPr b="1" sz="16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Files = subjectes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Columnes = objectes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Cel·les = drets d’accés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389065" y="2201235"/>
            <a:ext cx="3383400" cy="2103000"/>
          </a:xfrm>
          <a:prstGeom prst="rect">
            <a:avLst/>
          </a:prstGeom>
          <a:solidFill>
            <a:srgbClr val="DFF3E9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6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ACL</a:t>
            </a:r>
            <a:endParaRPr b="1" sz="16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23E66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Descomponem per objecte.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Cada fitxer o carpeta té la seva llista de qui pot fer què.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138105" y="2201235"/>
            <a:ext cx="3383400" cy="2103000"/>
          </a:xfrm>
          <a:prstGeom prst="rect">
            <a:avLst/>
          </a:prstGeom>
          <a:solidFill>
            <a:srgbClr val="FFEFC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6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Capacitats</a:t>
            </a:r>
            <a:endParaRPr b="1" sz="16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123E66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Descomponem per subjecte.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Cada usuari porta la llista de què pot fer.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Què és una ACL? I què és una ACE?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02925" y="1330450"/>
            <a:ext cx="107898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Posem nom a la llista i a cada línia de la llista.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58950" y="1913700"/>
            <a:ext cx="5120700" cy="279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ACL · Access Control List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163B5C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És una llista associada a un recurs: fitxer, carpeta, port de xarxa, recurs compartit…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Indica qui pot accedir i què pot fer.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291072" y="1913700"/>
            <a:ext cx="5120700" cy="279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6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ACE · Access Control Entry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163B5C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És cada entrada o regla individual dins de l’ACL.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63B5C"/>
                </a:solidFill>
              </a:rPr>
              <a:t>Cada ACE identifica un usuari o grup i els seus permisos. A Windows, les ACE poden ser de tipus Permetre o Denegar.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812800" y="4976275"/>
            <a:ext cx="10544100" cy="14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Les ACL </a:t>
            </a:r>
            <a:r>
              <a:rPr b="1" lang="ca" sz="1600">
                <a:solidFill>
                  <a:schemeClr val="dk1"/>
                </a:solidFill>
              </a:rPr>
              <a:t>amplien</a:t>
            </a:r>
            <a:r>
              <a:rPr lang="ca" sz="1600">
                <a:solidFill>
                  <a:schemeClr val="dk1"/>
                </a:solidFill>
              </a:rPr>
              <a:t> els permisos tradicionals i no els substitueixen.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a" sz="1600">
                <a:solidFill>
                  <a:schemeClr val="dk1"/>
                </a:solidFill>
              </a:rPr>
              <a:t>A Linux, les ACL POSIX amplien el model tradicional. Les entrades de propietari, grup i altres continuen existint, i s’hi poden afegir entrades per a usuaris o grups concrets.</a:t>
            </a:r>
            <a:endParaRPr sz="1600"/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7e69cd57b07db49f_0_89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xemple d'ACL i ACE a Windows (NTFS)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h7e69cd57b07db49f_0_89"/>
          <p:cNvGraphicFramePr/>
          <p:nvPr/>
        </p:nvGraphicFramePr>
        <p:xfrm>
          <a:off x="1034200" y="318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{50153560-13FC-4864-B91A-DFBC8653FB23}</a:tableStyleId>
              </a:tblPr>
              <a:tblGrid>
                <a:gridCol w="905625"/>
                <a:gridCol w="1534550"/>
                <a:gridCol w="1509400"/>
                <a:gridCol w="2742025"/>
              </a:tblGrid>
              <a:tr h="75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600"/>
                        <a:t>ACE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B0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600"/>
                        <a:t>Subjecte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B0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600"/>
                        <a:t>Acció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B0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600"/>
                        <a:t>Permisos</a:t>
                      </a:r>
                      <a:endParaRPr b="1" sz="16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B0E1"/>
                    </a:solidFill>
                  </a:tcPr>
                </a:tc>
              </a:tr>
              <a:tr h="75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joan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Permetre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Llegir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maria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Permetre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Llegir + escriure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alumnat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Permetre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Llegir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h7e69cd57b07db49f_0_89"/>
          <p:cNvSpPr txBox="1"/>
          <p:nvPr/>
        </p:nvSpPr>
        <p:spPr>
          <a:xfrm>
            <a:off x="502925" y="1536025"/>
            <a:ext cx="72228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1700"/>
              <a:t>Exemple ACL amb els seus ACE del Recurs: carpeta </a:t>
            </a:r>
            <a:r>
              <a:rPr b="1" lang="ca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Practica</a:t>
            </a:r>
            <a:endParaRPr b="1"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700"/>
              <a:t>A la següent taula podeu veure ACL de la carpeta Practica:</a:t>
            </a:r>
            <a:endParaRPr sz="1700"/>
          </a:p>
        </p:txBody>
      </p:sp>
      <p:sp>
        <p:nvSpPr>
          <p:cNvPr id="135" name="Google Shape;135;h7e69cd57b07db49f_0_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6" name="Google Shape;136;h7e69cd57b07db49f_0_89"/>
          <p:cNvSpPr txBox="1"/>
          <p:nvPr/>
        </p:nvSpPr>
        <p:spPr>
          <a:xfrm>
            <a:off x="8131025" y="1819725"/>
            <a:ext cx="3280800" cy="1369800"/>
          </a:xfrm>
          <a:prstGeom prst="rect">
            <a:avLst/>
          </a:prstGeom>
          <a:solidFill>
            <a:srgbClr val="FFEFC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Nota</a:t>
            </a:r>
            <a:r>
              <a:rPr lang="ca"/>
              <a:t>: </a:t>
            </a:r>
            <a:r>
              <a:rPr lang="ca"/>
              <a:t>Windows NTFS té ACE Permetre/Denegar, mentre que les ACL POSIX de Linux no tenen regles Denegar explícites.</a:t>
            </a:r>
            <a:endParaRPr/>
          </a:p>
        </p:txBody>
      </p:sp>
      <p:sp>
        <p:nvSpPr>
          <p:cNvPr id="137" name="Google Shape;137;h7e69cd57b07db49f_0_89"/>
          <p:cNvSpPr txBox="1"/>
          <p:nvPr/>
        </p:nvSpPr>
        <p:spPr>
          <a:xfrm>
            <a:off x="8131025" y="3518575"/>
            <a:ext cx="3280800" cy="2986200"/>
          </a:xfrm>
          <a:prstGeom prst="rect">
            <a:avLst/>
          </a:prstGeom>
          <a:solidFill>
            <a:srgbClr val="FFEFC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Recorda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a"/>
              <a:t>A Linux, les ACL POSIX indiquen quins permisos té cada usuari o grup.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a"/>
              <a:t>Si els permisos efectius no autoritzen una acció, l'accés es denega.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a"/>
              <a:t>No cal una ACE amb l'acció «Denegar».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e69cd57b07db49f_0_103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 mínima i estesa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h7e69cd57b07db49f_0_103"/>
          <p:cNvSpPr txBox="1"/>
          <p:nvPr/>
        </p:nvSpPr>
        <p:spPr>
          <a:xfrm>
            <a:off x="705225" y="1273375"/>
            <a:ext cx="10816200" cy="53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ca" sz="1300"/>
              <a:t>Qu</a:t>
            </a:r>
            <a:r>
              <a:rPr b="1" lang="ca" sz="1300"/>
              <a:t>è</a:t>
            </a:r>
            <a:r>
              <a:rPr b="1" lang="ca" sz="1300"/>
              <a:t> s</a:t>
            </a:r>
            <a:r>
              <a:rPr b="1" lang="ca" sz="1300"/>
              <a:t>ó</a:t>
            </a:r>
            <a:r>
              <a:rPr b="1" lang="ca" sz="1300"/>
              <a:t>n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ca" sz="1300"/>
              <a:t>ACL mínima:</a:t>
            </a:r>
            <a:r>
              <a:rPr lang="ca" sz="1300"/>
              <a:t> nom</a:t>
            </a:r>
            <a:r>
              <a:rPr lang="ca" sz="1300"/>
              <a:t>és </a:t>
            </a:r>
            <a:r>
              <a:rPr lang="ca" sz="1300"/>
              <a:t>té</a:t>
            </a:r>
            <a:r>
              <a:rPr lang="ca" sz="1300"/>
              <a:t> </a:t>
            </a:r>
            <a:r>
              <a:rPr b="1" lang="ca" sz="1300"/>
              <a:t>3 entrades</a:t>
            </a:r>
            <a:r>
              <a:rPr lang="ca" sz="1300"/>
              <a:t> </a:t>
            </a:r>
            <a:r>
              <a:rPr lang="ca" sz="1300"/>
              <a:t>que</a:t>
            </a:r>
            <a:r>
              <a:rPr lang="ca" sz="1300"/>
              <a:t> equivalen als permisos </a:t>
            </a:r>
            <a:r>
              <a:rPr lang="ca" sz="1300"/>
              <a:t>clàssics</a:t>
            </a:r>
            <a:r>
              <a:rPr lang="ca" sz="1300"/>
              <a:t>. No afegeix res de nou.</a:t>
            </a:r>
            <a:endParaRPr sz="13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user::rw-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group::r--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other::---</a:t>
            </a:r>
            <a:endParaRPr sz="1300">
              <a:solidFill>
                <a:srgbClr val="14181F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ca" sz="1300"/>
              <a:t>ACL estesa :</a:t>
            </a:r>
            <a:r>
              <a:rPr lang="ca" sz="1300"/>
              <a:t> t</a:t>
            </a:r>
            <a:r>
              <a:rPr lang="ca" sz="1300"/>
              <a:t>é</a:t>
            </a:r>
            <a:r>
              <a:rPr lang="ca" sz="1300"/>
              <a:t> les 3 entrades i a m</a:t>
            </a:r>
            <a:r>
              <a:rPr lang="ca" sz="1300"/>
              <a:t>és, </a:t>
            </a:r>
            <a:r>
              <a:rPr lang="ca" sz="1300"/>
              <a:t>almenys una entrada d’usuari o grup amb nom. Llavors apareix tamb</a:t>
            </a:r>
            <a:r>
              <a:rPr lang="ca" sz="1300"/>
              <a:t>é la màscara</a:t>
            </a:r>
            <a:r>
              <a:rPr lang="ca" sz="1300"/>
              <a:t> </a:t>
            </a:r>
            <a:r>
              <a:rPr lang="ca" sz="1300"/>
              <a:t>(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mask::</a:t>
            </a:r>
            <a:r>
              <a:rPr lang="ca" sz="1300"/>
              <a:t>).</a:t>
            </a:r>
            <a:endParaRPr sz="13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user::rw-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user:joan:r--        ← usuari amb nom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group::r--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group:alumnat:r--    ← grup amb nom (opcional)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mask::r--            ← obligat</a:t>
            </a:r>
            <a:r>
              <a:rPr lang="ca" sz="1300">
                <a:solidFill>
                  <a:srgbClr val="14181F"/>
                </a:solidFill>
              </a:rPr>
              <a:t>ò</a:t>
            </a:r>
            <a:r>
              <a:rPr lang="ca" sz="1300">
                <a:solidFill>
                  <a:srgbClr val="14181F"/>
                </a:solidFill>
              </a:rPr>
              <a:t>ria si hi ha  entrades amb nom </a:t>
            </a:r>
            <a:endParaRPr sz="1300">
              <a:solidFill>
                <a:srgbClr val="14181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rgbClr val="14181F"/>
                </a:solidFill>
              </a:rPr>
              <a:t>other::---</a:t>
            </a:r>
            <a:endParaRPr sz="1300">
              <a:solidFill>
                <a:srgbClr val="14181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ca" sz="1500">
                <a:solidFill>
                  <a:srgbClr val="087DBE"/>
                </a:solidFill>
              </a:rPr>
              <a:t>La màscara limita els permisos efectius del grup propietari i dels usuaris i grups afegits a l'ACL</a:t>
            </a:r>
            <a:endParaRPr b="1" sz="1500">
              <a:solidFill>
                <a:srgbClr val="087DBE"/>
              </a:solidFill>
            </a:endParaRPr>
          </a:p>
        </p:txBody>
      </p:sp>
      <p:sp>
        <p:nvSpPr>
          <p:cNvPr id="145" name="Google Shape;145;h7e69cd57b07db49f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7e69cd57b07db49f_0_131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veure ACL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h7e69cd57b07db49f_0_131"/>
          <p:cNvSpPr/>
          <p:nvPr/>
        </p:nvSpPr>
        <p:spPr>
          <a:xfrm>
            <a:off x="621800" y="1318450"/>
            <a:ext cx="1103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508"/>
              <a:buFont typeface="Arial"/>
              <a:buNone/>
            </a:pPr>
            <a:r>
              <a:rPr lang="ca" sz="1508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Abans de canviar res, mirem els permisos actuals</a:t>
            </a:r>
            <a:endParaRPr sz="150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7e69cd57b07db49f_0_131"/>
          <p:cNvSpPr/>
          <p:nvPr/>
        </p:nvSpPr>
        <p:spPr>
          <a:xfrm>
            <a:off x="735927" y="1774906"/>
            <a:ext cx="5230800" cy="22326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450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00" lIns="95100" spcFirstLastPara="1" rIns="95100" wrap="square" tIns="9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7e69cd57b07db49f_0_131"/>
          <p:cNvSpPr/>
          <p:nvPr/>
        </p:nvSpPr>
        <p:spPr>
          <a:xfrm>
            <a:off x="926140" y="1993211"/>
            <a:ext cx="522900" cy="545700"/>
          </a:xfrm>
          <a:prstGeom prst="ellipse">
            <a:avLst/>
          </a:prstGeom>
          <a:solidFill>
            <a:srgbClr val="EAF3FB"/>
          </a:solidFill>
          <a:ln cap="flat" cmpd="sng" w="132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00" lIns="95100" spcFirstLastPara="1" rIns="95100" wrap="square" tIns="9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h7e69cd57b07db49f_0_131"/>
          <p:cNvSpPr/>
          <p:nvPr/>
        </p:nvSpPr>
        <p:spPr>
          <a:xfrm>
            <a:off x="1049778" y="2132133"/>
            <a:ext cx="27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56"/>
              <a:buFont typeface="Arial"/>
              <a:buNone/>
            </a:pPr>
            <a:r>
              <a:rPr lang="ca" sz="1456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🔎</a:t>
            </a:r>
            <a:endParaRPr sz="14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h7e69cd57b07db49f_0_131"/>
          <p:cNvSpPr/>
          <p:nvPr/>
        </p:nvSpPr>
        <p:spPr>
          <a:xfrm>
            <a:off x="1572862" y="2052749"/>
            <a:ext cx="416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72"/>
              <a:buFont typeface="Play"/>
              <a:buNone/>
            </a:pPr>
            <a:r>
              <a:rPr b="1" lang="ca" sz="1872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1. ls -l</a:t>
            </a:r>
            <a:endParaRPr sz="187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h7e69cd57b07db49f_0_131"/>
          <p:cNvSpPr/>
          <p:nvPr/>
        </p:nvSpPr>
        <p:spPr>
          <a:xfrm>
            <a:off x="1572874" y="2548902"/>
            <a:ext cx="41655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2157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64"/>
              <a:buFont typeface="Arial"/>
              <a:buChar char="●"/>
            </a:pPr>
            <a:r>
              <a:rPr lang="ca" sz="1464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Mostra els permisos tradicionals.</a:t>
            </a:r>
            <a:endParaRPr sz="146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157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64"/>
              <a:buFont typeface="Arial"/>
              <a:buChar char="●"/>
            </a:pPr>
            <a:r>
              <a:rPr lang="ca" sz="1464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Si veus un “+”, el fitxer té ACL addicionals.</a:t>
            </a:r>
            <a:endParaRPr sz="146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h7e69cd57b07db49f_0_131"/>
          <p:cNvSpPr/>
          <p:nvPr/>
        </p:nvSpPr>
        <p:spPr>
          <a:xfrm>
            <a:off x="6442302" y="1774906"/>
            <a:ext cx="5230800" cy="2232600"/>
          </a:xfrm>
          <a:prstGeom prst="roundRect">
            <a:avLst>
              <a:gd fmla="val 3556" name="adj"/>
            </a:avLst>
          </a:prstGeom>
          <a:solidFill>
            <a:srgbClr val="F9FCFF"/>
          </a:solidFill>
          <a:ln cap="flat" cmpd="sng" w="1450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00" lIns="95100" spcFirstLastPara="1" rIns="95100" wrap="square" tIns="9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h7e69cd57b07db49f_0_131"/>
          <p:cNvSpPr/>
          <p:nvPr/>
        </p:nvSpPr>
        <p:spPr>
          <a:xfrm>
            <a:off x="6670557" y="1903905"/>
            <a:ext cx="47742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92"/>
              <a:buFont typeface="Arial"/>
              <a:buNone/>
            </a:pPr>
            <a:r>
              <a:rPr b="1" lang="ca" sz="1492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4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7e69cd57b07db49f_0_131"/>
          <p:cNvSpPr/>
          <p:nvPr/>
        </p:nvSpPr>
        <p:spPr>
          <a:xfrm>
            <a:off x="6689572" y="2283358"/>
            <a:ext cx="4736400" cy="15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ls -l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-rw-r-----+ anna profes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El signe + indica que hi ha ACL.</a:t>
            </a:r>
            <a:endParaRPr sz="139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7e69cd57b07db49f_0_131"/>
          <p:cNvSpPr/>
          <p:nvPr/>
        </p:nvSpPr>
        <p:spPr>
          <a:xfrm>
            <a:off x="735925" y="4318277"/>
            <a:ext cx="5230800" cy="2170200"/>
          </a:xfrm>
          <a:prstGeom prst="roundRect">
            <a:avLst>
              <a:gd fmla="val 4324" name="adj"/>
            </a:avLst>
          </a:prstGeom>
          <a:solidFill>
            <a:schemeClr val="lt1"/>
          </a:solidFill>
          <a:ln cap="flat" cmpd="sng" w="1450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00" lIns="95100" spcFirstLastPara="1" rIns="95100" wrap="square" tIns="9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7e69cd57b07db49f_0_131"/>
          <p:cNvSpPr/>
          <p:nvPr/>
        </p:nvSpPr>
        <p:spPr>
          <a:xfrm>
            <a:off x="926140" y="4473951"/>
            <a:ext cx="522900" cy="545700"/>
          </a:xfrm>
          <a:prstGeom prst="ellipse">
            <a:avLst/>
          </a:prstGeom>
          <a:solidFill>
            <a:srgbClr val="EAF3FB"/>
          </a:solidFill>
          <a:ln cap="flat" cmpd="sng" w="132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00" lIns="95100" spcFirstLastPara="1" rIns="95100" wrap="square" tIns="9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h7e69cd57b07db49f_0_131"/>
          <p:cNvSpPr/>
          <p:nvPr/>
        </p:nvSpPr>
        <p:spPr>
          <a:xfrm>
            <a:off x="1049778" y="4612872"/>
            <a:ext cx="275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56"/>
              <a:buFont typeface="Arial"/>
              <a:buNone/>
            </a:pPr>
            <a:r>
              <a:rPr lang="ca" sz="1456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endParaRPr sz="14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7e69cd57b07db49f_0_131"/>
          <p:cNvSpPr/>
          <p:nvPr/>
        </p:nvSpPr>
        <p:spPr>
          <a:xfrm>
            <a:off x="1572862" y="4533489"/>
            <a:ext cx="416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72"/>
              <a:buFont typeface="Play"/>
              <a:buNone/>
            </a:pPr>
            <a:r>
              <a:rPr b="1" lang="ca" sz="1872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2. getfacl nom_recurs</a:t>
            </a:r>
            <a:endParaRPr sz="187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7e69cd57b07db49f_0_131"/>
          <p:cNvSpPr/>
          <p:nvPr/>
        </p:nvSpPr>
        <p:spPr>
          <a:xfrm>
            <a:off x="1572874" y="5029636"/>
            <a:ext cx="41655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18272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12"/>
              <a:buFont typeface="Arial"/>
              <a:buChar char="●"/>
            </a:pPr>
            <a:r>
              <a:rPr lang="ca" sz="1412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Mostra la llista ACL completa.</a:t>
            </a:r>
            <a:endParaRPr sz="141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272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12"/>
              <a:buFont typeface="Arial"/>
              <a:buChar char="●"/>
            </a:pPr>
            <a:r>
              <a:rPr lang="ca" sz="1412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Permet veure usuaris i grups afegits com a excepció.</a:t>
            </a:r>
            <a:endParaRPr sz="141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7e69cd57b07db49f_0_131"/>
          <p:cNvSpPr/>
          <p:nvPr/>
        </p:nvSpPr>
        <p:spPr>
          <a:xfrm>
            <a:off x="6442297" y="4255649"/>
            <a:ext cx="5230800" cy="2232600"/>
          </a:xfrm>
          <a:prstGeom prst="roundRect">
            <a:avLst>
              <a:gd fmla="val 4324" name="adj"/>
            </a:avLst>
          </a:prstGeom>
          <a:solidFill>
            <a:srgbClr val="F9FCFF"/>
          </a:solidFill>
          <a:ln cap="flat" cmpd="sng" w="1450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00" lIns="95100" spcFirstLastPara="1" rIns="95100" wrap="square" tIns="9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h7e69cd57b07db49f_0_131"/>
          <p:cNvSpPr/>
          <p:nvPr/>
        </p:nvSpPr>
        <p:spPr>
          <a:xfrm>
            <a:off x="6670557" y="4384644"/>
            <a:ext cx="47742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100" spcFirstLastPara="1" rIns="95100" wrap="square" tIns="47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92"/>
              <a:buFont typeface="Arial"/>
              <a:buNone/>
            </a:pPr>
            <a:r>
              <a:rPr b="1" lang="ca" sz="1492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 simplificat</a:t>
            </a:r>
            <a:endParaRPr sz="14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7e69cd57b07db49f_0_131"/>
          <p:cNvSpPr/>
          <p:nvPr/>
        </p:nvSpPr>
        <p:spPr>
          <a:xfrm>
            <a:off x="6689575" y="4704951"/>
            <a:ext cx="4736400" cy="171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getfacl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user::rw-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user:joan:r--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group::r--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mask::r</a:t>
            </a: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other::---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h7e69cd57b07db49f_0_1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7e69cd57b07db49f_0_163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donar permisos a un usuari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7e69cd57b07db49f_0_163"/>
          <p:cNvSpPr/>
          <p:nvPr/>
        </p:nvSpPr>
        <p:spPr>
          <a:xfrm>
            <a:off x="621792" y="1389946"/>
            <a:ext cx="10607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Quan un usuari concret necessita un permís especial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7e69cd57b07db49f_0_163"/>
          <p:cNvSpPr/>
          <p:nvPr/>
        </p:nvSpPr>
        <p:spPr>
          <a:xfrm>
            <a:off x="731525" y="1810575"/>
            <a:ext cx="5029200" cy="37779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7e69cd57b07db49f_0_163"/>
          <p:cNvSpPr/>
          <p:nvPr/>
        </p:nvSpPr>
        <p:spPr>
          <a:xfrm>
            <a:off x="914400" y="2011738"/>
            <a:ext cx="502800" cy="502800"/>
          </a:xfrm>
          <a:prstGeom prst="ellipse">
            <a:avLst/>
          </a:prstGeom>
          <a:solidFill>
            <a:srgbClr val="EAF3FB"/>
          </a:solidFill>
          <a:ln cap="flat" cmpd="sng" w="127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h7e69cd57b07db49f_0_163"/>
          <p:cNvSpPr/>
          <p:nvPr/>
        </p:nvSpPr>
        <p:spPr>
          <a:xfrm>
            <a:off x="1033272" y="2139754"/>
            <a:ext cx="265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⌨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7e69cd57b07db49f_0_163"/>
          <p:cNvSpPr/>
          <p:nvPr/>
        </p:nvSpPr>
        <p:spPr>
          <a:xfrm>
            <a:off x="1536192" y="2066602"/>
            <a:ext cx="400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00"/>
              <a:buFont typeface="Play"/>
              <a:buNone/>
            </a:pPr>
            <a:r>
              <a:rPr b="1" lang="ca" sz="1800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Comanda bàsica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7e69cd57b07db49f_0_163"/>
          <p:cNvSpPr/>
          <p:nvPr/>
        </p:nvSpPr>
        <p:spPr>
          <a:xfrm>
            <a:off x="1139950" y="2523800"/>
            <a:ext cx="4590300" cy="28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143B63"/>
                </a:solidFill>
              </a:rPr>
              <a:t>setfacl -m modifica</a:t>
            </a:r>
            <a:r>
              <a:rPr lang="ca" sz="12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 o afegeix una ACL. </a:t>
            </a:r>
            <a:endParaRPr sz="1200">
              <a:solidFill>
                <a:srgbClr val="143B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>
                <a:solidFill>
                  <a:srgbClr val="143B63"/>
                </a:solidFill>
              </a:rPr>
              <a:t>És </a:t>
            </a:r>
            <a:r>
              <a:rPr lang="ca" sz="1200">
                <a:solidFill>
                  <a:srgbClr val="143B63"/>
                </a:solidFill>
              </a:rPr>
              <a:t>vàlid</a:t>
            </a:r>
            <a:r>
              <a:rPr lang="ca" sz="1200">
                <a:solidFill>
                  <a:srgbClr val="143B63"/>
                </a:solidFill>
              </a:rPr>
              <a:t> utilitzar tant user com el seu nom curt: u ( normalment s’utilitza u per ser més curt)</a:t>
            </a:r>
            <a:endParaRPr sz="1200">
              <a:solidFill>
                <a:srgbClr val="143B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43B63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200"/>
              <a:buFont typeface="Arial"/>
              <a:buChar char="●"/>
            </a:pPr>
            <a:r>
              <a:rPr lang="ca" sz="12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u:usuari:permisos aplica la regla a un usuari.</a:t>
            </a:r>
            <a:endParaRPr sz="1200">
              <a:solidFill>
                <a:srgbClr val="143B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143B63"/>
                </a:solidFill>
              </a:rPr>
              <a:t>user o u::permisos</a:t>
            </a:r>
            <a:r>
              <a:rPr i="1" lang="ca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propietari</a:t>
            </a:r>
            <a:endParaRPr i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143B63"/>
                </a:solidFill>
              </a:rPr>
              <a:t>user o u:name:permisos</a:t>
            </a:r>
            <a:r>
              <a:rPr i="1" lang="ca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usuari amb nom name</a:t>
            </a:r>
            <a:endParaRPr i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200"/>
              <a:buChar char="●"/>
            </a:pPr>
            <a:r>
              <a:rPr lang="ca" sz="1200">
                <a:solidFill>
                  <a:srgbClr val="143B63"/>
                </a:solidFill>
              </a:rPr>
              <a:t>Permisos de sempre: </a:t>
            </a:r>
            <a:r>
              <a:rPr lang="ca" sz="12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r = llegir · w = escriure · x = executar o entrar en carpeta.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7e69cd57b07db49f_0_163"/>
          <p:cNvSpPr/>
          <p:nvPr/>
        </p:nvSpPr>
        <p:spPr>
          <a:xfrm>
            <a:off x="6218050" y="1810575"/>
            <a:ext cx="5376600" cy="3777900"/>
          </a:xfrm>
          <a:prstGeom prst="roundRect">
            <a:avLst>
              <a:gd fmla="val 4000" name="adj"/>
            </a:avLst>
          </a:prstGeom>
          <a:solidFill>
            <a:srgbClr val="F9FCFF"/>
          </a:solidFill>
          <a:ln cap="flat" cmpd="sng" w="1395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7e69cd57b07db49f_0_163"/>
          <p:cNvSpPr/>
          <p:nvPr/>
        </p:nvSpPr>
        <p:spPr>
          <a:xfrm>
            <a:off x="6437501" y="1929442"/>
            <a:ext cx="459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50"/>
              <a:buFont typeface="Arial"/>
              <a:buNone/>
            </a:pPr>
            <a:r>
              <a:rPr b="1"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7e69cd57b07db49f_0_163"/>
          <p:cNvSpPr/>
          <p:nvPr/>
        </p:nvSpPr>
        <p:spPr>
          <a:xfrm>
            <a:off x="6437500" y="2340800"/>
            <a:ext cx="4974300" cy="265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Donar lectura a joan ( utilitzant u)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u:joan:r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Donar lectura a joan ( utilitzant equivalent user)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user:joan:r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Deixar el propietari només amb permís de lectura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u::r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Comprovar-ho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getfacl informe.txt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7e69cd57b07db49f_0_16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7e69cd57b07db49f_0_306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donar permisos a un usuari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h7e69cd57b07db49f_0_306"/>
          <p:cNvSpPr/>
          <p:nvPr/>
        </p:nvSpPr>
        <p:spPr>
          <a:xfrm>
            <a:off x="621792" y="1389946"/>
            <a:ext cx="10607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Quan un usuari concret necessita un permís especial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7e69cd57b07db49f_0_306"/>
          <p:cNvSpPr/>
          <p:nvPr/>
        </p:nvSpPr>
        <p:spPr>
          <a:xfrm>
            <a:off x="585150" y="1901450"/>
            <a:ext cx="5029200" cy="2390100"/>
          </a:xfrm>
          <a:prstGeom prst="roundRect">
            <a:avLst>
              <a:gd fmla="val 5161" name="adj"/>
            </a:avLst>
          </a:prstGeom>
          <a:solidFill>
            <a:srgbClr val="FFF4D8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7e69cd57b07db49f_0_306"/>
          <p:cNvSpPr/>
          <p:nvPr/>
        </p:nvSpPr>
        <p:spPr>
          <a:xfrm>
            <a:off x="874699" y="2193386"/>
            <a:ext cx="502800" cy="729600"/>
          </a:xfrm>
          <a:prstGeom prst="ellipse">
            <a:avLst/>
          </a:prstGeom>
          <a:solidFill>
            <a:srgbClr val="EAF3FB"/>
          </a:solidFill>
          <a:ln cap="flat" cmpd="sng" w="127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7e69cd57b07db49f_0_306"/>
          <p:cNvSpPr/>
          <p:nvPr/>
        </p:nvSpPr>
        <p:spPr>
          <a:xfrm>
            <a:off x="993571" y="2379164"/>
            <a:ext cx="265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7e69cd57b07db49f_0_306"/>
          <p:cNvSpPr/>
          <p:nvPr/>
        </p:nvSpPr>
        <p:spPr>
          <a:xfrm>
            <a:off x="1496490" y="2273005"/>
            <a:ext cx="4005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00"/>
              <a:buFont typeface="Play"/>
              <a:buNone/>
            </a:pPr>
            <a:r>
              <a:rPr b="1" lang="ca" sz="1800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Per què no chmod?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7e69cd57b07db49f_0_306"/>
          <p:cNvSpPr/>
          <p:nvPr/>
        </p:nvSpPr>
        <p:spPr>
          <a:xfrm>
            <a:off x="1496490" y="2936497"/>
            <a:ext cx="40050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53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Amb chmod podríem </a:t>
            </a:r>
            <a:r>
              <a:rPr lang="ca" sz="1530">
                <a:solidFill>
                  <a:srgbClr val="143B63"/>
                </a:solidFill>
              </a:rPr>
              <a:t>donar</a:t>
            </a:r>
            <a:r>
              <a:rPr lang="ca" sz="153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 permisos al grup al qual</a:t>
            </a:r>
            <a:r>
              <a:rPr lang="ca" sz="1530">
                <a:solidFill>
                  <a:srgbClr val="143B63"/>
                </a:solidFill>
              </a:rPr>
              <a:t> </a:t>
            </a:r>
            <a:r>
              <a:rPr lang="ca" sz="153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pertany </a:t>
            </a:r>
            <a:r>
              <a:rPr lang="ca" sz="1530">
                <a:solidFill>
                  <a:srgbClr val="143B63"/>
                </a:solidFill>
              </a:rPr>
              <a:t>J</a:t>
            </a:r>
            <a:r>
              <a:rPr lang="ca" sz="153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oan o a altres.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53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Però aquí només volem donar accés a joan.</a:t>
            </a:r>
            <a:endParaRPr sz="15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7e69cd57b07db49f_0_306"/>
          <p:cNvSpPr/>
          <p:nvPr/>
        </p:nvSpPr>
        <p:spPr>
          <a:xfrm>
            <a:off x="6071650" y="1901450"/>
            <a:ext cx="5376600" cy="2390100"/>
          </a:xfrm>
          <a:prstGeom prst="roundRect">
            <a:avLst>
              <a:gd fmla="val 6667" name="adj"/>
            </a:avLst>
          </a:prstGeom>
          <a:solidFill>
            <a:srgbClr val="DFF2E8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7e69cd57b07db49f_0_306"/>
          <p:cNvSpPr/>
          <p:nvPr/>
        </p:nvSpPr>
        <p:spPr>
          <a:xfrm>
            <a:off x="6379500" y="2326085"/>
            <a:ext cx="4626900" cy="13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b="1"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Conclusió: ACL és ideal per a excepcions puntuals sense canviar tota l’estructura de permisos.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7e69cd57b07db49f_0_30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7e69cd57b07db49f_0_194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permisos a grups i carpetes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h7e69cd57b07db49f_0_194"/>
          <p:cNvSpPr/>
          <p:nvPr/>
        </p:nvSpPr>
        <p:spPr>
          <a:xfrm>
            <a:off x="502825" y="1284800"/>
            <a:ext cx="1101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Els grups són la manera neta de donar permisos a diverses persones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7e69cd57b07db49f_0_194"/>
          <p:cNvSpPr/>
          <p:nvPr/>
        </p:nvSpPr>
        <p:spPr>
          <a:xfrm>
            <a:off x="616825" y="1705425"/>
            <a:ext cx="5225100" cy="40137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7e69cd57b07db49f_0_194"/>
          <p:cNvSpPr/>
          <p:nvPr/>
        </p:nvSpPr>
        <p:spPr>
          <a:xfrm>
            <a:off x="806823" y="1906592"/>
            <a:ext cx="522300" cy="502800"/>
          </a:xfrm>
          <a:prstGeom prst="ellipse">
            <a:avLst/>
          </a:prstGeom>
          <a:solidFill>
            <a:srgbClr val="EAF3FB"/>
          </a:solidFill>
          <a:ln cap="flat" cmpd="sng" w="127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7e69cd57b07db49f_0_194"/>
          <p:cNvSpPr/>
          <p:nvPr/>
        </p:nvSpPr>
        <p:spPr>
          <a:xfrm>
            <a:off x="930322" y="2034608"/>
            <a:ext cx="275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7e69cd57b07db49f_0_194"/>
          <p:cNvSpPr/>
          <p:nvPr/>
        </p:nvSpPr>
        <p:spPr>
          <a:xfrm>
            <a:off x="1452819" y="1961456"/>
            <a:ext cx="416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00"/>
              <a:buFont typeface="Play"/>
              <a:buNone/>
            </a:pPr>
            <a:r>
              <a:rPr b="1" lang="ca" sz="1800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Permisos a un grup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7e69cd57b07db49f_0_194"/>
          <p:cNvSpPr/>
          <p:nvPr/>
        </p:nvSpPr>
        <p:spPr>
          <a:xfrm>
            <a:off x="864525" y="2418650"/>
            <a:ext cx="48276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550"/>
              <a:buChar char="●"/>
            </a:pPr>
            <a:r>
              <a:rPr b="1" lang="ca" sz="1550">
                <a:solidFill>
                  <a:srgbClr val="143B63"/>
                </a:solidFill>
              </a:rPr>
              <a:t>g o group:</a:t>
            </a:r>
            <a:r>
              <a:rPr b="1" lang="ca" sz="1550">
                <a:solidFill>
                  <a:srgbClr val="143B63"/>
                </a:solidFill>
              </a:rPr>
              <a:t>nom_grup</a:t>
            </a:r>
            <a:r>
              <a:rPr b="1" lang="ca" sz="1550">
                <a:solidFill>
                  <a:srgbClr val="143B63"/>
                </a:solidFill>
              </a:rPr>
              <a:t>:permisos</a:t>
            </a:r>
            <a:r>
              <a:rPr lang="ca" sz="155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 aplica la regla a un grup.</a:t>
            </a:r>
            <a:endParaRPr sz="1550">
              <a:solidFill>
                <a:srgbClr val="143B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143B63"/>
              </a:solidFill>
            </a:endParaRPr>
          </a:p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550"/>
              <a:buChar char="●"/>
            </a:pPr>
            <a:r>
              <a:rPr b="1" lang="ca" sz="1550">
                <a:solidFill>
                  <a:srgbClr val="143B63"/>
                </a:solidFill>
              </a:rPr>
              <a:t>g o group::permisos </a:t>
            </a:r>
            <a:r>
              <a:rPr lang="ca" sz="1550">
                <a:solidFill>
                  <a:srgbClr val="143B63"/>
                </a:solidFill>
              </a:rPr>
              <a:t>aplica la regla al grup propietari del recurs</a:t>
            </a:r>
            <a:endParaRPr sz="1550">
              <a:solidFill>
                <a:srgbClr val="143B63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143B63"/>
              </a:solidFill>
            </a:endParaRPr>
          </a:p>
          <a:p>
            <a:pPr indent="-327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550"/>
              <a:buFont typeface="Arial"/>
              <a:buChar char="●"/>
            </a:pPr>
            <a:r>
              <a:rPr lang="ca" sz="155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És millor que repetir permisos usuari per usuari.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7e69cd57b07db49f_0_194"/>
          <p:cNvSpPr/>
          <p:nvPr/>
        </p:nvSpPr>
        <p:spPr>
          <a:xfrm>
            <a:off x="6316775" y="1705425"/>
            <a:ext cx="5225100" cy="4013700"/>
          </a:xfrm>
          <a:prstGeom prst="roundRect">
            <a:avLst>
              <a:gd fmla="val 3902" name="adj"/>
            </a:avLst>
          </a:prstGeom>
          <a:solidFill>
            <a:srgbClr val="F9FCFF"/>
          </a:solidFill>
          <a:ln cap="flat" cmpd="sng" w="1395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7e69cd57b07db49f_0_194"/>
          <p:cNvSpPr/>
          <p:nvPr/>
        </p:nvSpPr>
        <p:spPr>
          <a:xfrm>
            <a:off x="6544784" y="1824296"/>
            <a:ext cx="476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50"/>
              <a:buFont typeface="Arial"/>
              <a:buNone/>
            </a:pPr>
            <a:r>
              <a:rPr b="1"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7e69cd57b07db49f_0_194"/>
          <p:cNvSpPr/>
          <p:nvPr/>
        </p:nvSpPr>
        <p:spPr>
          <a:xfrm>
            <a:off x="6563775" y="2176426"/>
            <a:ext cx="4731000" cy="345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El grup profes pot llegir i escriure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g:profes:rw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Si fiquem group és equivalent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group:profes:rw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El grup propietari pot llegir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g::r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El grup alumnes només pot llegir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g:alumnes:r informe.txt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7e69cd57b07db49f_0_19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7e69cd57b07db49f_0_260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permisos a grups i carpetes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h7e69cd57b07db49f_0_260"/>
          <p:cNvSpPr/>
          <p:nvPr/>
        </p:nvSpPr>
        <p:spPr>
          <a:xfrm>
            <a:off x="502825" y="1284800"/>
            <a:ext cx="1101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Els grups són la manera neta de donar permisos a diverses persones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7e69cd57b07db49f_0_260"/>
          <p:cNvSpPr/>
          <p:nvPr/>
        </p:nvSpPr>
        <p:spPr>
          <a:xfrm>
            <a:off x="566500" y="1984050"/>
            <a:ext cx="5225100" cy="2737500"/>
          </a:xfrm>
          <a:prstGeom prst="roundRect">
            <a:avLst>
              <a:gd fmla="val 4444" name="adj"/>
            </a:avLst>
          </a:prstGeom>
          <a:solidFill>
            <a:schemeClr val="lt1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7e69cd57b07db49f_0_260"/>
          <p:cNvSpPr/>
          <p:nvPr/>
        </p:nvSpPr>
        <p:spPr>
          <a:xfrm>
            <a:off x="756499" y="2235877"/>
            <a:ext cx="522300" cy="629400"/>
          </a:xfrm>
          <a:prstGeom prst="ellipse">
            <a:avLst/>
          </a:prstGeom>
          <a:solidFill>
            <a:srgbClr val="EAF3FB"/>
          </a:solidFill>
          <a:ln cap="flat" cmpd="sng" w="127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7e69cd57b07db49f_0_260"/>
          <p:cNvSpPr/>
          <p:nvPr/>
        </p:nvSpPr>
        <p:spPr>
          <a:xfrm>
            <a:off x="879998" y="2396130"/>
            <a:ext cx="2754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📁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7e69cd57b07db49f_0_260"/>
          <p:cNvSpPr/>
          <p:nvPr/>
        </p:nvSpPr>
        <p:spPr>
          <a:xfrm>
            <a:off x="1402494" y="2304557"/>
            <a:ext cx="41610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00"/>
              <a:buFont typeface="Play"/>
              <a:buNone/>
            </a:pPr>
            <a:r>
              <a:rPr b="1" lang="ca" sz="1800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Carpetes: permís 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7e69cd57b07db49f_0_260"/>
          <p:cNvSpPr/>
          <p:nvPr/>
        </p:nvSpPr>
        <p:spPr>
          <a:xfrm>
            <a:off x="1155401" y="2876882"/>
            <a:ext cx="44082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En carpetes, x vol dir poder entrar-hi.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Per veure contingut: r + x.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Per crear o esborrar: w + x.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7e69cd57b07db49f_0_260"/>
          <p:cNvSpPr/>
          <p:nvPr/>
        </p:nvSpPr>
        <p:spPr>
          <a:xfrm>
            <a:off x="6254125" y="1984050"/>
            <a:ext cx="5225100" cy="2823900"/>
          </a:xfrm>
          <a:prstGeom prst="roundRect">
            <a:avLst>
              <a:gd fmla="val 4444" name="adj"/>
            </a:avLst>
          </a:prstGeom>
          <a:solidFill>
            <a:srgbClr val="F9FCFF"/>
          </a:solidFill>
          <a:ln cap="flat" cmpd="sng" w="1395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7e69cd57b07db49f_0_260"/>
          <p:cNvSpPr/>
          <p:nvPr/>
        </p:nvSpPr>
        <p:spPr>
          <a:xfrm>
            <a:off x="6482134" y="2102922"/>
            <a:ext cx="476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50"/>
              <a:buFont typeface="Arial"/>
              <a:buNone/>
            </a:pPr>
            <a:r>
              <a:rPr b="1"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Exemples amb carpetes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7e69cd57b07db49f_0_260"/>
          <p:cNvSpPr/>
          <p:nvPr/>
        </p:nvSpPr>
        <p:spPr>
          <a:xfrm>
            <a:off x="6501175" y="2491800"/>
            <a:ext cx="4731000" cy="187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joan pot entrar i llegir la carpeta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setfacl -m u:joan:rx projecte/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profes pot treballar dins la carpeta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setfacl -m g:profes:rwx projecte/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7e69cd57b07db49f_0_26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7e69cd57b07db49f_0_226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· treure ACL i permisos per defecte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h7e69cd57b07db49f_0_226"/>
          <p:cNvSpPr/>
          <p:nvPr/>
        </p:nvSpPr>
        <p:spPr>
          <a:xfrm>
            <a:off x="621792" y="1393209"/>
            <a:ext cx="10607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També cal saber desfer canvis i preparar carpetes compartides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7e69cd57b07db49f_0_226"/>
          <p:cNvSpPr/>
          <p:nvPr/>
        </p:nvSpPr>
        <p:spPr>
          <a:xfrm>
            <a:off x="731500" y="1863075"/>
            <a:ext cx="5330100" cy="32550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h7e69cd57b07db49f_0_226"/>
          <p:cNvSpPr/>
          <p:nvPr/>
        </p:nvSpPr>
        <p:spPr>
          <a:xfrm>
            <a:off x="914375" y="2064238"/>
            <a:ext cx="502800" cy="502800"/>
          </a:xfrm>
          <a:prstGeom prst="ellipse">
            <a:avLst/>
          </a:prstGeom>
          <a:solidFill>
            <a:srgbClr val="EAF3FB"/>
          </a:solidFill>
          <a:ln cap="flat" cmpd="sng" w="127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7e69cd57b07db49f_0_226"/>
          <p:cNvSpPr/>
          <p:nvPr/>
        </p:nvSpPr>
        <p:spPr>
          <a:xfrm>
            <a:off x="1033247" y="2192254"/>
            <a:ext cx="265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h7e69cd57b07db49f_0_226"/>
          <p:cNvSpPr/>
          <p:nvPr/>
        </p:nvSpPr>
        <p:spPr>
          <a:xfrm>
            <a:off x="1536167" y="2119102"/>
            <a:ext cx="400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00"/>
              <a:buFont typeface="Play"/>
              <a:buNone/>
            </a:pPr>
            <a:r>
              <a:rPr b="1" lang="ca" sz="1800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Treure ACL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h7e69cd57b07db49f_0_226"/>
          <p:cNvSpPr/>
          <p:nvPr/>
        </p:nvSpPr>
        <p:spPr>
          <a:xfrm>
            <a:off x="1126075" y="2850350"/>
            <a:ext cx="4763100" cy="18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270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550"/>
              <a:buChar char="●"/>
            </a:pPr>
            <a:r>
              <a:rPr b="1" lang="ca" sz="1550">
                <a:solidFill>
                  <a:srgbClr val="143B63"/>
                </a:solidFill>
              </a:rPr>
              <a:t>setfacl -x elimina una entrada concreta.</a:t>
            </a:r>
            <a:endParaRPr b="1" sz="1550">
              <a:solidFill>
                <a:schemeClr val="dk1"/>
              </a:solidFill>
            </a:endParaRPr>
          </a:p>
          <a:p>
            <a:pPr indent="-3270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550"/>
              <a:buChar char="●"/>
            </a:pPr>
            <a:r>
              <a:rPr b="1" lang="ca" sz="1550">
                <a:solidFill>
                  <a:srgbClr val="143B63"/>
                </a:solidFill>
              </a:rPr>
              <a:t>setfacl -b elimina totes les ACL addicionals.</a:t>
            </a:r>
            <a:endParaRPr b="1" sz="1550">
              <a:solidFill>
                <a:schemeClr val="dk1"/>
              </a:solidFill>
            </a:endParaRPr>
          </a:p>
          <a:p>
            <a:pPr indent="-3270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550"/>
              <a:buFont typeface="Arial"/>
              <a:buChar char="●"/>
            </a:pPr>
            <a:r>
              <a:rPr lang="ca" sz="155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Els permisos tradicionals continuen existint.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h7e69cd57b07db49f_0_226"/>
          <p:cNvSpPr/>
          <p:nvPr/>
        </p:nvSpPr>
        <p:spPr>
          <a:xfrm>
            <a:off x="6455600" y="1863075"/>
            <a:ext cx="5160900" cy="3191100"/>
          </a:xfrm>
          <a:prstGeom prst="roundRect">
            <a:avLst>
              <a:gd fmla="val 3636" name="adj"/>
            </a:avLst>
          </a:prstGeom>
          <a:solidFill>
            <a:srgbClr val="F9FCFF"/>
          </a:solidFill>
          <a:ln cap="flat" cmpd="sng" w="1395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h7e69cd57b07db49f_0_226"/>
          <p:cNvSpPr/>
          <p:nvPr/>
        </p:nvSpPr>
        <p:spPr>
          <a:xfrm>
            <a:off x="6806831" y="1956498"/>
            <a:ext cx="45903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50"/>
              <a:buFont typeface="Arial"/>
              <a:buNone/>
            </a:pPr>
            <a:r>
              <a:rPr b="1" lang="ca" sz="15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7e69cd57b07db49f_0_226"/>
          <p:cNvSpPr/>
          <p:nvPr/>
        </p:nvSpPr>
        <p:spPr>
          <a:xfrm>
            <a:off x="6825119" y="2585264"/>
            <a:ext cx="4553700" cy="211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Treure la regla de joan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-x u:joan informe.txt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Treure totes les ACL addicionals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-b informe.txt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h7e69cd57b07db49f_0_22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7e69cd57b07db49f_0_283"/>
          <p:cNvSpPr/>
          <p:nvPr/>
        </p:nvSpPr>
        <p:spPr>
          <a:xfrm>
            <a:off x="621792" y="502920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8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ermisos per defecte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h7e69cd57b07db49f_0_283"/>
          <p:cNvSpPr/>
          <p:nvPr/>
        </p:nvSpPr>
        <p:spPr>
          <a:xfrm>
            <a:off x="554975" y="1712626"/>
            <a:ext cx="5029200" cy="3144600"/>
          </a:xfrm>
          <a:prstGeom prst="roundRect">
            <a:avLst>
              <a:gd fmla="val 4571" name="adj"/>
            </a:avLst>
          </a:prstGeom>
          <a:solidFill>
            <a:srgbClr val="DFF2E8"/>
          </a:solidFill>
          <a:ln cap="flat" cmpd="sng" w="13950">
            <a:solidFill>
              <a:srgbClr val="9CC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7e69cd57b07db49f_0_283"/>
          <p:cNvSpPr/>
          <p:nvPr/>
        </p:nvSpPr>
        <p:spPr>
          <a:xfrm>
            <a:off x="737850" y="1913803"/>
            <a:ext cx="502800" cy="502800"/>
          </a:xfrm>
          <a:prstGeom prst="ellipse">
            <a:avLst/>
          </a:prstGeom>
          <a:solidFill>
            <a:srgbClr val="EAF3FB"/>
          </a:solidFill>
          <a:ln cap="flat" cmpd="sng" w="12700">
            <a:solidFill>
              <a:srgbClr val="EAF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7e69cd57b07db49f_0_283"/>
          <p:cNvSpPr/>
          <p:nvPr/>
        </p:nvSpPr>
        <p:spPr>
          <a:xfrm>
            <a:off x="856722" y="2041819"/>
            <a:ext cx="265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00"/>
              <a:buFont typeface="Arial"/>
              <a:buNone/>
            </a:pPr>
            <a:r>
              <a:rPr lang="ca" sz="140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↧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h7e69cd57b07db49f_0_283"/>
          <p:cNvSpPr/>
          <p:nvPr/>
        </p:nvSpPr>
        <p:spPr>
          <a:xfrm>
            <a:off x="1359642" y="1968667"/>
            <a:ext cx="400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800"/>
              <a:buFont typeface="Play"/>
              <a:buNone/>
            </a:pPr>
            <a:r>
              <a:rPr b="1" lang="ca" sz="1800">
                <a:solidFill>
                  <a:srgbClr val="143B63"/>
                </a:solidFill>
                <a:latin typeface="Play"/>
                <a:ea typeface="Play"/>
                <a:cs typeface="Play"/>
                <a:sym typeface="Play"/>
              </a:rPr>
              <a:t>ACL per defecte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7e69cd57b07db49f_0_283"/>
          <p:cNvSpPr/>
          <p:nvPr/>
        </p:nvSpPr>
        <p:spPr>
          <a:xfrm>
            <a:off x="975350" y="2425875"/>
            <a:ext cx="4389300" cy="20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200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40"/>
              <a:buFont typeface="Arial"/>
              <a:buChar char="●"/>
            </a:pPr>
            <a:r>
              <a:rPr lang="ca" sz="144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S’apliquen a una carpeta.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40"/>
              <a:buFont typeface="Arial"/>
              <a:buChar char="●"/>
            </a:pPr>
            <a:r>
              <a:rPr lang="ca" sz="144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Els fitxers nous creats dins poden heretar permisos.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1440"/>
              <a:buFont typeface="Arial"/>
              <a:buChar char="●"/>
            </a:pPr>
            <a:r>
              <a:rPr lang="ca" sz="1440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Són útils en carpetes de treball compartides.</a:t>
            </a:r>
            <a:endParaRPr sz="14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7e69cd57b07db49f_0_283"/>
          <p:cNvSpPr/>
          <p:nvPr/>
        </p:nvSpPr>
        <p:spPr>
          <a:xfrm>
            <a:off x="6041375" y="1712625"/>
            <a:ext cx="5536200" cy="3144600"/>
          </a:xfrm>
          <a:prstGeom prst="roundRect">
            <a:avLst>
              <a:gd fmla="val 4571" name="adj"/>
            </a:avLst>
          </a:prstGeom>
          <a:solidFill>
            <a:srgbClr val="F9FCFF"/>
          </a:solidFill>
          <a:ln cap="flat" cmpd="sng" w="13950">
            <a:solidFill>
              <a:srgbClr val="BBD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7e69cd57b07db49f_0_283"/>
          <p:cNvSpPr/>
          <p:nvPr/>
        </p:nvSpPr>
        <p:spPr>
          <a:xfrm>
            <a:off x="6260826" y="1831507"/>
            <a:ext cx="459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D89"/>
              </a:buClr>
              <a:buSzPts val="1050"/>
              <a:buFont typeface="Arial"/>
              <a:buNone/>
            </a:pPr>
            <a:r>
              <a:rPr b="1" lang="ca" sz="1450">
                <a:solidFill>
                  <a:srgbClr val="4E6D89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7e69cd57b07db49f_0_283"/>
          <p:cNvSpPr/>
          <p:nvPr/>
        </p:nvSpPr>
        <p:spPr>
          <a:xfrm>
            <a:off x="6279125" y="2307025"/>
            <a:ext cx="5063400" cy="202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1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b="1" lang="ca" sz="11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Els elements nous heretaran permisos per al grup profes</a:t>
            </a:r>
            <a:endParaRPr b="1" sz="11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setfacl -m d:g:profes:rwx projecte/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t/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Veure configuració</a:t>
            </a:r>
            <a:endParaRPr b="1" sz="1294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2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E42"/>
              </a:buClr>
              <a:buSzPts val="1394"/>
              <a:buFont typeface="Courier New"/>
              <a:buNone/>
            </a:pPr>
            <a:r>
              <a:rPr b="1" lang="ca" sz="1294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$ getfacl projecte/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7e69cd57b07db49f_0_28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264" name="Google Shape;264;h7e69cd57b07db49f_0_283"/>
          <p:cNvSpPr txBox="1"/>
          <p:nvPr/>
        </p:nvSpPr>
        <p:spPr>
          <a:xfrm>
            <a:off x="1937450" y="5426850"/>
            <a:ext cx="80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Les ACL per defecte defineixen els permisos que heretaran els nous fitxers i subcarpetes.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7e69cd57b07db49f_0_118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 mínima i estesa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h7e69cd57b07db49f_0_118"/>
          <p:cNvGraphicFramePr/>
          <p:nvPr/>
        </p:nvGraphicFramePr>
        <p:xfrm>
          <a:off x="5025150" y="2259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{50153560-13FC-4864-B91A-DFBC8653FB23}</a:tableStyleId>
              </a:tblPr>
              <a:tblGrid>
                <a:gridCol w="1515625"/>
                <a:gridCol w="2550225"/>
                <a:gridCol w="2477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600"/>
                        <a:t>Mínima</a:t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600"/>
                        <a:t>Estesa</a:t>
                      </a:r>
                      <a:endParaRPr b="1" sz="16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0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/>
                        <a:t>Entrades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/>
                        <a:t>3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/>
                        <a:t>3 + entrades amb nom + </a:t>
                      </a: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ls -l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-rw-r-----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-rw-r-----+</a:t>
                      </a:r>
                      <a:r>
                        <a:rPr lang="ca" sz="1300"/>
                        <a:t> (amb </a:t>
                      </a:r>
                      <a:r>
                        <a:rPr b="1" lang="ca" sz="1300"/>
                        <a:t>+</a:t>
                      </a:r>
                      <a:r>
                        <a:rPr lang="ca" sz="1300"/>
                        <a:t>)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getfacl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/>
                        <a:t>Mostra les 3 entrades bàsiques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/>
                        <a:t>Mostra les entrades bàsiques i les addicionals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/>
                        <a:t>Es gestiona amb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chmod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setfacl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72" name="Google Shape;272;h7e69cd57b07db49f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1382450"/>
            <a:ext cx="4254625" cy="370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h7e69cd57b07db49f_0_118"/>
          <p:cNvSpPr/>
          <p:nvPr/>
        </p:nvSpPr>
        <p:spPr>
          <a:xfrm>
            <a:off x="6391949" y="1687788"/>
            <a:ext cx="3216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rgbClr val="0A84D6"/>
                </a:solidFill>
                <a:latin typeface="Calibri"/>
                <a:ea typeface="Calibri"/>
                <a:cs typeface="Calibri"/>
                <a:sym typeface="Calibri"/>
              </a:rPr>
              <a:t>ACL mínima vs estesa</a:t>
            </a:r>
            <a:endParaRPr b="1" sz="1800">
              <a:solidFill>
                <a:srgbClr val="0A84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h7e69cd57b07db49f_0_118"/>
          <p:cNvSpPr txBox="1"/>
          <p:nvPr/>
        </p:nvSpPr>
        <p:spPr>
          <a:xfrm>
            <a:off x="726575" y="5614175"/>
            <a:ext cx="108417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Com </a:t>
            </a:r>
            <a:r>
              <a:rPr b="1" lang="ca">
                <a:solidFill>
                  <a:schemeClr val="dk1"/>
                </a:solidFill>
              </a:rPr>
              <a:t>reconèixer</a:t>
            </a:r>
            <a:r>
              <a:rPr b="1" lang="ca">
                <a:solidFill>
                  <a:schemeClr val="dk1"/>
                </a:solidFill>
              </a:rPr>
              <a:t>-les : Tot recurs del sistema de fitxers (fitxer o carpeta) té sempre una ACL mínima</a:t>
            </a:r>
            <a:r>
              <a:rPr lang="ca">
                <a:solidFill>
                  <a:schemeClr val="dk1"/>
                </a:solidFill>
              </a:rPr>
              <a:t>, malgrat mai hagis utilitzat 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setfacl</a:t>
            </a:r>
            <a:r>
              <a:rPr lang="ca">
                <a:solidFill>
                  <a:schemeClr val="dk1"/>
                </a:solidFill>
              </a:rPr>
              <a:t>. Passa a ser estesa quan afegeixes la primera entrada amb nom.</a:t>
            </a:r>
            <a:endParaRPr/>
          </a:p>
        </p:txBody>
      </p:sp>
      <p:sp>
        <p:nvSpPr>
          <p:cNvPr id="275" name="Google Shape;275;h7e69cd57b07db49f_0_1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"/>
          <p:cNvSpPr txBox="1"/>
          <p:nvPr/>
        </p:nvSpPr>
        <p:spPr>
          <a:xfrm>
            <a:off x="701107" y="529670"/>
            <a:ext cx="10789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Permisos tradicionals vs ACL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731600" y="1675722"/>
            <a:ext cx="5074800" cy="3655200"/>
          </a:xfrm>
          <a:prstGeom prst="rect">
            <a:avLst/>
          </a:prstGeom>
          <a:solidFill>
            <a:srgbClr val="F6FAFE"/>
          </a:solidFill>
          <a:ln cap="flat" cmpd="sng" w="15225">
            <a:solidFill>
              <a:srgbClr val="77B7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9725" lIns="1828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173F63"/>
                </a:solidFill>
              </a:rPr>
              <a:t>Permisos tradicionals</a:t>
            </a:r>
            <a:endParaRPr b="1" sz="1800"/>
          </a:p>
          <a:p>
            <a:pPr indent="0" lvl="0" marL="0" marR="0" rtl="0"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Treballen amb propietari, grup i altres.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Són simples i suficients en molts casos.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Continuen sent la base del sistema.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Ex.: </a:t>
            </a:r>
            <a:r>
              <a:rPr b="1" lang="ca" sz="1600">
                <a:solidFill>
                  <a:srgbClr val="173F63"/>
                </a:solidFill>
              </a:rPr>
              <a:t>chmod 640 informe.txt</a:t>
            </a:r>
            <a:endParaRPr b="1"/>
          </a:p>
        </p:txBody>
      </p:sp>
      <p:sp>
        <p:nvSpPr>
          <p:cNvPr id="283" name="Google Shape;283;p7"/>
          <p:cNvSpPr/>
          <p:nvPr/>
        </p:nvSpPr>
        <p:spPr>
          <a:xfrm>
            <a:off x="6263705" y="1675722"/>
            <a:ext cx="5074800" cy="3655200"/>
          </a:xfrm>
          <a:prstGeom prst="rect">
            <a:avLst/>
          </a:prstGeom>
          <a:solidFill>
            <a:srgbClr val="F6FAFE"/>
          </a:solidFill>
          <a:ln cap="flat" cmpd="sng" w="15225">
            <a:solidFill>
              <a:srgbClr val="77B7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9725" lIns="1828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173F63"/>
                </a:solidFill>
              </a:rPr>
              <a:t>ACL</a:t>
            </a:r>
            <a:endParaRPr b="1" sz="1600"/>
          </a:p>
          <a:p>
            <a:pPr indent="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Afegeixen entrades per a usuaris o grups concrets.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Serveixen per gestionar excepcions.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lang="ca" sz="1600">
                <a:solidFill>
                  <a:srgbClr val="173F63"/>
                </a:solidFill>
              </a:rPr>
              <a:t>A Linux, les ACL conviuen amb els permisos tradicionals i chmod. A Windows, els permisos NTFS ja estan basats en ACL.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600"/>
              <a:buFont typeface="Arial"/>
              <a:buChar char="●"/>
            </a:pPr>
            <a:r>
              <a:rPr b="0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Ex.: </a:t>
            </a:r>
            <a:r>
              <a:rPr b="1" lang="ca" sz="1600">
                <a:solidFill>
                  <a:srgbClr val="173F63"/>
                </a:solidFill>
              </a:rPr>
              <a:t>setfacl -m u:joan:r informe.txt</a:t>
            </a:r>
            <a:endParaRPr b="1"/>
          </a:p>
        </p:txBody>
      </p:sp>
      <p:sp>
        <p:nvSpPr>
          <p:cNvPr id="284" name="Google Shape;284;p7"/>
          <p:cNvSpPr/>
          <p:nvPr/>
        </p:nvSpPr>
        <p:spPr>
          <a:xfrm>
            <a:off x="1295390" y="5939480"/>
            <a:ext cx="9601200" cy="438900"/>
          </a:xfrm>
          <a:prstGeom prst="rect">
            <a:avLst/>
          </a:prstGeom>
          <a:solidFill>
            <a:srgbClr val="EAF2FA"/>
          </a:solidFill>
          <a:ln cap="flat" cmpd="sng" w="15225">
            <a:solidFill>
              <a:srgbClr val="B9D8F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09725" lIns="1828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Si veus un “+” a ls -l, el fitxer té ACL addicionals.</a:t>
            </a:r>
            <a:endParaRPr sz="1800"/>
          </a:p>
        </p:txBody>
      </p:sp>
      <p:sp>
        <p:nvSpPr>
          <p:cNvPr id="285" name="Google Shape;285;p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/>
          <p:nvPr/>
        </p:nvSpPr>
        <p:spPr>
          <a:xfrm>
            <a:off x="534925" y="1196525"/>
            <a:ext cx="10669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46300" spcFirstLastPara="1" rIns="1463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5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No és “un sistema o l’altre”: els permisos bàsics continuen sent la base, i les ACL afegeixen precisió quan cal.</a:t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701925" y="1827952"/>
            <a:ext cx="3572100" cy="3656700"/>
          </a:xfrm>
          <a:prstGeom prst="rect">
            <a:avLst/>
          </a:prstGeom>
          <a:solidFill>
            <a:srgbClr val="F6FAFE"/>
          </a:solidFill>
          <a:ln cap="flat" cmpd="sng" w="15225">
            <a:solidFill>
              <a:srgbClr val="77B7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173F63"/>
                </a:solidFill>
              </a:rPr>
              <a:t>1 · Base tradicional</a:t>
            </a:r>
            <a:endParaRPr b="1" sz="18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chmod defineix els permisos tradicionals, mentre que chown i chgrp defineixen el propietari i el grup propietari del recurs.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73F63"/>
              </a:buClr>
              <a:buSzPts val="1420"/>
              <a:buFont typeface="Arial"/>
              <a:buChar char="●"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propietari</a:t>
            </a:r>
            <a:endParaRPr/>
          </a:p>
          <a:p>
            <a:pPr indent="-318770" lvl="0" marL="4572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420"/>
              <a:buFont typeface="Arial"/>
              <a:buChar char="●"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grup p</a:t>
            </a: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ropietari</a:t>
            </a:r>
            <a:endParaRPr/>
          </a:p>
          <a:p>
            <a:pPr indent="-318770" lvl="0" marL="4572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420"/>
              <a:buFont typeface="Arial"/>
              <a:buChar char="●"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altres usuaris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Exemple: </a:t>
            </a:r>
            <a:r>
              <a:rPr b="1" lang="ca" sz="1420">
                <a:solidFill>
                  <a:srgbClr val="173F63"/>
                </a:solidFill>
              </a:rPr>
              <a:t>chmod 640 informe.txt</a:t>
            </a:r>
            <a:endParaRPr b="1"/>
          </a:p>
        </p:txBody>
      </p:sp>
      <p:sp>
        <p:nvSpPr>
          <p:cNvPr id="292" name="Google Shape;292;p8"/>
          <p:cNvSpPr/>
          <p:nvPr/>
        </p:nvSpPr>
        <p:spPr>
          <a:xfrm>
            <a:off x="4505862" y="1827952"/>
            <a:ext cx="3572100" cy="3656700"/>
          </a:xfrm>
          <a:prstGeom prst="rect">
            <a:avLst/>
          </a:prstGeom>
          <a:solidFill>
            <a:srgbClr val="EAF7F0"/>
          </a:solidFill>
          <a:ln cap="flat" cmpd="sng" w="15225">
            <a:solidFill>
              <a:srgbClr val="A7D6B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173F63"/>
                </a:solidFill>
              </a:rPr>
              <a:t>2 · ACL addicional</a:t>
            </a:r>
            <a:endParaRPr b="1" sz="18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Quan cal una excepció, afegim una entrada concreta sense canviar tota l’estructura.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Exemple: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ca" sz="1420">
                <a:solidFill>
                  <a:srgbClr val="173F63"/>
                </a:solidFill>
              </a:rPr>
              <a:t>setfacl -m u:joan:r informe.txt</a:t>
            </a:r>
            <a:endParaRPr b="1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Joan obté lectura només en aquest fitxer.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8309798" y="1827952"/>
            <a:ext cx="3293400" cy="3656700"/>
          </a:xfrm>
          <a:prstGeom prst="rect">
            <a:avLst/>
          </a:prstGeom>
          <a:solidFill>
            <a:srgbClr val="FFF3D7"/>
          </a:solidFill>
          <a:ln cap="flat" cmpd="sng" w="15225">
            <a:solidFill>
              <a:srgbClr val="E7C77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173F63"/>
                </a:solidFill>
              </a:rPr>
              <a:t>3 · Convivència</a:t>
            </a:r>
            <a:endParaRPr b="1" sz="18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Un fitxer pot tenir permisos tradicionals i ACL alhora.</a:t>
            </a:r>
            <a:endParaRPr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sz="1420">
              <a:solidFill>
                <a:srgbClr val="173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770" lvl="0" marL="45720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73F63"/>
              </a:buClr>
              <a:buSzPts val="1420"/>
              <a:buFont typeface="Arial"/>
              <a:buChar char="●"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ls -l mostra “+” si hi ha ACL</a:t>
            </a:r>
            <a:endParaRPr/>
          </a:p>
          <a:p>
            <a:pPr indent="-318770" lvl="0" marL="4572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420"/>
              <a:buFont typeface="Arial"/>
              <a:buChar char="●"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getfacl mostra totes les entrades</a:t>
            </a:r>
            <a:endParaRPr/>
          </a:p>
          <a:p>
            <a:pPr indent="-318770" lvl="0" marL="4572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73F63"/>
              </a:buClr>
              <a:buSzPts val="1420"/>
              <a:buFont typeface="Arial"/>
              <a:buChar char="●"/>
            </a:pPr>
            <a:r>
              <a:rPr b="0" lang="ca" sz="142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la màscara pot limitar permisos efectius</a:t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701925" y="5795375"/>
            <a:ext cx="10901400" cy="781500"/>
          </a:xfrm>
          <a:prstGeom prst="rect">
            <a:avLst/>
          </a:prstGeom>
          <a:solidFill>
            <a:srgbClr val="EAF2FA"/>
          </a:solidFill>
          <a:ln cap="flat" cmpd="sng" w="15225">
            <a:solidFill>
              <a:srgbClr val="77B7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00">
                <a:solidFill>
                  <a:srgbClr val="173F63"/>
                </a:solidFill>
                <a:latin typeface="Arial"/>
                <a:ea typeface="Arial"/>
                <a:cs typeface="Arial"/>
                <a:sym typeface="Arial"/>
              </a:rPr>
              <a:t>Idea clau: els permisos tradicionals són el model simple i habitual. Les ACL no el substitueixen: l’amplien per casos més específics.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666220" y="521595"/>
            <a:ext cx="1097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es complementen chmod i les ACL?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4dd68895a2cb8c6_0_19"/>
          <p:cNvSpPr txBox="1"/>
          <p:nvPr/>
        </p:nvSpPr>
        <p:spPr>
          <a:xfrm>
            <a:off x="534925" y="1196525"/>
            <a:ext cx="10669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46300" spcFirstLastPara="1" rIns="1463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ca" sz="1500">
                <a:solidFill>
                  <a:schemeClr val="dk1"/>
                </a:solidFill>
              </a:rPr>
              <a:t>Windows 11 inclou PowerShell i CMD. Moltes ordres bàsiques són semblants a les de Linux.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2" name="Google Shape;302;h4dd68895a2cb8c6_0_19"/>
          <p:cNvSpPr/>
          <p:nvPr/>
        </p:nvSpPr>
        <p:spPr>
          <a:xfrm>
            <a:off x="952500" y="5462375"/>
            <a:ext cx="10287000" cy="1087500"/>
          </a:xfrm>
          <a:prstGeom prst="rect">
            <a:avLst/>
          </a:prstGeom>
          <a:solidFill>
            <a:schemeClr val="lt1"/>
          </a:solidFill>
          <a:ln cap="flat" cmpd="sng" w="15225">
            <a:solidFill>
              <a:srgbClr val="77B7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clau:</a:t>
            </a:r>
            <a:r>
              <a:rPr b="1" lang="ca" sz="1600">
                <a:solidFill>
                  <a:schemeClr val="dk1"/>
                </a:solidFill>
              </a:rPr>
              <a:t> </a:t>
            </a:r>
            <a:r>
              <a:rPr b="1" lang="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PowerShell reconeix diverses ordres familiars de Linux, encara que internament funcionin de manera diferent. A Windows podem utilitzar icacls tant des de CMD com des de PowerShell.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" name="Google Shape;303;h4dd68895a2cb8c6_0_19"/>
          <p:cNvSpPr txBox="1"/>
          <p:nvPr/>
        </p:nvSpPr>
        <p:spPr>
          <a:xfrm>
            <a:off x="740295" y="540245"/>
            <a:ext cx="1097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82875" spcFirstLastPara="1" rIns="164575" wrap="square" tIns="128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Terminal a Windows: PowerShell i CMD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h4dd68895a2cb8c6_0_1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05" name="Google Shape;305;h4dd68895a2cb8c6_0_19"/>
          <p:cNvGraphicFramePr/>
          <p:nvPr/>
        </p:nvGraphicFramePr>
        <p:xfrm>
          <a:off x="9525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{1B71348E-5254-4334-A548-1F1C5E6C880E}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>
                          <a:solidFill>
                            <a:schemeClr val="dk1"/>
                          </a:solidFill>
                        </a:rPr>
                        <a:t>Què fem?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>
                          <a:solidFill>
                            <a:schemeClr val="dk1"/>
                          </a:solidFill>
                        </a:rPr>
                        <a:t>Linux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>
                          <a:solidFill>
                            <a:schemeClr val="dk1"/>
                          </a:solidFill>
                        </a:rPr>
                        <a:t>PowerShell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ca">
                          <a:solidFill>
                            <a:schemeClr val="dk1"/>
                          </a:solidFill>
                        </a:rPr>
                        <a:t>CMD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Saber on som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pwd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pwd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Veure fitxers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ls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ls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dir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Entrar en una carpeta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carpeta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carpeta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carpeta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Tornar enrere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..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..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cd ..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Crear una carpeta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mkdir prova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mkdir prova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mkdir prova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Eliminar un fitxer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rm a.txt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rm a.txt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 a.txt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Netejar la pantalla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clear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clear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cls</a:t>
                      </a:r>
                      <a:endParaRPr sz="11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7e69cd57b07db49f_0_36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12" name="Google Shape;312;h7e69cd57b07db49f_0_366"/>
          <p:cNvSpPr/>
          <p:nvPr/>
        </p:nvSpPr>
        <p:spPr>
          <a:xfrm>
            <a:off x="685818" y="502793"/>
            <a:ext cx="1088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c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ACL a Windows: permisos gràfics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h7e69cd57b07db49f_0_366"/>
          <p:cNvSpPr/>
          <p:nvPr/>
        </p:nvSpPr>
        <p:spPr>
          <a:xfrm>
            <a:off x="457200" y="365760"/>
            <a:ext cx="11274600" cy="731400"/>
          </a:xfrm>
          <a:prstGeom prst="roundRect">
            <a:avLst>
              <a:gd fmla="val 15000" name="adj"/>
            </a:avLst>
          </a:prstGeom>
          <a:solidFill>
            <a:srgbClr val="1B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7e69cd57b07db49f_0_366"/>
          <p:cNvSpPr txBox="1"/>
          <p:nvPr/>
        </p:nvSpPr>
        <p:spPr>
          <a:xfrm>
            <a:off x="731520" y="36576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rgbClr val="FFFFFF"/>
                </a:solidFill>
              </a:rPr>
              <a:t>Les ACL a Windows 11: quines eines tenim?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315" name="Google Shape;315;h7e69cd57b07db49f_0_366"/>
          <p:cNvSpPr txBox="1"/>
          <p:nvPr/>
        </p:nvSpPr>
        <p:spPr>
          <a:xfrm>
            <a:off x="502920" y="1280160"/>
            <a:ext cx="11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00"/>
              <a:buFont typeface="Arial"/>
              <a:buNone/>
            </a:pPr>
            <a:r>
              <a:rPr b="0" i="0" lang="ca" sz="15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A Windows no hi ha setfacl ni getfacl, però el sistema de fitxers NTFS també treballa amb ACL i ACE.</a:t>
            </a:r>
            <a:endParaRPr b="0" i="0" sz="15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h7e69cd57b07db49f_0_366"/>
          <p:cNvSpPr/>
          <p:nvPr/>
        </p:nvSpPr>
        <p:spPr>
          <a:xfrm>
            <a:off x="457200" y="1920251"/>
            <a:ext cx="3566100" cy="315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h7e69cd57b07db49f_0_366"/>
          <p:cNvSpPr txBox="1"/>
          <p:nvPr/>
        </p:nvSpPr>
        <p:spPr>
          <a:xfrm>
            <a:off x="685800" y="2103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Interfície gràfica</a:t>
            </a:r>
            <a:endParaRPr b="0" i="0" sz="18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h7e69cd57b07db49f_0_366"/>
          <p:cNvSpPr txBox="1"/>
          <p:nvPr/>
        </p:nvSpPr>
        <p:spPr>
          <a:xfrm>
            <a:off x="685800" y="2687103"/>
            <a:ext cx="3108900" cy="1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Char char="●"/>
            </a:pPr>
            <a:r>
              <a:rPr b="0" i="0" lang="ca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Botó dret sobre el fitxer o la carpeta &gt; Propietats &gt; Seguretat &gt; Edita o Opcions avançades. </a:t>
            </a:r>
            <a:endParaRPr b="0" i="0" sz="12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2B3A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Char char="●"/>
            </a:pPr>
            <a:r>
              <a:rPr b="0" i="0" lang="ca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Hi veus cada ACE: usuari o grup, Permetre o Denegar i permisos.</a:t>
            </a:r>
            <a:endParaRPr b="0" i="0" sz="12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h7e69cd57b07db49f_0_366"/>
          <p:cNvSpPr/>
          <p:nvPr/>
        </p:nvSpPr>
        <p:spPr>
          <a:xfrm>
            <a:off x="685800" y="4500995"/>
            <a:ext cx="3108900" cy="4572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ourier New"/>
              <a:buNone/>
            </a:pPr>
            <a:r>
              <a:rPr b="0" i="0" lang="ca" sz="1300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Propietats &gt; Seguretat</a:t>
            </a:r>
            <a:endParaRPr b="0" i="0" sz="13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7e69cd57b07db49f_0_366"/>
          <p:cNvSpPr/>
          <p:nvPr/>
        </p:nvSpPr>
        <p:spPr>
          <a:xfrm>
            <a:off x="4311399" y="1920251"/>
            <a:ext cx="3566100" cy="315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h7e69cd57b07db49f_0_366"/>
          <p:cNvSpPr txBox="1"/>
          <p:nvPr/>
        </p:nvSpPr>
        <p:spPr>
          <a:xfrm>
            <a:off x="4539996" y="2103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icacls</a:t>
            </a:r>
            <a:endParaRPr b="0" i="0" sz="18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7e69cd57b07db49f_0_366"/>
          <p:cNvSpPr txBox="1"/>
          <p:nvPr/>
        </p:nvSpPr>
        <p:spPr>
          <a:xfrm>
            <a:off x="4539996" y="2663465"/>
            <a:ext cx="310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Char char="●"/>
            </a:pPr>
            <a:r>
              <a:rPr b="0" i="0" lang="ca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Ordre de cmd i PowerShell. </a:t>
            </a:r>
            <a:endParaRPr b="0" i="0" sz="12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2B3A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Char char="●"/>
            </a:pPr>
            <a:r>
              <a:rPr b="0" i="0" lang="ca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Fa de getfacl (veure l'ACL) i de setfacl (modificar-la).</a:t>
            </a:r>
            <a:endParaRPr b="0" i="0" sz="12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7e69cd57b07db49f_0_366"/>
          <p:cNvSpPr/>
          <p:nvPr/>
        </p:nvSpPr>
        <p:spPr>
          <a:xfrm>
            <a:off x="4539996" y="4500995"/>
            <a:ext cx="3108900" cy="4572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ourier New"/>
              <a:buNone/>
            </a:pPr>
            <a:r>
              <a:rPr b="0" i="0" lang="ca" sz="1300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icacls Practica</a:t>
            </a:r>
            <a:endParaRPr b="0" i="0" sz="13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7e69cd57b07db49f_0_366"/>
          <p:cNvSpPr/>
          <p:nvPr/>
        </p:nvSpPr>
        <p:spPr>
          <a:xfrm>
            <a:off x="8165597" y="1920251"/>
            <a:ext cx="3566100" cy="315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h7e69cd57b07db49f_0_366"/>
          <p:cNvSpPr txBox="1"/>
          <p:nvPr/>
        </p:nvSpPr>
        <p:spPr>
          <a:xfrm>
            <a:off x="8394192" y="2103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Get-Acl / Set-Acl</a:t>
            </a:r>
            <a:endParaRPr b="0" i="0" sz="18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h7e69cd57b07db49f_0_366"/>
          <p:cNvSpPr txBox="1"/>
          <p:nvPr/>
        </p:nvSpPr>
        <p:spPr>
          <a:xfrm>
            <a:off x="8394192" y="2687090"/>
            <a:ext cx="310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b="0" i="0" lang="ca" sz="12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Cmdlets de PowerShell que treballen amb objectes. Són útils per a scripts.</a:t>
            </a:r>
            <a:endParaRPr b="0" i="0" sz="12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h7e69cd57b07db49f_0_366"/>
          <p:cNvSpPr/>
          <p:nvPr/>
        </p:nvSpPr>
        <p:spPr>
          <a:xfrm>
            <a:off x="8394192" y="4500995"/>
            <a:ext cx="3108900" cy="457200"/>
          </a:xfrm>
          <a:prstGeom prst="rect">
            <a:avLst/>
          </a:prstGeom>
          <a:solidFill>
            <a:srgbClr val="E8F0FA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300"/>
              <a:buFont typeface="Courier New"/>
              <a:buNone/>
            </a:pPr>
            <a:r>
              <a:rPr b="0" i="0" lang="ca" sz="1300" u="none" cap="none" strike="noStrike">
                <a:solidFill>
                  <a:srgbClr val="1D2B3A"/>
                </a:solidFill>
                <a:latin typeface="Courier New"/>
                <a:ea typeface="Courier New"/>
                <a:cs typeface="Courier New"/>
                <a:sym typeface="Courier New"/>
              </a:rPr>
              <a:t>Get-Acl .\Practica</a:t>
            </a:r>
            <a:endParaRPr b="0" i="0" sz="13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h7e69cd57b07db49f_0_366"/>
          <p:cNvSpPr/>
          <p:nvPr/>
        </p:nvSpPr>
        <p:spPr>
          <a:xfrm>
            <a:off x="443525" y="5228920"/>
            <a:ext cx="11274600" cy="109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h7e69cd57b07db49f_0_366"/>
          <p:cNvSpPr txBox="1"/>
          <p:nvPr/>
        </p:nvSpPr>
        <p:spPr>
          <a:xfrm>
            <a:off x="672125" y="532036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I amb WSL?</a:t>
            </a:r>
            <a:endParaRPr b="0" i="0" sz="18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h7e69cd57b07db49f_0_366"/>
          <p:cNvSpPr txBox="1"/>
          <p:nvPr/>
        </p:nvSpPr>
        <p:spPr>
          <a:xfrm>
            <a:off x="672125" y="5731840"/>
            <a:ext cx="10789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b="0" i="0" lang="ca" sz="14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Dins de WSL, getfacl i setfacl funcionen sobre els fitxers de la distribució Linux. Els fitxers NTFS de Windows es gestionen amb icacls o PowerShell.</a:t>
            </a:r>
            <a:endParaRPr b="0" i="0" sz="14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7e69cd57b07db49f_0_55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37" name="Google Shape;337;h7e69cd57b07db49f_0_551"/>
          <p:cNvSpPr/>
          <p:nvPr/>
        </p:nvSpPr>
        <p:spPr>
          <a:xfrm>
            <a:off x="685818" y="502793"/>
            <a:ext cx="1088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c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ACL a Windows: permisos gràfics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h7e69cd57b07db49f_0_551"/>
          <p:cNvSpPr/>
          <p:nvPr/>
        </p:nvSpPr>
        <p:spPr>
          <a:xfrm>
            <a:off x="609605" y="1280157"/>
            <a:ext cx="10972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600"/>
              <a:buFont typeface="Arial"/>
              <a:buNone/>
            </a:pPr>
            <a:r>
              <a:rPr b="0" i="0" lang="ca" sz="160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Les ACL defineixen quins usuaris o grups poden accedir a un fitxer o carpeta, i amb quin nivell de permís.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7e69cd57b07db49f_0_551"/>
          <p:cNvSpPr/>
          <p:nvPr/>
        </p:nvSpPr>
        <p:spPr>
          <a:xfrm>
            <a:off x="777240" y="1828800"/>
            <a:ext cx="2148900" cy="777300"/>
          </a:xfrm>
          <a:prstGeom prst="roundRect">
            <a:avLst>
              <a:gd fmla="val 9412" name="adj"/>
            </a:avLst>
          </a:prstGeom>
          <a:solidFill>
            <a:srgbClr val="123B63"/>
          </a:solidFill>
          <a:ln cap="flat" cmpd="sng" w="12700">
            <a:solidFill>
              <a:srgbClr val="123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h7e69cd57b07db49f_0_551"/>
          <p:cNvSpPr/>
          <p:nvPr/>
        </p:nvSpPr>
        <p:spPr>
          <a:xfrm>
            <a:off x="886968" y="20848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c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 dret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h7e69cd57b07db49f_0_551"/>
          <p:cNvCxnSpPr/>
          <p:nvPr/>
        </p:nvCxnSpPr>
        <p:spPr>
          <a:xfrm>
            <a:off x="2990088" y="2221992"/>
            <a:ext cx="402300" cy="0"/>
          </a:xfrm>
          <a:prstGeom prst="straightConnector1">
            <a:avLst/>
          </a:prstGeom>
          <a:noFill/>
          <a:ln cap="flat" cmpd="sng" w="31750">
            <a:solidFill>
              <a:srgbClr val="2D6E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h7e69cd57b07db49f_0_551"/>
          <p:cNvSpPr/>
          <p:nvPr/>
        </p:nvSpPr>
        <p:spPr>
          <a:xfrm>
            <a:off x="3493008" y="1828800"/>
            <a:ext cx="2148900" cy="777300"/>
          </a:xfrm>
          <a:prstGeom prst="roundRect">
            <a:avLst>
              <a:gd fmla="val 9412" name="adj"/>
            </a:avLst>
          </a:prstGeom>
          <a:solidFill>
            <a:srgbClr val="2D6EA3"/>
          </a:solidFill>
          <a:ln cap="flat" cmpd="sng" w="12700">
            <a:solidFill>
              <a:srgbClr val="2D6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h7e69cd57b07db49f_0_551"/>
          <p:cNvSpPr/>
          <p:nvPr/>
        </p:nvSpPr>
        <p:spPr>
          <a:xfrm>
            <a:off x="3602736" y="20848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c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Propietats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h7e69cd57b07db49f_0_551"/>
          <p:cNvCxnSpPr/>
          <p:nvPr/>
        </p:nvCxnSpPr>
        <p:spPr>
          <a:xfrm>
            <a:off x="5705856" y="2221992"/>
            <a:ext cx="402300" cy="0"/>
          </a:xfrm>
          <a:prstGeom prst="straightConnector1">
            <a:avLst/>
          </a:prstGeom>
          <a:noFill/>
          <a:ln cap="flat" cmpd="sng" w="31750">
            <a:solidFill>
              <a:srgbClr val="2D6E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h7e69cd57b07db49f_0_551"/>
          <p:cNvSpPr/>
          <p:nvPr/>
        </p:nvSpPr>
        <p:spPr>
          <a:xfrm>
            <a:off x="6208776" y="1828800"/>
            <a:ext cx="2148900" cy="777300"/>
          </a:xfrm>
          <a:prstGeom prst="roundRect">
            <a:avLst>
              <a:gd fmla="val 9412" name="adj"/>
            </a:avLst>
          </a:prstGeom>
          <a:solidFill>
            <a:srgbClr val="2C87B8"/>
          </a:solidFill>
          <a:ln cap="flat" cmpd="sng" w="12700">
            <a:solidFill>
              <a:srgbClr val="2C8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h7e69cd57b07db49f_0_551"/>
          <p:cNvSpPr/>
          <p:nvPr/>
        </p:nvSpPr>
        <p:spPr>
          <a:xfrm>
            <a:off x="6318504" y="20848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c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Seguretat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h7e69cd57b07db49f_0_551"/>
          <p:cNvCxnSpPr/>
          <p:nvPr/>
        </p:nvCxnSpPr>
        <p:spPr>
          <a:xfrm>
            <a:off x="8421624" y="2221992"/>
            <a:ext cx="402300" cy="0"/>
          </a:xfrm>
          <a:prstGeom prst="straightConnector1">
            <a:avLst/>
          </a:prstGeom>
          <a:noFill/>
          <a:ln cap="flat" cmpd="sng" w="31750">
            <a:solidFill>
              <a:srgbClr val="2D6E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h7e69cd57b07db49f_0_551"/>
          <p:cNvSpPr/>
          <p:nvPr/>
        </p:nvSpPr>
        <p:spPr>
          <a:xfrm>
            <a:off x="8924544" y="1828800"/>
            <a:ext cx="2148900" cy="777300"/>
          </a:xfrm>
          <a:prstGeom prst="roundRect">
            <a:avLst>
              <a:gd fmla="val 9412" name="adj"/>
            </a:avLst>
          </a:prstGeom>
          <a:solidFill>
            <a:srgbClr val="5B9AC8"/>
          </a:solidFill>
          <a:ln cap="flat" cmpd="sng" w="12700">
            <a:solidFill>
              <a:srgbClr val="5B9A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h7e69cd57b07db49f_0_551"/>
          <p:cNvSpPr/>
          <p:nvPr/>
        </p:nvSpPr>
        <p:spPr>
          <a:xfrm>
            <a:off x="9034272" y="2084832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c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0" name="Google Shape;350;h7e69cd57b07db49f_0_551"/>
          <p:cNvGraphicFramePr/>
          <p:nvPr/>
        </p:nvGraphicFramePr>
        <p:xfrm>
          <a:off x="2466088" y="295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{50153560-13FC-4864-B91A-DFBC8653FB23}</a:tableStyleId>
              </a:tblPr>
              <a:tblGrid>
                <a:gridCol w="1057275"/>
                <a:gridCol w="1941925"/>
                <a:gridCol w="3077100"/>
              </a:tblGrid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Codi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AC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Permís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AC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/>
                        <a:t>Què permet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AC9ED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Full control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Control total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Modify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Llegir, escriure, executar i eliminar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RX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Read &amp; Execute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Llegir i executar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Read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Lectura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Write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Escriptura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Delete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Eliminar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</a:t>
                      </a:r>
                      <a:endParaRPr b="1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No access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/>
                        <a:t>Sense accés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7e69cd57b07db49f_0_47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57" name="Google Shape;357;h7e69cd57b07db49f_0_471"/>
          <p:cNvSpPr/>
          <p:nvPr/>
        </p:nvSpPr>
        <p:spPr>
          <a:xfrm>
            <a:off x="655343" y="552918"/>
            <a:ext cx="1088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 a Windows: permisos gràfics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h7e69cd57b07db49f_0_4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636848"/>
            <a:ext cx="2278275" cy="36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h7e69cd57b07db49f_0_4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875" y="1686700"/>
            <a:ext cx="6931626" cy="47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h7e69cd57b07db49f_0_471"/>
          <p:cNvSpPr/>
          <p:nvPr/>
        </p:nvSpPr>
        <p:spPr>
          <a:xfrm>
            <a:off x="2945775" y="3588625"/>
            <a:ext cx="985200" cy="36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7e69cd57b07db49f_0_6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67" name="Google Shape;367;h7e69cd57b07db49f_0_617"/>
          <p:cNvSpPr/>
          <p:nvPr/>
        </p:nvSpPr>
        <p:spPr>
          <a:xfrm>
            <a:off x="685818" y="502793"/>
            <a:ext cx="1088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c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ACL a Windows: 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icacls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h7e69cd57b07db49f_0_617"/>
          <p:cNvSpPr/>
          <p:nvPr/>
        </p:nvSpPr>
        <p:spPr>
          <a:xfrm>
            <a:off x="499365" y="1331280"/>
            <a:ext cx="1078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082B4E"/>
                </a:solidFill>
              </a:rPr>
              <a:t>Per concedir permisos amb icacls, l’estructura habitual és: recurs, acció, subjecte i permisos.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h7e69cd57b07db49f_0_617"/>
          <p:cNvSpPr/>
          <p:nvPr/>
        </p:nvSpPr>
        <p:spPr>
          <a:xfrm>
            <a:off x="636525" y="1770197"/>
            <a:ext cx="10835700" cy="19605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9EC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7e69cd57b07db49f_0_617"/>
          <p:cNvSpPr/>
          <p:nvPr/>
        </p:nvSpPr>
        <p:spPr>
          <a:xfrm>
            <a:off x="2994975" y="1919650"/>
            <a:ext cx="82029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B45"/>
              </a:buClr>
              <a:buSzPts val="1850"/>
              <a:buFont typeface="Arial"/>
              <a:buNone/>
            </a:pPr>
            <a:r>
              <a:rPr b="1" i="0" lang="ca" sz="1850" u="none" cap="none" strike="noStrike">
                <a:solidFill>
                  <a:srgbClr val="102B45"/>
                </a:solidFill>
                <a:latin typeface="Arial"/>
                <a:ea typeface="Arial"/>
                <a:cs typeface="Arial"/>
                <a:sym typeface="Arial"/>
              </a:rPr>
              <a:t>icacls  RECURS  /</a:t>
            </a:r>
            <a:r>
              <a:rPr b="1" lang="ca" sz="1850">
                <a:solidFill>
                  <a:srgbClr val="102B45"/>
                </a:solidFill>
              </a:rPr>
              <a:t>GRANT</a:t>
            </a:r>
            <a:r>
              <a:rPr b="1" i="0" lang="ca" sz="1850" u="none" cap="none" strike="noStrike">
                <a:solidFill>
                  <a:srgbClr val="102B45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ca" sz="1850">
                <a:solidFill>
                  <a:srgbClr val="102B45"/>
                </a:solidFill>
              </a:rPr>
              <a:t>USUARI</a:t>
            </a:r>
            <a:r>
              <a:rPr b="1" i="0" lang="ca" sz="1850" u="none" cap="none" strike="noStrike">
                <a:solidFill>
                  <a:srgbClr val="102B45"/>
                </a:solidFill>
                <a:latin typeface="Arial"/>
                <a:ea typeface="Arial"/>
                <a:cs typeface="Arial"/>
                <a:sym typeface="Arial"/>
              </a:rPr>
              <a:t>:PERMISOS</a:t>
            </a:r>
            <a:endParaRPr b="1" i="0" sz="1850" u="none" cap="none" strike="noStrike">
              <a:solidFill>
                <a:srgbClr val="102B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B45"/>
              </a:buClr>
              <a:buSzPts val="1850"/>
              <a:buFont typeface="Arial"/>
              <a:buNone/>
            </a:pPr>
            <a:r>
              <a:rPr b="1" lang="ca" sz="1850">
                <a:solidFill>
                  <a:srgbClr val="102B45"/>
                </a:solidFill>
              </a:rPr>
              <a:t>icacls  RECURS  /REMOVE  USUARI</a:t>
            </a:r>
            <a:endParaRPr sz="1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B45"/>
              </a:buClr>
              <a:buSzPts val="1850"/>
              <a:buFont typeface="Arial"/>
              <a:buNone/>
            </a:pPr>
            <a:r>
              <a:rPr b="1" lang="ca" sz="1850">
                <a:solidFill>
                  <a:srgbClr val="102B45"/>
                </a:solidFill>
              </a:rPr>
              <a:t>icacls  RECURS  /RESET </a:t>
            </a:r>
            <a:endParaRPr b="1" sz="1850">
              <a:solidFill>
                <a:srgbClr val="102B45"/>
              </a:solidFill>
            </a:endParaRPr>
          </a:p>
        </p:txBody>
      </p:sp>
      <p:sp>
        <p:nvSpPr>
          <p:cNvPr id="371" name="Google Shape;371;h7e69cd57b07db49f_0_617"/>
          <p:cNvSpPr/>
          <p:nvPr/>
        </p:nvSpPr>
        <p:spPr>
          <a:xfrm>
            <a:off x="567950" y="3987650"/>
            <a:ext cx="4779600" cy="1788900"/>
          </a:xfrm>
          <a:prstGeom prst="roundRect">
            <a:avLst>
              <a:gd fmla="val 7619" name="adj"/>
            </a:avLst>
          </a:prstGeom>
          <a:solidFill>
            <a:srgbClr val="102B45"/>
          </a:solidFill>
          <a:ln cap="flat" cmpd="sng" w="12700">
            <a:solidFill>
              <a:srgbClr val="102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h7e69cd57b07db49f_0_617"/>
          <p:cNvSpPr/>
          <p:nvPr/>
        </p:nvSpPr>
        <p:spPr>
          <a:xfrm>
            <a:off x="741675" y="4114725"/>
            <a:ext cx="4297800" cy="1568400"/>
          </a:xfrm>
          <a:prstGeom prst="rect">
            <a:avLst/>
          </a:prstGeom>
          <a:solidFill>
            <a:srgbClr val="102B45">
              <a:alpha val="0"/>
            </a:srgbClr>
          </a:solidFill>
          <a:ln cap="flat" cmpd="sng" w="10150">
            <a:solidFill>
              <a:srgbClr val="4969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>
                <a:solidFill>
                  <a:schemeClr val="lt1"/>
                </a:solidFill>
              </a:rPr>
              <a:t>Exemples:</a:t>
            </a:r>
            <a:endParaRPr b="1" sz="13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>
                <a:solidFill>
                  <a:schemeClr val="lt1"/>
                </a:solidFill>
              </a:rPr>
              <a:t>icacls C:\Dades /grant "alumnes:(OI)(CI)M"</a:t>
            </a:r>
            <a:endParaRPr b="1" sz="13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>
                <a:solidFill>
                  <a:schemeClr val="lt1"/>
                </a:solidFill>
              </a:rPr>
              <a:t>icacls C:\Dades /remove alumnes</a:t>
            </a:r>
            <a:endParaRPr b="1" sz="13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>
                <a:solidFill>
                  <a:schemeClr val="lt1"/>
                </a:solidFill>
              </a:rPr>
              <a:t>icacls C:\Dades /reset</a:t>
            </a:r>
            <a:endParaRPr b="1" sz="13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lt1"/>
              </a:solidFill>
            </a:endParaRPr>
          </a:p>
        </p:txBody>
      </p:sp>
      <p:sp>
        <p:nvSpPr>
          <p:cNvPr id="373" name="Google Shape;373;h7e69cd57b07db49f_0_617"/>
          <p:cNvSpPr/>
          <p:nvPr/>
        </p:nvSpPr>
        <p:spPr>
          <a:xfrm>
            <a:off x="5664875" y="3967200"/>
            <a:ext cx="5807400" cy="17889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9EC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7e69cd57b07db49f_0_617"/>
          <p:cNvSpPr/>
          <p:nvPr/>
        </p:nvSpPr>
        <p:spPr>
          <a:xfrm>
            <a:off x="5907600" y="4082322"/>
            <a:ext cx="4297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300"/>
              <a:buFont typeface="Arial"/>
              <a:buNone/>
            </a:pPr>
            <a:r>
              <a:rPr b="1" i="0" lang="ca" sz="1300" u="none" cap="none" strike="noStrike">
                <a:solidFill>
                  <a:srgbClr val="082B4E"/>
                </a:solidFill>
                <a:latin typeface="Arial"/>
                <a:ea typeface="Arial"/>
                <a:cs typeface="Arial"/>
                <a:sym typeface="Arial"/>
              </a:rPr>
              <a:t>Accions habituals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h7e69cd57b07db49f_0_617"/>
          <p:cNvSpPr/>
          <p:nvPr/>
        </p:nvSpPr>
        <p:spPr>
          <a:xfrm>
            <a:off x="5907600" y="4420975"/>
            <a:ext cx="54705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250"/>
              <a:buFont typeface="Arial"/>
              <a:buChar char="●"/>
            </a:pPr>
            <a:r>
              <a:rPr b="0" i="0" lang="ca" sz="1250" u="none" cap="none" strike="noStrike">
                <a:solidFill>
                  <a:srgbClr val="082B4E"/>
                </a:solidFill>
                <a:latin typeface="Arial"/>
                <a:ea typeface="Arial"/>
                <a:cs typeface="Arial"/>
                <a:sym typeface="Arial"/>
              </a:rPr>
              <a:t>/grant  concedeix permisos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250"/>
              <a:buFont typeface="Arial"/>
              <a:buChar char="●"/>
            </a:pPr>
            <a:r>
              <a:rPr b="0" i="0" lang="ca" sz="1250" u="none" cap="none" strike="noStrike">
                <a:solidFill>
                  <a:srgbClr val="082B4E"/>
                </a:solidFill>
                <a:latin typeface="Arial"/>
                <a:ea typeface="Arial"/>
                <a:cs typeface="Arial"/>
                <a:sym typeface="Arial"/>
              </a:rPr>
              <a:t>/remove  elimina entrades del subjecte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250"/>
              <a:buFont typeface="Arial"/>
              <a:buChar char="●"/>
            </a:pPr>
            <a:r>
              <a:rPr b="0" i="0" lang="ca" sz="1250" u="none" cap="none" strike="noStrike">
                <a:solidFill>
                  <a:srgbClr val="082B4E"/>
                </a:solidFill>
                <a:latin typeface="Arial"/>
                <a:ea typeface="Arial"/>
                <a:cs typeface="Arial"/>
                <a:sym typeface="Arial"/>
              </a:rPr>
              <a:t>/reset  r</a:t>
            </a:r>
            <a:r>
              <a:rPr lang="ca" sz="1250">
                <a:solidFill>
                  <a:srgbClr val="082B4E"/>
                </a:solidFill>
              </a:rPr>
              <a:t>estaura els permisos heretats de la carpeta i elimina les entrades explícites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h7e69cd57b07db49f_0_617"/>
          <p:cNvSpPr/>
          <p:nvPr/>
        </p:nvSpPr>
        <p:spPr>
          <a:xfrm>
            <a:off x="636500" y="6033494"/>
            <a:ext cx="10835700" cy="615600"/>
          </a:xfrm>
          <a:prstGeom prst="roundRect">
            <a:avLst>
              <a:gd fmla="val 13953" name="adj"/>
            </a:avLst>
          </a:prstGeom>
          <a:solidFill>
            <a:srgbClr val="DFF3E6"/>
          </a:solidFill>
          <a:ln cap="flat" cmpd="sng" w="12700">
            <a:solidFill>
              <a:srgbClr val="58AF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h7e69cd57b07db49f_0_617"/>
          <p:cNvSpPr/>
          <p:nvPr/>
        </p:nvSpPr>
        <p:spPr>
          <a:xfrm>
            <a:off x="865100" y="6365436"/>
            <a:ext cx="10378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150"/>
              <a:buFont typeface="Arial"/>
              <a:buNone/>
            </a:pPr>
            <a:r>
              <a:rPr b="1" lang="ca" sz="1250">
                <a:solidFill>
                  <a:srgbClr val="082B4E"/>
                </a:solidFill>
              </a:rPr>
              <a:t>Ús de cometes: a PowerShell escrivim els permisos amb parèntesis entre cometes. Aquesta sintaxi també funciona a CMD.</a:t>
            </a:r>
            <a:endParaRPr b="1" sz="1250">
              <a:solidFill>
                <a:srgbClr val="082B4E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250">
                <a:solidFill>
                  <a:srgbClr val="082B4E"/>
                </a:solidFill>
              </a:rPr>
              <a:t>Les cometes rectes són l'opció més adequada per mostrar ordres copiables.</a:t>
            </a:r>
            <a:endParaRPr b="1" sz="1250">
              <a:solidFill>
                <a:srgbClr val="082B4E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2B4E"/>
              </a:buClr>
              <a:buSzPts val="1150"/>
              <a:buFont typeface="Arial"/>
              <a:buNone/>
            </a:pPr>
            <a:r>
              <a:t/>
            </a:r>
            <a:endParaRPr b="1" sz="1250">
              <a:solidFill>
                <a:srgbClr val="082B4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7e69cd57b07db49f_0_5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384" name="Google Shape;384;h7e69cd57b07db49f_0_520"/>
          <p:cNvSpPr/>
          <p:nvPr/>
        </p:nvSpPr>
        <p:spPr>
          <a:xfrm>
            <a:off x="655343" y="552918"/>
            <a:ext cx="1088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ca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 a Windows: herència (OI) i (CI)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h7e69cd57b07db49f_0_520"/>
          <p:cNvSpPr/>
          <p:nvPr/>
        </p:nvSpPr>
        <p:spPr>
          <a:xfrm>
            <a:off x="723905" y="1293956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600"/>
              <a:buFont typeface="Arial"/>
              <a:buNone/>
            </a:pPr>
            <a:r>
              <a:rPr b="0" i="0" lang="ca" sz="160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Quan assignem permisos a una carpeta, podem decidir si s’hereten als fitxers i subcarpetes.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h7e69cd57b07db49f_0_520"/>
          <p:cNvSpPr/>
          <p:nvPr/>
        </p:nvSpPr>
        <p:spPr>
          <a:xfrm>
            <a:off x="861065" y="2034620"/>
            <a:ext cx="2377500" cy="822900"/>
          </a:xfrm>
          <a:prstGeom prst="roundRect">
            <a:avLst>
              <a:gd fmla="val 8889" name="adj"/>
            </a:avLst>
          </a:prstGeom>
          <a:solidFill>
            <a:srgbClr val="123B63"/>
          </a:solidFill>
          <a:ln cap="flat" cmpd="sng" w="12700">
            <a:solidFill>
              <a:srgbClr val="123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h7e69cd57b07db49f_0_520"/>
          <p:cNvSpPr/>
          <p:nvPr/>
        </p:nvSpPr>
        <p:spPr>
          <a:xfrm>
            <a:off x="1043945" y="2299796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c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C:\Dades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h7e69cd57b07db49f_0_520"/>
          <p:cNvCxnSpPr/>
          <p:nvPr/>
        </p:nvCxnSpPr>
        <p:spPr>
          <a:xfrm flipH="1">
            <a:off x="1272485" y="2857580"/>
            <a:ext cx="777300" cy="1051500"/>
          </a:xfrm>
          <a:prstGeom prst="straightConnector1">
            <a:avLst/>
          </a:prstGeom>
          <a:noFill/>
          <a:ln cap="flat" cmpd="sng" w="25400">
            <a:solidFill>
              <a:srgbClr val="2D6EA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" name="Google Shape;389;h7e69cd57b07db49f_0_520"/>
          <p:cNvCxnSpPr/>
          <p:nvPr/>
        </p:nvCxnSpPr>
        <p:spPr>
          <a:xfrm>
            <a:off x="2049785" y="2857580"/>
            <a:ext cx="0" cy="1051500"/>
          </a:xfrm>
          <a:prstGeom prst="straightConnector1">
            <a:avLst/>
          </a:prstGeom>
          <a:noFill/>
          <a:ln cap="flat" cmpd="sng" w="25400">
            <a:solidFill>
              <a:srgbClr val="2D6EA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0" name="Google Shape;390;h7e69cd57b07db49f_0_520"/>
          <p:cNvCxnSpPr/>
          <p:nvPr/>
        </p:nvCxnSpPr>
        <p:spPr>
          <a:xfrm>
            <a:off x="2049785" y="2857580"/>
            <a:ext cx="2217300" cy="1051500"/>
          </a:xfrm>
          <a:prstGeom prst="straightConnector1">
            <a:avLst/>
          </a:prstGeom>
          <a:noFill/>
          <a:ln cap="flat" cmpd="sng" w="25400">
            <a:solidFill>
              <a:srgbClr val="2D6EA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1" name="Google Shape;391;h7e69cd57b07db49f_0_520"/>
          <p:cNvSpPr/>
          <p:nvPr/>
        </p:nvSpPr>
        <p:spPr>
          <a:xfrm>
            <a:off x="495305" y="3954860"/>
            <a:ext cx="1326000" cy="621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A8C2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h7e69cd57b07db49f_0_520"/>
          <p:cNvSpPr/>
          <p:nvPr/>
        </p:nvSpPr>
        <p:spPr>
          <a:xfrm>
            <a:off x="541025" y="4165172"/>
            <a:ext cx="123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80"/>
              <a:buFont typeface="Arial"/>
              <a:buNone/>
            </a:pPr>
            <a:r>
              <a:rPr b="1" i="0" lang="ca" sz="118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Fitxer1.txt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h7e69cd57b07db49f_0_520"/>
          <p:cNvSpPr/>
          <p:nvPr/>
        </p:nvSpPr>
        <p:spPr>
          <a:xfrm>
            <a:off x="2049785" y="3954860"/>
            <a:ext cx="1326000" cy="621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A8C2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h7e69cd57b07db49f_0_520"/>
          <p:cNvSpPr/>
          <p:nvPr/>
        </p:nvSpPr>
        <p:spPr>
          <a:xfrm>
            <a:off x="2095505" y="4165172"/>
            <a:ext cx="123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80"/>
              <a:buFont typeface="Arial"/>
              <a:buNone/>
            </a:pPr>
            <a:r>
              <a:rPr b="1" i="0" lang="ca" sz="118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Subcarpeta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h7e69cd57b07db49f_0_520"/>
          <p:cNvSpPr/>
          <p:nvPr/>
        </p:nvSpPr>
        <p:spPr>
          <a:xfrm>
            <a:off x="3604265" y="3954860"/>
            <a:ext cx="1326000" cy="621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A8C2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h7e69cd57b07db49f_0_520"/>
          <p:cNvSpPr/>
          <p:nvPr/>
        </p:nvSpPr>
        <p:spPr>
          <a:xfrm>
            <a:off x="3649985" y="4165172"/>
            <a:ext cx="123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180"/>
              <a:buFont typeface="Arial"/>
              <a:buNone/>
            </a:pPr>
            <a:r>
              <a:rPr b="1" i="0" lang="ca" sz="118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Fitxer2.docx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h7e69cd57b07db49f_0_520"/>
          <p:cNvSpPr/>
          <p:nvPr/>
        </p:nvSpPr>
        <p:spPr>
          <a:xfrm>
            <a:off x="5341625" y="1943180"/>
            <a:ext cx="6126600" cy="18288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7D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7e69cd57b07db49f_0_520"/>
          <p:cNvSpPr/>
          <p:nvPr/>
        </p:nvSpPr>
        <p:spPr>
          <a:xfrm>
            <a:off x="5615945" y="2162636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900"/>
              <a:buFont typeface="Arial"/>
              <a:buNone/>
            </a:pPr>
            <a:r>
              <a:rPr b="1" i="0" lang="ca" sz="19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(OI) i (CI)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h7e69cd57b07db49f_0_520"/>
          <p:cNvSpPr/>
          <p:nvPr/>
        </p:nvSpPr>
        <p:spPr>
          <a:xfrm>
            <a:off x="5615945" y="2601548"/>
            <a:ext cx="5577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20"/>
              <a:buFont typeface="Arial"/>
              <a:buNone/>
            </a:pPr>
            <a:r>
              <a:rPr b="0" i="0" lang="ca" sz="132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(OI) Object Inherit  → s’hereta als fitxers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20"/>
              <a:buFont typeface="Arial"/>
              <a:buNone/>
            </a:pPr>
            <a:r>
              <a:rPr b="0" i="0" lang="ca" sz="132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(CI) Container Inherit → s’hereta a les subcarpetes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320"/>
              <a:buFont typeface="Arial"/>
              <a:buNone/>
            </a:pPr>
            <a:r>
              <a:rPr b="0" i="0" lang="ca" sz="132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(OI)(CI)              → s’hereta a fitxers i subcarpetes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h7e69cd57b07db49f_0_520"/>
          <p:cNvSpPr/>
          <p:nvPr/>
        </p:nvSpPr>
        <p:spPr>
          <a:xfrm>
            <a:off x="5341625" y="4046300"/>
            <a:ext cx="6126600" cy="1417200"/>
          </a:xfrm>
          <a:prstGeom prst="roundRect">
            <a:avLst>
              <a:gd fmla="val 4516" name="adj"/>
            </a:avLst>
          </a:prstGeom>
          <a:solidFill>
            <a:srgbClr val="10263F"/>
          </a:solidFill>
          <a:ln cap="flat" cmpd="sng" w="12700">
            <a:solidFill>
              <a:srgbClr val="2844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h7e69cd57b07db49f_0_520"/>
          <p:cNvSpPr/>
          <p:nvPr/>
        </p:nvSpPr>
        <p:spPr>
          <a:xfrm>
            <a:off x="5542793" y="4210892"/>
            <a:ext cx="57240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scadia Mono"/>
              <a:buNone/>
            </a:pPr>
            <a:r>
              <a:rPr b="0" i="0" lang="ca" sz="1700" u="none" cap="none" strike="noStrike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icacls C:\Dades /grant </a:t>
            </a:r>
            <a:r>
              <a:rPr lang="ca" sz="1700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"</a:t>
            </a:r>
            <a:r>
              <a:rPr b="0" i="0" lang="ca" sz="1700" u="none" cap="none" strike="noStrike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alumnes:(OI)(CI)M</a:t>
            </a:r>
            <a:r>
              <a:rPr lang="ca" sz="1700">
                <a:solidFill>
                  <a:srgbClr val="FFFFFF"/>
                </a:solidFill>
                <a:latin typeface="Cascadia Mono"/>
                <a:ea typeface="Cascadia Mono"/>
                <a:cs typeface="Cascadia Mono"/>
                <a:sym typeface="Cascadia Mono"/>
              </a:rPr>
              <a:t>"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h7e69cd57b07db49f_0_520"/>
          <p:cNvSpPr/>
          <p:nvPr/>
        </p:nvSpPr>
        <p:spPr>
          <a:xfrm>
            <a:off x="495300" y="5052150"/>
            <a:ext cx="4434900" cy="1417200"/>
          </a:xfrm>
          <a:prstGeom prst="roundRect">
            <a:avLst>
              <a:gd fmla="val 6400" name="adj"/>
            </a:avLst>
          </a:prstGeom>
          <a:solidFill>
            <a:srgbClr val="FFF3D8"/>
          </a:solidFill>
          <a:ln cap="flat" cmpd="sng" w="15225">
            <a:solidFill>
              <a:srgbClr val="F0B4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h7e69cd57b07db49f_0_520"/>
          <p:cNvSpPr/>
          <p:nvPr/>
        </p:nvSpPr>
        <p:spPr>
          <a:xfrm>
            <a:off x="779825" y="5207600"/>
            <a:ext cx="384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Idea clau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h7e69cd57b07db49f_0_520"/>
          <p:cNvSpPr/>
          <p:nvPr/>
        </p:nvSpPr>
        <p:spPr>
          <a:xfrm>
            <a:off x="779825" y="5555063"/>
            <a:ext cx="3848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Arial"/>
              <a:buNone/>
            </a:pPr>
            <a:r>
              <a:rPr b="0" i="0" lang="ca" sz="125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Sense (OI) ni (CI), el permís queda només a la carpeta indicada. Amb (OI)(CI), baixa a tot el contingut nou i heretat.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h7e69cd57b07db49f_0_520"/>
          <p:cNvSpPr/>
          <p:nvPr/>
        </p:nvSpPr>
        <p:spPr>
          <a:xfrm>
            <a:off x="5341625" y="5692220"/>
            <a:ext cx="6126600" cy="594300"/>
          </a:xfrm>
          <a:prstGeom prst="roundRect">
            <a:avLst>
              <a:gd fmla="val 12308" name="adj"/>
            </a:avLst>
          </a:prstGeom>
          <a:solidFill>
            <a:srgbClr val="DDF3E6"/>
          </a:solidFill>
          <a:ln cap="flat" cmpd="sng" w="15225">
            <a:solidFill>
              <a:srgbClr val="58B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7e69cd57b07db49f_0_520"/>
          <p:cNvSpPr/>
          <p:nvPr/>
        </p:nvSpPr>
        <p:spPr>
          <a:xfrm>
            <a:off x="5551937" y="5847668"/>
            <a:ext cx="570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Traducció ràpida: OI = fitxers · CI = carpetes · M = modificar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h7e69cd57b07db49f_0_520"/>
          <p:cNvSpPr/>
          <p:nvPr/>
        </p:nvSpPr>
        <p:spPr>
          <a:xfrm flipH="1" rot="10800000">
            <a:off x="5551937" y="6149540"/>
            <a:ext cx="5706000" cy="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7e69cd57b07db49f_0_58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14" name="Google Shape;414;h7e69cd57b07db49f_0_588"/>
          <p:cNvSpPr txBox="1"/>
          <p:nvPr/>
        </p:nvSpPr>
        <p:spPr>
          <a:xfrm>
            <a:off x="640070" y="411535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Equivalències aproximades entre Linux i Windows</a:t>
            </a: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setfacl i getfacl → icacls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h7e69cd57b07db49f_0_588"/>
          <p:cNvSpPr txBox="1"/>
          <p:nvPr/>
        </p:nvSpPr>
        <p:spPr>
          <a:xfrm>
            <a:off x="502920" y="1280160"/>
            <a:ext cx="11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500"/>
              <a:buFont typeface="Arial"/>
              <a:buNone/>
            </a:pPr>
            <a:r>
              <a:rPr b="0" i="0" lang="ca" sz="15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Equivalències aproximades amb els exemples anteriors: carpeta Practica (Maria, alumnat) i fitxer informe.txt (Joan).</a:t>
            </a:r>
            <a:endParaRPr b="0" i="0" sz="15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6" name="Google Shape;416;h7e69cd57b07db49f_0_588"/>
          <p:cNvGraphicFramePr/>
          <p:nvPr/>
        </p:nvGraphicFramePr>
        <p:xfrm>
          <a:off x="443575" y="18059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{50153560-13FC-4864-B91A-DFBC8653FB23}</a:tableStyleId>
              </a:tblPr>
              <a:tblGrid>
                <a:gridCol w="2834650"/>
                <a:gridCol w="3840475"/>
                <a:gridCol w="45400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ca" sz="1400" u="none" cap="none" strike="noStrike">
                          <a:solidFill>
                            <a:srgbClr val="FFFFFF"/>
                          </a:solidFill>
                        </a:rPr>
                        <a:t>Què vols fer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ca" sz="1400" u="none" cap="none" strike="noStrike">
                          <a:solidFill>
                            <a:srgbClr val="FFFFFF"/>
                          </a:solidFill>
                        </a:rPr>
                        <a:t>Linux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lang="ca" sz="1400" u="none" cap="none" strike="noStrike">
                          <a:solidFill>
                            <a:srgbClr val="FFFFFF"/>
                          </a:solidFill>
                        </a:rPr>
                        <a:t>Windows 11 (icacls)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400"/>
                        <a:buFont typeface="Arial"/>
                        <a:buNone/>
                      </a:pPr>
                      <a:r>
                        <a:rPr lang="ca" sz="1400" u="none" cap="none" strike="noStrike">
                          <a:solidFill>
                            <a:srgbClr val="1D2B3A"/>
                          </a:solidFill>
                        </a:rPr>
                        <a:t>Veure l'ACL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getfacl Practica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icacls Practica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400"/>
                        <a:buFont typeface="Arial"/>
                        <a:buNone/>
                      </a:pPr>
                      <a:r>
                        <a:rPr lang="ca" sz="1400" u="none" cap="none" strike="noStrike">
                          <a:solidFill>
                            <a:srgbClr val="1D2B3A"/>
                          </a:solidFill>
                        </a:rPr>
                        <a:t>Maria pot modificar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setfacl -m u:maria:rwx Practica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icacls Practica /grant maria:M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400"/>
                        <a:buFont typeface="Arial"/>
                        <a:buNone/>
                      </a:pPr>
                      <a:r>
                        <a:rPr lang="ca" sz="1400" u="none" cap="none" strike="noStrike">
                          <a:solidFill>
                            <a:srgbClr val="1D2B3A"/>
                          </a:solidFill>
                        </a:rPr>
                        <a:t>alumnat només llegeix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setfacl -m g:alumnat:r-x Practica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icacls Practica /grant alumnat:RX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400"/>
                        <a:buFont typeface="Arial"/>
                        <a:buNone/>
                      </a:pPr>
                      <a:r>
                        <a:rPr lang="ca" sz="1400" u="none" cap="none" strike="noStrike">
                          <a:solidFill>
                            <a:srgbClr val="1D2B3A"/>
                          </a:solidFill>
                        </a:rPr>
                        <a:t>Joan llegeix un fitxer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setfacl -m u:joan:r informe.txt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icacls informe.txt /grant joan:R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400"/>
                        <a:buFont typeface="Arial"/>
                        <a:buNone/>
                      </a:pPr>
                      <a:r>
                        <a:rPr lang="ca" sz="1400" u="none" cap="none" strike="noStrike">
                          <a:solidFill>
                            <a:srgbClr val="1D2B3A"/>
                          </a:solidFill>
                        </a:rPr>
                        <a:t>Treure l'ACE de Joan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setfacl -x u:joan informe.txt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icacls informe.txt /remove joan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400"/>
                        <a:buFont typeface="Arial"/>
                        <a:buNone/>
                      </a:pPr>
                      <a:r>
                        <a:rPr lang="ca" sz="1400" u="none" cap="none" strike="noStrike">
                          <a:solidFill>
                            <a:srgbClr val="1D2B3A"/>
                          </a:solidFill>
                        </a:rPr>
                        <a:t>Eliminar ACL addicionals / restaurar permisos heretats</a:t>
                      </a:r>
                      <a:endParaRPr sz="1400" u="none" cap="none" strike="noStrike"/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setfacl -b informe.txt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1300"/>
                        <a:buFont typeface="Courier New"/>
                        <a:buNone/>
                      </a:pPr>
                      <a:r>
                        <a:rPr lang="ca" sz="1300" u="none" cap="none" strike="noStrike">
                          <a:solidFill>
                            <a:srgbClr val="1D2B3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icacls informe.txt /reset</a:t>
                      </a:r>
                      <a:endParaRPr sz="13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91450" marL="91450" anchor="ctr">
                    <a:lnL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9D4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7" name="Google Shape;417;h7e69cd57b07db49f_0_588"/>
          <p:cNvSpPr/>
          <p:nvPr/>
        </p:nvSpPr>
        <p:spPr>
          <a:xfrm>
            <a:off x="457200" y="5120651"/>
            <a:ext cx="5532000" cy="141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h7e69cd57b07db49f_0_588"/>
          <p:cNvSpPr txBox="1"/>
          <p:nvPr/>
        </p:nvSpPr>
        <p:spPr>
          <a:xfrm>
            <a:off x="640080" y="518464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(OI)(CI): herència</a:t>
            </a:r>
            <a:endParaRPr b="0" i="0" sz="18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h7e69cd57b07db49f_0_588"/>
          <p:cNvSpPr txBox="1"/>
          <p:nvPr/>
        </p:nvSpPr>
        <p:spPr>
          <a:xfrm>
            <a:off x="640080" y="5577840"/>
            <a:ext cx="5166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b="0" i="0" lang="ca" sz="14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La ACE s'hereta als fitxers i subcarpetes noves, com l'ACL per defecte (-d) de Linux. A PowerShell, escriu l'argument entre cometes.</a:t>
            </a:r>
            <a:endParaRPr b="0" i="0" sz="14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h7e69cd57b07db49f_0_588"/>
          <p:cNvSpPr/>
          <p:nvPr/>
        </p:nvSpPr>
        <p:spPr>
          <a:xfrm>
            <a:off x="6199625" y="5120650"/>
            <a:ext cx="5459100" cy="141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h7e69cd57b07db49f_0_588"/>
          <p:cNvSpPr txBox="1"/>
          <p:nvPr/>
        </p:nvSpPr>
        <p:spPr>
          <a:xfrm>
            <a:off x="6382512" y="518464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Permisos bàsics</a:t>
            </a:r>
            <a:endParaRPr b="0" i="0" sz="18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h7e69cd57b07db49f_0_588"/>
          <p:cNvSpPr txBox="1"/>
          <p:nvPr/>
        </p:nvSpPr>
        <p:spPr>
          <a:xfrm>
            <a:off x="6382512" y="5577840"/>
            <a:ext cx="5166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b="0" i="0" lang="ca" sz="14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F control total · M modificar · RX llegir i executar </a:t>
            </a:r>
            <a:endParaRPr b="0" i="0" sz="14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400"/>
              <a:buFont typeface="Arial"/>
              <a:buNone/>
            </a:pPr>
            <a:r>
              <a:rPr b="0" i="0" lang="ca" sz="14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· R només lectura · W només escriptura</a:t>
            </a:r>
            <a:endParaRPr b="0" i="0" sz="1400" u="none" cap="none" strike="noStrike">
              <a:solidFill>
                <a:srgbClr val="1D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8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7e69cd57b07db49f_0_68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29" name="Google Shape;429;h7e69cd57b07db49f_0_682"/>
          <p:cNvSpPr/>
          <p:nvPr/>
        </p:nvSpPr>
        <p:spPr>
          <a:xfrm>
            <a:off x="655350" y="497528"/>
            <a:ext cx="10881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 a Windows: comanda icacls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430" name="Google Shape;430;h7e69cd57b07db49f_0_682"/>
          <p:cNvSpPr/>
          <p:nvPr/>
        </p:nvSpPr>
        <p:spPr>
          <a:xfrm>
            <a:off x="609605" y="1253081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600"/>
              <a:buFont typeface="Arial"/>
              <a:buNone/>
            </a:pPr>
            <a:r>
              <a:rPr b="0" i="0" lang="ca" sz="160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icacls permet veure, afegir o eliminar permisos NTFS des del terminal.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h7e69cd57b07db49f_0_682"/>
          <p:cNvSpPr/>
          <p:nvPr/>
        </p:nvSpPr>
        <p:spPr>
          <a:xfrm>
            <a:off x="640075" y="1691650"/>
            <a:ext cx="4968900" cy="4671600"/>
          </a:xfrm>
          <a:prstGeom prst="roundRect">
            <a:avLst>
              <a:gd fmla="val 1443" name="adj"/>
            </a:avLst>
          </a:prstGeom>
          <a:solidFill>
            <a:srgbClr val="10263F"/>
          </a:solidFill>
          <a:ln cap="flat" cmpd="sng" w="12700">
            <a:solidFill>
              <a:srgbClr val="2844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h7e69cd57b07db49f_0_682"/>
          <p:cNvSpPr/>
          <p:nvPr/>
        </p:nvSpPr>
        <p:spPr>
          <a:xfrm>
            <a:off x="805701" y="1856242"/>
            <a:ext cx="4637700" cy="41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Veure permisos actuals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icacls C:\Dades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Donar permís de lectura a un grup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icacls C:\Dades /grant alumnes:R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Donar permís de modificació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icacls C:\Dades /grant alumnes:M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Treure permisos d'un grup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icacls C:\Dades /remove alumnes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Arial"/>
              <a:buNone/>
            </a:pPr>
            <a:r>
              <a:t/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# Restablir permisos heretats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Cascadia Mono"/>
              <a:buNone/>
            </a:pPr>
            <a:r>
              <a:rPr b="1" i="0" lang="ca" sz="152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icacls C:\Dades /reset</a:t>
            </a:r>
            <a:endParaRPr b="1" i="0" sz="152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h7e69cd57b07db49f_0_682"/>
          <p:cNvSpPr/>
          <p:nvPr/>
        </p:nvSpPr>
        <p:spPr>
          <a:xfrm>
            <a:off x="6094375" y="1691650"/>
            <a:ext cx="5472900" cy="19506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7D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h7e69cd57b07db49f_0_682"/>
          <p:cNvSpPr/>
          <p:nvPr/>
        </p:nvSpPr>
        <p:spPr>
          <a:xfrm>
            <a:off x="6370783" y="1901951"/>
            <a:ext cx="386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Lletres de permisos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h7e69cd57b07db49f_0_682"/>
          <p:cNvSpPr/>
          <p:nvPr/>
        </p:nvSpPr>
        <p:spPr>
          <a:xfrm>
            <a:off x="6370777" y="2304302"/>
            <a:ext cx="4920000" cy="1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-30670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30"/>
              <a:buFont typeface="Arial"/>
              <a:buChar char="●"/>
            </a:pPr>
            <a:r>
              <a:rPr b="0" i="0" lang="ca" sz="123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R = Read / Lectura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70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30"/>
              <a:buFont typeface="Arial"/>
              <a:buChar char="●"/>
            </a:pPr>
            <a:r>
              <a:rPr b="0" i="0" lang="ca" sz="123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W = Write / Escriptura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70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30"/>
              <a:buFont typeface="Arial"/>
              <a:buChar char="●"/>
            </a:pPr>
            <a:r>
              <a:rPr b="0" i="0" lang="ca" sz="123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M = Modify / Modificar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70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30"/>
              <a:buFont typeface="Arial"/>
              <a:buChar char="●"/>
            </a:pPr>
            <a:r>
              <a:rPr b="0" i="0" lang="ca" sz="123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F = Full control / Control total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h7e69cd57b07db49f_0_682"/>
          <p:cNvSpPr/>
          <p:nvPr/>
        </p:nvSpPr>
        <p:spPr>
          <a:xfrm>
            <a:off x="6094299" y="3878120"/>
            <a:ext cx="5472900" cy="2485200"/>
          </a:xfrm>
          <a:prstGeom prst="roundRect">
            <a:avLst>
              <a:gd fmla="val 3101" name="adj"/>
            </a:avLst>
          </a:prstGeom>
          <a:solidFill>
            <a:srgbClr val="DCECF8"/>
          </a:solidFill>
          <a:ln cap="flat" cmpd="sng" w="15225">
            <a:solidFill>
              <a:srgbClr val="9DC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h7e69cd57b07db49f_0_682"/>
          <p:cNvSpPr/>
          <p:nvPr/>
        </p:nvSpPr>
        <p:spPr>
          <a:xfrm>
            <a:off x="6348592" y="3922773"/>
            <a:ext cx="496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3"/>
              </a:buClr>
              <a:buSzPts val="1500"/>
              <a:buFont typeface="Arial"/>
              <a:buNone/>
            </a:pPr>
            <a:r>
              <a:rPr b="1" i="0" lang="ca" sz="1500" u="none" cap="none" strike="noStrike">
                <a:solidFill>
                  <a:srgbClr val="123B63"/>
                </a:solidFill>
                <a:latin typeface="Arial"/>
                <a:ea typeface="Arial"/>
                <a:cs typeface="Arial"/>
                <a:sym typeface="Arial"/>
              </a:rPr>
              <a:t>Exemple pràctic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h7e69cd57b07db49f_0_682"/>
          <p:cNvSpPr/>
          <p:nvPr/>
        </p:nvSpPr>
        <p:spPr>
          <a:xfrm>
            <a:off x="6348600" y="4263925"/>
            <a:ext cx="51783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Arial"/>
              <a:buNone/>
            </a:pPr>
            <a:r>
              <a:rPr b="0" i="0" lang="ca" sz="125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Si volem que el grup alumnes pugui treballar dins una carpeta compartida, normalment farem servir M: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Arial"/>
              <a:buNone/>
            </a:pPr>
            <a:r>
              <a:rPr b="1" lang="ca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icacls C:\Dades /grant "alumnes:(OI)(CI)M"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16324F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24F"/>
              </a:buClr>
              <a:buSzPts val="1250"/>
              <a:buFont typeface="Arial"/>
              <a:buNone/>
            </a:pPr>
            <a:r>
              <a:rPr lang="ca" sz="1250">
                <a:solidFill>
                  <a:srgbClr val="16324F"/>
                </a:solidFill>
              </a:rPr>
              <a:t>Amb (OI)(CI), els permisos concedits a la carpeta es poden heretar als fitxers i subcarpetes.</a:t>
            </a:r>
            <a:endParaRPr sz="1250">
              <a:solidFill>
                <a:srgbClr val="16324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7e69cd57b07db49f_0_778"/>
          <p:cNvSpPr txBox="1"/>
          <p:nvPr>
            <p:ph type="title"/>
          </p:nvPr>
        </p:nvSpPr>
        <p:spPr>
          <a:xfrm>
            <a:off x="731520" y="36576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</a:rPr>
              <a:t>Llegir la sortida d'icacls i diferències amb Linux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445" name="Google Shape;445;h7e69cd57b07db49f_0_778"/>
          <p:cNvSpPr txBox="1"/>
          <p:nvPr/>
        </p:nvSpPr>
        <p:spPr>
          <a:xfrm>
            <a:off x="502920" y="1280160"/>
            <a:ext cx="11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ca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línia és una ACE: subjecte + permetre/denegar + permisos, igual que a l'esquema d'ACL i ACE.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h7e69cd57b07db49f_0_778"/>
          <p:cNvSpPr/>
          <p:nvPr/>
        </p:nvSpPr>
        <p:spPr>
          <a:xfrm>
            <a:off x="457200" y="1783075"/>
            <a:ext cx="6774300" cy="46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h7e69cd57b07db49f_0_778"/>
          <p:cNvSpPr txBox="1"/>
          <p:nvPr/>
        </p:nvSpPr>
        <p:spPr>
          <a:xfrm>
            <a:off x="685800" y="1874520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ca" sz="1800">
                <a:solidFill>
                  <a:schemeClr val="dk2"/>
                </a:solidFill>
              </a:rPr>
              <a:t>Exemple s</a:t>
            </a:r>
            <a:r>
              <a:rPr b="1" i="0" lang="ca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ortida d'icacls Practica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h7e69cd57b07db49f_0_778"/>
          <p:cNvSpPr/>
          <p:nvPr/>
        </p:nvSpPr>
        <p:spPr>
          <a:xfrm>
            <a:off x="685800" y="2331720"/>
            <a:ext cx="5669400" cy="1326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Practica PC\maria:(OI)(CI)(M)</a:t>
            </a:r>
            <a:endParaRPr b="1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PC\alumnat:(OI)(CI)(RX)</a:t>
            </a:r>
            <a:endParaRPr b="1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BUILTIN\Administradors:(I)(OI)(CI)(F)</a:t>
            </a:r>
            <a:endParaRPr b="1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None/>
            </a:pPr>
            <a:r>
              <a:rPr b="1" i="0" lang="ca" sz="1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      NT AUTHORITY\SYSTEM:(I)(OI)(CI)(F)</a:t>
            </a:r>
            <a:endParaRPr b="1" i="0" sz="1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h7e69cd57b07db49f_0_778"/>
          <p:cNvSpPr txBox="1"/>
          <p:nvPr/>
        </p:nvSpPr>
        <p:spPr>
          <a:xfrm>
            <a:off x="685800" y="3840480"/>
            <a:ext cx="5669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PC\maria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subjecte (equip\usuari o grup)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(OI)(CI)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s'hereta a fitxers i subcarpetes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(M) (RX) (F)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permís (modificar, llegir i executar, control total)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ACE heretada de la carpeta pare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(DENY)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ACE de denegar (si n'hi ha)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h7e69cd57b07db49f_0_77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51" name="Google Shape;451;h7e69cd57b07db49f_0_778"/>
          <p:cNvSpPr txBox="1"/>
          <p:nvPr/>
        </p:nvSpPr>
        <p:spPr>
          <a:xfrm>
            <a:off x="7506125" y="3082638"/>
            <a:ext cx="415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BUILTIN\Administradors</a:t>
            </a:r>
            <a:r>
              <a:rPr lang="ca" sz="1100">
                <a:solidFill>
                  <a:schemeClr val="dk1"/>
                </a:solidFill>
              </a:rPr>
              <a:t> i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NT AUTHORITY\SYSTEM</a:t>
            </a:r>
            <a:r>
              <a:rPr lang="ca" sz="1100">
                <a:solidFill>
                  <a:schemeClr val="dk1"/>
                </a:solidFill>
              </a:rPr>
              <a:t> són entrades habituals del sistema Windows i sovint apareixen automàticament per herència.</a:t>
            </a:r>
            <a:endParaRPr/>
          </a:p>
        </p:txBody>
      </p:sp>
      <p:sp>
        <p:nvSpPr>
          <p:cNvPr id="452" name="Google Shape;452;h7e69cd57b07db49f_0_778"/>
          <p:cNvSpPr txBox="1"/>
          <p:nvPr/>
        </p:nvSpPr>
        <p:spPr>
          <a:xfrm>
            <a:off x="7506125" y="20689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</a:rPr>
              <a:t>BUILTIN = grups integrats de Windows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00">
                <a:solidFill>
                  <a:schemeClr val="dk1"/>
                </a:solidFill>
              </a:rPr>
              <a:t>NT AUTHORITY = comptes especials del sistema</a:t>
            </a:r>
            <a:endParaRPr/>
          </a:p>
        </p:txBody>
      </p:sp>
      <p:sp>
        <p:nvSpPr>
          <p:cNvPr id="453" name="Google Shape;453;h7e69cd57b07db49f_0_778"/>
          <p:cNvSpPr txBox="1"/>
          <p:nvPr/>
        </p:nvSpPr>
        <p:spPr>
          <a:xfrm>
            <a:off x="7561500" y="40963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No convé eliminar sense motiu els permisos de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Administradors</a:t>
            </a:r>
            <a:r>
              <a:rPr lang="ca" sz="1100">
                <a:solidFill>
                  <a:schemeClr val="dk1"/>
                </a:solidFill>
              </a:rPr>
              <a:t> ni de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SYSTEM</a:t>
            </a:r>
            <a:r>
              <a:rPr lang="ca" sz="1100">
                <a:solidFill>
                  <a:schemeClr val="dk1"/>
                </a:solidFill>
              </a:rPr>
              <a:t>, perquè podries impedir que Windows o els administradors gestionin correctament la carpeta.</a:t>
            </a:r>
            <a:endParaRPr/>
          </a:p>
        </p:txBody>
      </p:sp>
      <p:sp>
        <p:nvSpPr>
          <p:cNvPr id="454" name="Google Shape;454;h7e69cd57b07db49f_0_778"/>
          <p:cNvSpPr txBox="1"/>
          <p:nvPr/>
        </p:nvSpPr>
        <p:spPr>
          <a:xfrm>
            <a:off x="7672350" y="54487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chemeClr val="dk1"/>
                </a:solidFill>
              </a:rPr>
              <a:t>No necessàriament </a:t>
            </a:r>
            <a:r>
              <a:rPr b="1" lang="ca" sz="1100">
                <a:solidFill>
                  <a:schemeClr val="dk1"/>
                </a:solidFill>
              </a:rPr>
              <a:t>tots</a:t>
            </a:r>
            <a:r>
              <a:rPr lang="ca" sz="1100">
                <a:solidFill>
                  <a:schemeClr val="dk1"/>
                </a:solidFill>
              </a:rPr>
              <a:t>, però és molt habitual que apareguin en moltes carpetes NTFS de Windows.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h7e69cd57b07db49f_0_803"/>
          <p:cNvSpPr txBox="1"/>
          <p:nvPr>
            <p:ph type="title"/>
          </p:nvPr>
        </p:nvSpPr>
        <p:spPr>
          <a:xfrm>
            <a:off x="731520" y="36576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</a:rPr>
              <a:t>Llegir la sortida d'icacls i diferències amb Linux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461" name="Google Shape;461;h7e69cd57b07db49f_0_803"/>
          <p:cNvSpPr txBox="1"/>
          <p:nvPr/>
        </p:nvSpPr>
        <p:spPr>
          <a:xfrm>
            <a:off x="502920" y="1280160"/>
            <a:ext cx="11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ca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línia és una ACE: subjecte + permetre/denegar + permisos, igual que a l'esquema d'ACL i ACE.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h7e69cd57b07db49f_0_803"/>
          <p:cNvSpPr/>
          <p:nvPr/>
        </p:nvSpPr>
        <p:spPr>
          <a:xfrm>
            <a:off x="554146" y="1965650"/>
            <a:ext cx="8875200" cy="3840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B9D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h7e69cd57b07db49f_0_803"/>
          <p:cNvSpPr txBox="1"/>
          <p:nvPr/>
        </p:nvSpPr>
        <p:spPr>
          <a:xfrm>
            <a:off x="966568" y="2057090"/>
            <a:ext cx="80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ca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Diferències amb Linux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h7e69cd57b07db49f_0_803"/>
          <p:cNvSpPr txBox="1"/>
          <p:nvPr/>
        </p:nvSpPr>
        <p:spPr>
          <a:xfrm>
            <a:off x="966568" y="2560012"/>
            <a:ext cx="8083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Permetre i Denegar. 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Windows hi ha ACE de denegar, i normalment Denegar té prioritat.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Herència automàtica. 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carpetes passen els permisos als fills; a Linux cal l'ACL per defecte.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Sense màscara. 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ACE val pels seus permisos, no hi ha límit global.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 són ACE. </a:t>
            </a:r>
            <a:r>
              <a:rPr b="0" i="0" lang="c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hi ha propietari/grup/altres clàssics: sempre hi ha una ACL completa.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h7e69cd57b07db49f_0_8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s’interpreta una ACL?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02933" y="138000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Aquesta diapositiva és general; després cada sistema té els seus matisos.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667525" y="1883675"/>
            <a:ext cx="3474600" cy="30105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7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Regla conceptual</a:t>
            </a:r>
            <a:endParaRPr b="1" sz="17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AutoNum type="arabicPeriod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El sistema rep una petició: “aquest usuari vol fer aquesta acció”.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AutoNum type="arabicPeriod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Mira les entrades de l’ACL que s’hi apliquen.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AutoNum type="arabicPeriod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Decideix si permet o denega.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325125" y="1883675"/>
            <a:ext cx="3474600" cy="30105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7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Matís Linux</a:t>
            </a:r>
            <a:endParaRPr b="1" sz="17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Hi ha permisos tradicionals + ACL.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La màscara pot reduir permisos efectius.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Si no hi ha permís, l’accés no es concedeix.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7982725" y="1883675"/>
            <a:ext cx="3474600" cy="30105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7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Matís Windows</a:t>
            </a:r>
            <a:endParaRPr b="1" sz="17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Els permisos NTFS combinen entrades heretades i explícites.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Char char="●"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Una entrada de denegar pot tenir prioritat sobre permetre.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741275" y="5478725"/>
            <a:ext cx="10149900" cy="9300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87DBE"/>
              </a:buClr>
              <a:buSzPts val="2200"/>
              <a:buFont typeface="Arial"/>
              <a:buNone/>
            </a:pPr>
            <a:r>
              <a:rPr b="1" lang="ca" sz="2200">
                <a:solidFill>
                  <a:srgbClr val="087DBE"/>
                </a:solidFill>
              </a:rPr>
              <a:t>U</a:t>
            </a:r>
            <a:r>
              <a:rPr b="1" lang="ca" sz="2200">
                <a:solidFill>
                  <a:srgbClr val="087DBE"/>
                </a:solidFill>
                <a:latin typeface="Arial"/>
                <a:ea typeface="Arial"/>
                <a:cs typeface="Arial"/>
                <a:sym typeface="Arial"/>
              </a:rPr>
              <a:t>na ACL és una llista de regles; el sistema la consulta abans de donar accés.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3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Política de seguretat basada en ACL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502933" y="135702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No és només “posar permisos”: cal definir una norma coherent.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667525" y="1878235"/>
            <a:ext cx="3383400" cy="23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Què volem protegir?</a:t>
            </a:r>
            <a:endParaRPr b="1" sz="15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Objectes: carpetes, fitxers, recursos compartits, aplicacions, ports de xarxa…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370845" y="1878235"/>
            <a:ext cx="3383400" cy="23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Qui necessita accés?</a:t>
            </a:r>
            <a:endParaRPr b="1" sz="15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Subjectes: usuaris, grups, rols o serveis. Millor treballar amb grups que amb persones soltes.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8074165" y="1878235"/>
            <a:ext cx="3383400" cy="23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Què pot fer cadascú?</a:t>
            </a:r>
            <a:endParaRPr b="1" sz="150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Drets: llegir, escriure, executar, modificar, eliminar, administrar…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850400" y="4804335"/>
            <a:ext cx="10607100" cy="10257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200"/>
              <a:buFont typeface="Arial"/>
              <a:buNone/>
            </a:pPr>
            <a:r>
              <a:rPr b="1" lang="ca" sz="22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Principi de mínim privilegi: donar només els permisos necessaris per fer la feina.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Bones pràctiques actuals amb ACL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502933" y="136932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Algunes pautes que han guanyat importància els darrers anys.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868800" y="2116925"/>
            <a:ext cx="10789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Fer servir grups i rols sempre que sigui possible, no permisos persona a persona.</a:t>
            </a:r>
            <a:endParaRPr sz="1500">
              <a:solidFill>
                <a:srgbClr val="163B5C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Aplicar mínim privilegi: accés just per a la tasca, no “per si de cas”.</a:t>
            </a:r>
            <a:endParaRPr sz="1500">
              <a:solidFill>
                <a:srgbClr val="163B5C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Revisar permisos periòdicament: altes, baixes, canvis de funció i carpetes compartides antigues.</a:t>
            </a:r>
            <a:endParaRPr sz="1500">
              <a:solidFill>
                <a:srgbClr val="163B5C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Evitar “Tothom / Everyone” amb escriptura en recursos importants.</a:t>
            </a:r>
            <a:endParaRPr sz="1500">
              <a:solidFill>
                <a:srgbClr val="163B5C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Registrar canvis i tenir una política clara de propietaris de carpetes i recursos.</a:t>
            </a:r>
            <a:endParaRPr sz="1500">
              <a:solidFill>
                <a:srgbClr val="163B5C"/>
              </a:solidFill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En entorns actuals, combinar permisos locals amb identitat centralitzada: Active Directory, Entra ID, LDAP o serveis similars.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627620" y="6072445"/>
            <a:ext cx="1024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87DBE"/>
              </a:buClr>
              <a:buSzPts val="1700"/>
              <a:buFont typeface="Arial"/>
              <a:buNone/>
            </a:pPr>
            <a:r>
              <a:rPr b="1" lang="ca" sz="1700">
                <a:solidFill>
                  <a:srgbClr val="087DBE"/>
                </a:solidFill>
                <a:latin typeface="Arial"/>
                <a:ea typeface="Arial"/>
                <a:cs typeface="Arial"/>
                <a:sym typeface="Arial"/>
              </a:rPr>
              <a:t>L’objectiu no és tenir moltes regles, sinó regles clares, justificades i revisables.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8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Dissenyar una política ACL en un cas real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502933" y="1431040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Una política ha de ser comprensible, aplicable i revisable.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758965" y="1860808"/>
            <a:ext cx="5074800" cy="10059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1 · Recursos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Quines carpetes, fitxers, aplicacions o recursos de xarxa protegim?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6291085" y="1860808"/>
            <a:ext cx="5074800" cy="10059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2 · Grups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Quins grups existeixen? alumnat, professorat, administració, direcció…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758965" y="3140968"/>
            <a:ext cx="5074800" cy="10059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3 · Permisos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Què necessita cada grup? lectura, modificació, administració…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6291085" y="3140968"/>
            <a:ext cx="5074800" cy="1005900"/>
          </a:xfrm>
          <a:prstGeom prst="rect">
            <a:avLst/>
          </a:prstGeom>
          <a:solidFill>
            <a:srgbClr val="F8FC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4 · Excepcions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Quins usuaris o rols necessiten permisos especials? Cal justificar-ho.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2450605" y="4421128"/>
            <a:ext cx="7269600" cy="1005900"/>
          </a:xfrm>
          <a:prstGeom prst="rect">
            <a:avLst/>
          </a:prstGeom>
          <a:solidFill>
            <a:srgbClr val="DCEEF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5 · Revisió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Qui revisa els permisos? Quan? Com es documenten els canvis?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5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ACL de xarxa: mateixa idea, altre context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502933" y="145390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</a:rPr>
              <a:t>Només hem de tenir idea, ACL no és només permisos de fitxers i carpetes. </a:t>
            </a: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En routers i tallafocs, les ACL filtren trànsit.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758965" y="1975110"/>
            <a:ext cx="3383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Sistema d’arxius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Subjectes: usuaris i grups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Objectes: fitxers i carpetes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Accions: llegir, escriure, executar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4416565" y="1975110"/>
            <a:ext cx="3383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Xarxa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Subjectes: IP, xarxa o servei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Objectes: ports o protocols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Accions: permetre o bloquejar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8074165" y="1975110"/>
            <a:ext cx="3383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500"/>
              <a:buFont typeface="Arial"/>
              <a:buNone/>
            </a:pPr>
            <a:r>
              <a:rPr b="1" lang="ca" sz="15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63B5C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Permetre HTTPS cap al servidor web, però bloquejar altres ports des d’Internet.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987575" y="4901208"/>
            <a:ext cx="10149900" cy="916500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200"/>
              <a:buFont typeface="Arial"/>
              <a:buNone/>
            </a:pPr>
            <a:r>
              <a:rPr b="1" lang="ca" sz="22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En xarxa, l’ordre de les regles pot ser decisiu: sovint es llegeixen de dalt a baix.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6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Excepció per a un usuari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502933" y="130775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Objectiu: veure un cas on chmod queda curt.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667525" y="1737525"/>
            <a:ext cx="5303400" cy="46713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</a:rPr>
              <a:t>Situació</a:t>
            </a:r>
            <a:endParaRPr b="1" sz="14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300">
                <a:solidFill>
                  <a:schemeClr val="dk1"/>
                </a:solidFill>
              </a:rPr>
              <a:t>Tenim una carpeta 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Projecte</a:t>
            </a:r>
            <a:r>
              <a:rPr lang="ca" sz="1300">
                <a:solidFill>
                  <a:schemeClr val="dk1"/>
                </a:solidFill>
              </a:rPr>
              <a:t> que només poden utilitzar els membres del grup 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desenvolupament</a:t>
            </a:r>
            <a:r>
              <a:rPr lang="ca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300">
                <a:solidFill>
                  <a:schemeClr val="dk1"/>
                </a:solidFill>
              </a:rPr>
              <a:t>Laia no pertany al grup, però necessitem que pugui: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ca" sz="1300">
                <a:solidFill>
                  <a:schemeClr val="dk1"/>
                </a:solidFill>
              </a:rPr>
              <a:t>Entrar a la carpeta 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Projecte</a:t>
            </a:r>
            <a:r>
              <a:rPr lang="ca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ca" sz="1300">
                <a:solidFill>
                  <a:schemeClr val="dk1"/>
                </a:solidFill>
              </a:rPr>
              <a:t>Veure els noms dels fitxers i subcarpetes.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ca" sz="1300">
                <a:solidFill>
                  <a:schemeClr val="dk1"/>
                </a:solidFill>
              </a:rPr>
              <a:t>No crear, modificar ni eliminar elements.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300">
                <a:solidFill>
                  <a:schemeClr val="dk1"/>
                </a:solidFill>
              </a:rPr>
              <a:t>La resta d'usuaris sense autorització no han de tenir accés.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63B5C"/>
              </a:solidFill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6291085" y="1737520"/>
            <a:ext cx="5166300" cy="2286000"/>
          </a:xfrm>
          <a:prstGeom prst="rect">
            <a:avLst/>
          </a:prstGeom>
          <a:solidFill>
            <a:srgbClr val="FFF0C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  <a:endParaRPr b="1" sz="14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381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300">
                <a:solidFill>
                  <a:schemeClr val="dk1"/>
                </a:solidFill>
              </a:rPr>
              <a:t>Com donaríeu aquests permisos a Laia sense afegir-la al grup </a:t>
            </a:r>
            <a:r>
              <a:rPr lang="ca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desenvolupament</a:t>
            </a:r>
            <a:r>
              <a:rPr lang="ca" sz="1300">
                <a:solidFill>
                  <a:schemeClr val="dk1"/>
                </a:solidFill>
              </a:rPr>
              <a:t>? </a:t>
            </a:r>
            <a:r>
              <a:rPr lang="ca" sz="1300">
                <a:solidFill>
                  <a:schemeClr val="dk1"/>
                </a:solidFill>
              </a:rPr>
              <a:t>Heu de donar resposta en Linux i Windows.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63B5C"/>
              </a:solidFill>
            </a:endParaRPr>
          </a:p>
        </p:txBody>
      </p:sp>
      <p:sp>
        <p:nvSpPr>
          <p:cNvPr id="534" name="Google Shape;534;p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7e69cd57b07db49f_0_831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Excepció per a un usuari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h7e69cd57b07db49f_0_831"/>
          <p:cNvSpPr/>
          <p:nvPr/>
        </p:nvSpPr>
        <p:spPr>
          <a:xfrm>
            <a:off x="502933" y="130775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Objectiu: veure un cas on chmod queda curt.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7e69cd57b07db49f_0_831"/>
          <p:cNvSpPr/>
          <p:nvPr/>
        </p:nvSpPr>
        <p:spPr>
          <a:xfrm>
            <a:off x="641055" y="207403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8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Solució proposada Linux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h7e69cd57b07db49f_0_8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544" name="Google Shape;544;h7e69cd57b07db49f_0_831"/>
          <p:cNvSpPr txBox="1"/>
          <p:nvPr/>
        </p:nvSpPr>
        <p:spPr>
          <a:xfrm>
            <a:off x="1243825" y="2689575"/>
            <a:ext cx="4411200" cy="30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Solució sobre la carpeta: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/>
              <a:t>$ </a:t>
            </a:r>
            <a:r>
              <a:rPr b="1" lang="ca"/>
              <a:t>setfacl -m u:laia:rx Projecte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Per comprovar-ho: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/>
              <a:t>$ getfacl Projecte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La nova entrada seria semblant 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user:laia:r-x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ca">
                <a:solidFill>
                  <a:schemeClr val="dk1"/>
                </a:solidFill>
              </a:rPr>
              <a:t> li permet veure el contingut i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ca">
                <a:solidFill>
                  <a:schemeClr val="dk1"/>
                </a:solidFill>
              </a:rPr>
              <a:t> entrar/travessar la carpeta.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h7e69cd57b07db49f_0_852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1 · Excepció per a un usuari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h7e69cd57b07db49f_0_852"/>
          <p:cNvSpPr/>
          <p:nvPr/>
        </p:nvSpPr>
        <p:spPr>
          <a:xfrm>
            <a:off x="502933" y="130775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Objectiu: veure un cas on chmod queda curt.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7e69cd57b07db49f_0_852"/>
          <p:cNvSpPr/>
          <p:nvPr/>
        </p:nvSpPr>
        <p:spPr>
          <a:xfrm>
            <a:off x="641055" y="207403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8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Solució proposada Windows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h7e69cd57b07db49f_0_8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554" name="Google Shape;554;h7e69cd57b07db49f_0_852"/>
          <p:cNvSpPr txBox="1"/>
          <p:nvPr/>
        </p:nvSpPr>
        <p:spPr>
          <a:xfrm>
            <a:off x="1219175" y="2714200"/>
            <a:ext cx="59019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Equivalent amb </a:t>
            </a:r>
            <a:r>
              <a:rPr lang="ca">
                <a:solidFill>
                  <a:srgbClr val="188038"/>
                </a:solidFill>
              </a:rPr>
              <a:t>icacls</a:t>
            </a:r>
            <a:r>
              <a:rPr lang="ca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icacls C:\Projecte /grant laia:RX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Per comprovar els permisos: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icacls C:\Projecte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rgbClr val="188038"/>
                </a:solidFill>
              </a:rPr>
              <a:t>RX</a:t>
            </a:r>
            <a:r>
              <a:rPr lang="ca">
                <a:solidFill>
                  <a:schemeClr val="dk1"/>
                </a:solidFill>
              </a:rPr>
              <a:t> significa: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R  = Read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X  = Execute / Traverse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Si volem que el permís de Laia </a:t>
            </a:r>
            <a:r>
              <a:rPr b="1" lang="ca">
                <a:solidFill>
                  <a:schemeClr val="dk1"/>
                </a:solidFill>
              </a:rPr>
              <a:t>també s’hereti als fitxers i subcarpetes</a:t>
            </a:r>
            <a:r>
              <a:rPr lang="ca">
                <a:solidFill>
                  <a:schemeClr val="dk1"/>
                </a:solidFill>
              </a:rPr>
              <a:t>, llavors: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>
                <a:solidFill>
                  <a:schemeClr val="dk1"/>
                </a:solidFill>
              </a:rPr>
              <a:t>icacls C:\Projecte /grant "laia:(OI)(CI)RX"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7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2 · Excepció dins d’un grup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502933" y="133235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Objectiu: donar més permisos només a una persona concreta.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685838" y="1742550"/>
            <a:ext cx="5303400" cy="3372900"/>
          </a:xfrm>
          <a:prstGeom prst="rect">
            <a:avLst/>
          </a:prstGeom>
          <a:solidFill>
            <a:srgbClr val="F4F9FE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Situació</a:t>
            </a:r>
            <a:endParaRPr b="1" sz="14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Carpeta: /projecte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Grup alumnat: només lectura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A la carpeta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Projecte</a:t>
            </a:r>
            <a:r>
              <a:rPr lang="ca">
                <a:solidFill>
                  <a:schemeClr val="dk1"/>
                </a:solidFill>
              </a:rPr>
              <a:t> tenim el fitxer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treball.txt</a:t>
            </a:r>
            <a:r>
              <a:rPr lang="ca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El grup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alumnat</a:t>
            </a:r>
            <a:r>
              <a:rPr lang="ca">
                <a:solidFill>
                  <a:schemeClr val="dk1"/>
                </a:solidFill>
              </a:rPr>
              <a:t> té permís de lectura sobre aquest fitxer. Maria forma part d'aquest grup, però necessita modificar-ne el contingut.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La resta d'alumnes només han de poder llegir-lo.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t/>
            </a:r>
            <a:endParaRPr sz="1450">
              <a:solidFill>
                <a:srgbClr val="163B5C"/>
              </a:solidFill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6309390" y="1742550"/>
            <a:ext cx="5166300" cy="3372900"/>
          </a:xfrm>
          <a:prstGeom prst="rect">
            <a:avLst/>
          </a:prstGeom>
          <a:solidFill>
            <a:srgbClr val="FFF0CF"/>
          </a:solidFill>
          <a:ln cap="flat" cmpd="sng" w="9525">
            <a:solidFill>
              <a:srgbClr val="9AC8EE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rPr b="1" lang="ca" sz="145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  <a:endParaRPr b="1" sz="1450"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450"/>
              <a:buFont typeface="Arial"/>
              <a:buNone/>
            </a:pPr>
            <a:r>
              <a:t/>
            </a:r>
            <a:endParaRPr b="1" sz="145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>
                <a:solidFill>
                  <a:schemeClr val="dk1"/>
                </a:solidFill>
              </a:rPr>
              <a:t>com donaríeu a Maria permís de modificació sobre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treball.txt</a:t>
            </a:r>
            <a:r>
              <a:rPr lang="ca">
                <a:solidFill>
                  <a:schemeClr val="dk1"/>
                </a:solidFill>
              </a:rPr>
              <a:t>, sense donar-lo a tot el grup </a:t>
            </a:r>
            <a:r>
              <a:rPr lang="ca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alumnat</a:t>
            </a:r>
            <a:r>
              <a:rPr lang="ca">
                <a:solidFill>
                  <a:schemeClr val="dk1"/>
                </a:solidFill>
              </a:rPr>
              <a:t>? Responeu a Linux i Windows.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h7e69cd57b07db49f_0_862"/>
          <p:cNvSpPr/>
          <p:nvPr/>
        </p:nvSpPr>
        <p:spPr>
          <a:xfrm>
            <a:off x="502920" y="53035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Pràctica 2 · Excepció dins d’un grup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h7e69cd57b07db49f_0_862"/>
          <p:cNvSpPr/>
          <p:nvPr/>
        </p:nvSpPr>
        <p:spPr>
          <a:xfrm>
            <a:off x="502933" y="133235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Objectiu: donar més permisos només a una persona concreta.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h7e69cd57b07db49f_0_862"/>
          <p:cNvSpPr/>
          <p:nvPr/>
        </p:nvSpPr>
        <p:spPr>
          <a:xfrm>
            <a:off x="594280" y="1855255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800"/>
              <a:buFont typeface="Arial"/>
              <a:buNone/>
            </a:pPr>
            <a:r>
              <a:rPr b="1" lang="ca" sz="1800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Solució proposada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h7e69cd57b07db49f_0_862"/>
          <p:cNvSpPr/>
          <p:nvPr/>
        </p:nvSpPr>
        <p:spPr>
          <a:xfrm>
            <a:off x="594275" y="2266713"/>
            <a:ext cx="5120700" cy="335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b="1" lang="ca">
                <a:solidFill>
                  <a:srgbClr val="123E66"/>
                </a:solidFill>
              </a:rPr>
              <a:t>Lin</a:t>
            </a:r>
            <a:r>
              <a:rPr b="1" lang="ca">
                <a:solidFill>
                  <a:srgbClr val="123E66"/>
                </a:solidFill>
              </a:rPr>
              <a:t>ux</a:t>
            </a:r>
            <a:endParaRPr b="1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b="1" lang="ca">
                <a:solidFill>
                  <a:srgbClr val="123E66"/>
                </a:solidFill>
              </a:rPr>
              <a:t>$ </a:t>
            </a:r>
            <a:r>
              <a:rPr b="1" lang="ca">
                <a:solidFill>
                  <a:srgbClr val="123E66"/>
                </a:solidFill>
              </a:rPr>
              <a:t>setfacl -m u:maria:rw /projecte/treball.txt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74" name="Google Shape;574;h7e69cd57b07db49f_0_862"/>
          <p:cNvSpPr/>
          <p:nvPr/>
        </p:nvSpPr>
        <p:spPr>
          <a:xfrm>
            <a:off x="6080675" y="2266712"/>
            <a:ext cx="5120700" cy="335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AC8E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b="1" lang="ca">
                <a:solidFill>
                  <a:srgbClr val="123E66"/>
                </a:solidFill>
              </a:rPr>
              <a:t>Windows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lang="ca">
                <a:solidFill>
                  <a:srgbClr val="123E66"/>
                </a:solidFill>
                <a:latin typeface="Arial"/>
                <a:ea typeface="Arial"/>
                <a:cs typeface="Arial"/>
                <a:sym typeface="Arial"/>
              </a:rPr>
              <a:t>Propietats → Seguretat → Afegeix Maria</a:t>
            </a:r>
            <a:endParaRPr>
              <a:solidFill>
                <a:srgbClr val="123E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lang="ca" sz="1200">
                <a:solidFill>
                  <a:schemeClr val="dk1"/>
                </a:solidFill>
              </a:rPr>
              <a:t>Com que Maria ja pertany al grup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alumnat</a:t>
            </a:r>
            <a:r>
              <a:rPr lang="ca" sz="1200">
                <a:solidFill>
                  <a:schemeClr val="dk1"/>
                </a:solidFill>
              </a:rPr>
              <a:t>, que té lectura, pots donar-li únicament escriptura a Windows:</a:t>
            </a:r>
            <a:endParaRPr sz="15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b="1" lang="ca">
                <a:solidFill>
                  <a:srgbClr val="123E66"/>
                </a:solidFill>
              </a:rPr>
              <a:t>icacls C:\Projecte\treball.txt /grant Maria:W</a:t>
            </a:r>
            <a:endParaRPr b="1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rPr b="1" lang="ca">
                <a:solidFill>
                  <a:srgbClr val="123E66"/>
                </a:solidFill>
              </a:rPr>
              <a:t>icacls C:\Projecte\treball.txt</a:t>
            </a:r>
            <a:endParaRPr b="1">
              <a:solidFill>
                <a:srgbClr val="123E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23E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00">
                <a:solidFill>
                  <a:schemeClr val="dk1"/>
                </a:solidFill>
              </a:rPr>
              <a:t>Així combina la lectura que rep del grup amb l'escriptura específica, sense concedir-li el permís més ampli </a:t>
            </a:r>
            <a:r>
              <a:rPr lang="ca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ca" sz="1200">
                <a:solidFill>
                  <a:schemeClr val="dk1"/>
                </a:solidFill>
              </a:rPr>
              <a:t>, que també inclou eliminació. És més fidel al principi de mínim privilegi.</a:t>
            </a:r>
            <a:endParaRPr b="1" sz="1500">
              <a:solidFill>
                <a:srgbClr val="123E6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123E66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23E66"/>
              </a:solidFill>
            </a:endParaRPr>
          </a:p>
        </p:txBody>
      </p:sp>
      <p:sp>
        <p:nvSpPr>
          <p:cNvPr id="575" name="Google Shape;575;h7e69cd57b07db49f_0_862"/>
          <p:cNvSpPr/>
          <p:nvPr/>
        </p:nvSpPr>
        <p:spPr>
          <a:xfrm>
            <a:off x="329715" y="62176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450"/>
              <a:buFont typeface="Arial"/>
              <a:buNone/>
            </a:pPr>
            <a:r>
              <a:rPr lang="ca" sz="145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En tots dos casos, la idea és la mateixa: Maria té l’excepció; el grup manté permisos més restrictius.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h7e69cd57b07db49f_0_86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9"/>
          <p:cNvSpPr txBox="1"/>
          <p:nvPr/>
        </p:nvSpPr>
        <p:spPr>
          <a:xfrm>
            <a:off x="502920" y="475488"/>
            <a:ext cx="10972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Activitat 3 · Dissenya una matriu d’accés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 txBox="1"/>
          <p:nvPr/>
        </p:nvSpPr>
        <p:spPr>
          <a:xfrm>
            <a:off x="530352" y="98755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3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Cas institut: primer pensem la política; després ja decidirem si ho implementem amb grups, permisos o ACL.</a:t>
            </a:r>
            <a:endParaRPr/>
          </a:p>
        </p:txBody>
      </p:sp>
      <p:sp>
        <p:nvSpPr>
          <p:cNvPr id="583" name="Google Shape;583;p19"/>
          <p:cNvSpPr/>
          <p:nvPr/>
        </p:nvSpPr>
        <p:spPr>
          <a:xfrm>
            <a:off x="663025" y="1472375"/>
            <a:ext cx="6477000" cy="5115000"/>
          </a:xfrm>
          <a:prstGeom prst="roundRect">
            <a:avLst>
              <a:gd fmla="val 16667" name="adj"/>
            </a:avLst>
          </a:prstGeom>
          <a:solidFill>
            <a:srgbClr val="E8F5FD"/>
          </a:solidFill>
          <a:ln cap="flat" cmpd="sng" w="10150">
            <a:solidFill>
              <a:srgbClr val="B2D5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891620" y="1673548"/>
            <a:ext cx="502800" cy="502800"/>
          </a:xfrm>
          <a:prstGeom prst="ellipse">
            <a:avLst/>
          </a:prstGeom>
          <a:solidFill>
            <a:srgbClr val="144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9"/>
          <p:cNvSpPr txBox="1"/>
          <p:nvPr/>
        </p:nvSpPr>
        <p:spPr>
          <a:xfrm>
            <a:off x="891620" y="1801564"/>
            <a:ext cx="50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86" name="Google Shape;586;p19"/>
          <p:cNvSpPr txBox="1"/>
          <p:nvPr/>
        </p:nvSpPr>
        <p:spPr>
          <a:xfrm>
            <a:off x="1485980" y="1673548"/>
            <a:ext cx="3017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" lIns="18275" spcFirstLastPara="1" rIns="18275" wrap="square" tIns="128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Situació</a:t>
            </a:r>
            <a:endParaRPr/>
          </a:p>
        </p:txBody>
      </p:sp>
      <p:sp>
        <p:nvSpPr>
          <p:cNvPr id="587" name="Google Shape;587;p19"/>
          <p:cNvSpPr txBox="1"/>
          <p:nvPr/>
        </p:nvSpPr>
        <p:spPr>
          <a:xfrm>
            <a:off x="1485975" y="2112450"/>
            <a:ext cx="55044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00">
                <a:solidFill>
                  <a:schemeClr val="dk1"/>
                </a:solidFill>
              </a:rPr>
              <a:t>L'institut vol controlar l'accés a quatre recursos digitals: </a:t>
            </a:r>
            <a:r>
              <a:rPr b="1" lang="ca" sz="1200">
                <a:solidFill>
                  <a:schemeClr val="dk1"/>
                </a:solidFill>
              </a:rPr>
              <a:t>Notes, Material d'aula, Documents de secretaria i Web del centre</a:t>
            </a:r>
            <a:r>
              <a:rPr lang="ca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Professorat:</a:t>
            </a:r>
            <a:r>
              <a:rPr lang="ca" sz="1200">
                <a:solidFill>
                  <a:schemeClr val="dk1"/>
                </a:solidFill>
              </a:rPr>
              <a:t> introdueix i modifica les notes i el material d'aula. També consulta el web del centre.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Alumnat:</a:t>
            </a:r>
            <a:r>
              <a:rPr lang="ca" sz="1200">
                <a:solidFill>
                  <a:schemeClr val="dk1"/>
                </a:solidFill>
              </a:rPr>
              <a:t> pot consultar el material d'aula i el web, però no pot accedir a les notes ni als documents de secretaria.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Secretaria:</a:t>
            </a:r>
            <a:r>
              <a:rPr lang="ca" sz="1200">
                <a:solidFill>
                  <a:schemeClr val="dk1"/>
                </a:solidFill>
              </a:rPr>
              <a:t> crea i modifica els documents administratius. També consulta el web.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ca" sz="1200">
                <a:solidFill>
                  <a:schemeClr val="dk1"/>
                </a:solidFill>
              </a:rPr>
              <a:t>Direcció:</a:t>
            </a:r>
            <a:r>
              <a:rPr lang="ca" sz="1200">
                <a:solidFill>
                  <a:schemeClr val="dk1"/>
                </a:solidFill>
              </a:rPr>
              <a:t> consulta les notes i el material d'aula. Pot modificar els documents de secretaria i el web del centre.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00">
                <a:solidFill>
                  <a:schemeClr val="dk1"/>
                </a:solidFill>
              </a:rPr>
              <a:t>La resta d'accessos no són necessaris i han d'estar restringits.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" sz="1200">
                <a:solidFill>
                  <a:schemeClr val="dk1"/>
                </a:solidFill>
              </a:rPr>
              <a:t>Situació especial:</a:t>
            </a:r>
            <a:r>
              <a:rPr lang="ca" sz="1200">
                <a:solidFill>
                  <a:schemeClr val="dk1"/>
                </a:solidFill>
              </a:rPr>
              <a:t> un alumne delegat necessita editar una carpeta concreta del material d'aula per organitzar un projecte de classe.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43758"/>
              </a:solidFill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7342150" y="1673550"/>
            <a:ext cx="4023300" cy="2448900"/>
          </a:xfrm>
          <a:prstGeom prst="roundRect">
            <a:avLst>
              <a:gd fmla="val 16667" name="adj"/>
            </a:avLst>
          </a:prstGeom>
          <a:solidFill>
            <a:srgbClr val="FFF4D5"/>
          </a:solidFill>
          <a:ln cap="flat" cmpd="sng" w="10150">
            <a:solidFill>
              <a:srgbClr val="B2D5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7570745" y="1874738"/>
            <a:ext cx="502800" cy="502800"/>
          </a:xfrm>
          <a:prstGeom prst="ellipse">
            <a:avLst/>
          </a:prstGeom>
          <a:solidFill>
            <a:srgbClr val="144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9"/>
          <p:cNvSpPr txBox="1"/>
          <p:nvPr/>
        </p:nvSpPr>
        <p:spPr>
          <a:xfrm>
            <a:off x="7570745" y="2002753"/>
            <a:ext cx="50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91" name="Google Shape;591;p19"/>
          <p:cNvSpPr txBox="1"/>
          <p:nvPr/>
        </p:nvSpPr>
        <p:spPr>
          <a:xfrm>
            <a:off x="8165105" y="1874738"/>
            <a:ext cx="3017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" lIns="18275" spcFirstLastPara="1" rIns="18275" wrap="square" tIns="128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/>
          </a:p>
        </p:txBody>
      </p:sp>
      <p:sp>
        <p:nvSpPr>
          <p:cNvPr id="592" name="Google Shape;592;p19"/>
          <p:cNvSpPr txBox="1"/>
          <p:nvPr/>
        </p:nvSpPr>
        <p:spPr>
          <a:xfrm>
            <a:off x="8165100" y="2313650"/>
            <a:ext cx="34302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1. Identifica subjectes i objectes.</a:t>
            </a:r>
            <a:b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2. Omple la matriu.</a:t>
            </a:r>
            <a:b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3. Escriu 2 normes de política.</a:t>
            </a:r>
            <a:b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ca" sz="108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4. Indica una excepció que podria requerir ACL.</a:t>
            </a:r>
            <a:endParaRPr/>
          </a:p>
        </p:txBody>
      </p:sp>
      <p:sp>
        <p:nvSpPr>
          <p:cNvPr id="593" name="Google Shape;593;p1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h7e69cd57b07db49f_0_875"/>
          <p:cNvSpPr txBox="1"/>
          <p:nvPr/>
        </p:nvSpPr>
        <p:spPr>
          <a:xfrm>
            <a:off x="502920" y="475488"/>
            <a:ext cx="10972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Activitat 3 · Dissenya una matriu d’accés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h7e69cd57b07db49f_0_875"/>
          <p:cNvSpPr txBox="1"/>
          <p:nvPr/>
        </p:nvSpPr>
        <p:spPr>
          <a:xfrm>
            <a:off x="530352" y="987552"/>
            <a:ext cx="1069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3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Cas institut: primer pensem la política; després ja decidirem si ho implementem amb grups, permisos o ACL.</a:t>
            </a:r>
            <a:endParaRPr/>
          </a:p>
        </p:txBody>
      </p:sp>
      <p:sp>
        <p:nvSpPr>
          <p:cNvPr id="600" name="Google Shape;600;h7e69cd57b07db49f_0_875"/>
          <p:cNvSpPr txBox="1"/>
          <p:nvPr/>
        </p:nvSpPr>
        <p:spPr>
          <a:xfrm>
            <a:off x="616570" y="1564293"/>
            <a:ext cx="594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Solució orientativa</a:t>
            </a:r>
            <a:endParaRPr/>
          </a:p>
        </p:txBody>
      </p:sp>
      <p:graphicFrame>
        <p:nvGraphicFramePr>
          <p:cNvPr id="601" name="Google Shape;601;h7e69cd57b07db49f_0_875"/>
          <p:cNvGraphicFramePr/>
          <p:nvPr/>
        </p:nvGraphicFramePr>
        <p:xfrm>
          <a:off x="690445" y="2171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{A247124D-D94B-4204-BD82-86F96101B9F8}</a:tableStyleId>
              </a:tblPr>
              <a:tblGrid>
                <a:gridCol w="1718725"/>
                <a:gridCol w="1227675"/>
                <a:gridCol w="1227675"/>
                <a:gridCol w="1227675"/>
                <a:gridCol w="122767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Subjecte / objecte</a:t>
                      </a:r>
                      <a:endParaRPr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Material aula</a:t>
                      </a:r>
                      <a:endParaRPr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Secretaria</a:t>
                      </a:r>
                      <a:endParaRPr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centre</a:t>
                      </a:r>
                      <a:endParaRPr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Professorat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Alumnat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Secretaria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Direcció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2" name="Google Shape;602;h7e69cd57b07db49f_0_875"/>
          <p:cNvSpPr/>
          <p:nvPr/>
        </p:nvSpPr>
        <p:spPr>
          <a:xfrm>
            <a:off x="690450" y="4412200"/>
            <a:ext cx="6629400" cy="826800"/>
          </a:xfrm>
          <a:prstGeom prst="roundRect">
            <a:avLst>
              <a:gd fmla="val 16667" name="adj"/>
            </a:avLst>
          </a:prstGeom>
          <a:solidFill>
            <a:srgbClr val="E8F5FD"/>
          </a:solidFill>
          <a:ln cap="flat" cmpd="sng" w="12700">
            <a:solidFill>
              <a:srgbClr val="B2D5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Exemple d’excepció ACL: un alumne delegat pot editar una carpeta concreta del projecte, però no la resta de carpetes de l’alumnat.</a:t>
            </a:r>
            <a:endParaRPr sz="1200"/>
          </a:p>
        </p:txBody>
      </p:sp>
      <p:sp>
        <p:nvSpPr>
          <p:cNvPr id="603" name="Google Shape;603;h7e69cd57b07db49f_0_875"/>
          <p:cNvSpPr txBox="1"/>
          <p:nvPr/>
        </p:nvSpPr>
        <p:spPr>
          <a:xfrm>
            <a:off x="752025" y="5587066"/>
            <a:ext cx="66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L/E = lectura i escriptura · L = només lectura · — = sense accés</a:t>
            </a:r>
            <a:endParaRPr sz="1200"/>
          </a:p>
        </p:txBody>
      </p:sp>
      <p:sp>
        <p:nvSpPr>
          <p:cNvPr id="604" name="Google Shape;604;h7e69cd57b07db49f_0_87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0"/>
          <p:cNvSpPr txBox="1"/>
          <p:nvPr/>
        </p:nvSpPr>
        <p:spPr>
          <a:xfrm>
            <a:off x="502920" y="475488"/>
            <a:ext cx="10972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Activitat 4 · Política d’accés en una petita empresa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 txBox="1"/>
          <p:nvPr/>
        </p:nvSpPr>
        <p:spPr>
          <a:xfrm>
            <a:off x="502925" y="1455431"/>
            <a:ext cx="1069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3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Objectiu: transformar una situació real en subjectes, objectes i drets d’accés.</a:t>
            </a: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502925" y="1953950"/>
            <a:ext cx="6338100" cy="4558800"/>
          </a:xfrm>
          <a:prstGeom prst="roundRect">
            <a:avLst>
              <a:gd fmla="val 16667" name="adj"/>
            </a:avLst>
          </a:prstGeom>
          <a:solidFill>
            <a:srgbClr val="E8F5FD"/>
          </a:solidFill>
          <a:ln cap="flat" cmpd="sng" w="10150">
            <a:solidFill>
              <a:srgbClr val="B2D5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731520" y="2155123"/>
            <a:ext cx="502800" cy="502800"/>
          </a:xfrm>
          <a:prstGeom prst="ellipse">
            <a:avLst/>
          </a:prstGeom>
          <a:solidFill>
            <a:srgbClr val="144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 txBox="1"/>
          <p:nvPr/>
        </p:nvSpPr>
        <p:spPr>
          <a:xfrm>
            <a:off x="731520" y="2283139"/>
            <a:ext cx="50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14" name="Google Shape;614;p20"/>
          <p:cNvSpPr txBox="1"/>
          <p:nvPr/>
        </p:nvSpPr>
        <p:spPr>
          <a:xfrm>
            <a:off x="1325880" y="2155123"/>
            <a:ext cx="3154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" lIns="18275" spcFirstLastPara="1" rIns="18275" wrap="square" tIns="128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Situació</a:t>
            </a:r>
            <a:endParaRPr/>
          </a:p>
        </p:txBody>
      </p:sp>
      <p:sp>
        <p:nvSpPr>
          <p:cNvPr id="615" name="Google Shape;615;p20"/>
          <p:cNvSpPr txBox="1"/>
          <p:nvPr/>
        </p:nvSpPr>
        <p:spPr>
          <a:xfrm>
            <a:off x="1325875" y="2594025"/>
            <a:ext cx="5515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100">
                <a:solidFill>
                  <a:schemeClr val="dk1"/>
                </a:solidFill>
              </a:rPr>
              <a:t>Situació · Una petita empresa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100">
                <a:solidFill>
                  <a:schemeClr val="dk1"/>
                </a:solidFill>
              </a:rPr>
              <a:t>Una empresa té cinc grups de treballadors: direcció, comptabilitat, comercial, informàtica i personal general. Al servidor hi ha cinc carpetes: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Nòmines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Factures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CRM</a:t>
            </a:r>
            <a:r>
              <a:rPr lang="ca" sz="1100">
                <a:solidFill>
                  <a:schemeClr val="dk1"/>
                </a:solidFill>
              </a:rPr>
              <a:t>,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Còpies de seguretat</a:t>
            </a:r>
            <a:r>
              <a:rPr lang="ca" sz="1100">
                <a:solidFill>
                  <a:schemeClr val="dk1"/>
                </a:solidFill>
              </a:rPr>
              <a:t> i </a:t>
            </a:r>
            <a:r>
              <a:rPr lang="c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Documents comuns</a:t>
            </a:r>
            <a:r>
              <a:rPr lang="ca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100">
                <a:solidFill>
                  <a:schemeClr val="dk1"/>
                </a:solidFill>
              </a:rPr>
              <a:t>Direcció: consulta les nòmines, les factures i el CRM dels clients. També crea i modifica documents comuns.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100">
                <a:solidFill>
                  <a:schemeClr val="dk1"/>
                </a:solidFill>
              </a:rPr>
              <a:t>Comptabilitat: prepara i actualitza les nòmines i les factures. També treballa amb documents comuns.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100">
                <a:solidFill>
                  <a:schemeClr val="dk1"/>
                </a:solidFill>
              </a:rPr>
              <a:t>Comercial: gestiona les dades dels clients al CRM i treballa amb documents comuns. No necessita consultar les carpetes de nòmines ni de factures.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100">
                <a:solidFill>
                  <a:schemeClr val="dk1"/>
                </a:solidFill>
              </a:rPr>
              <a:t>Informàtica: gestiona les còpies de seguretat i pot consultar els documents comuns. No necessita accedir habitualment a la resta de carpetes.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ca" sz="1100">
                <a:solidFill>
                  <a:schemeClr val="dk1"/>
                </a:solidFill>
              </a:rPr>
              <a:t>Personal general: només necessita consultar, crear i modificar documents comuns.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100">
                <a:solidFill>
                  <a:schemeClr val="dk1"/>
                </a:solidFill>
              </a:rPr>
              <a:t>Situació especial: un treballador de comercial ha de consultar temporalment una factura concreta per resoldre una incidència amb un client.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43758"/>
              </a:solidFill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7025525" y="2104238"/>
            <a:ext cx="4450200" cy="2319300"/>
          </a:xfrm>
          <a:prstGeom prst="roundRect">
            <a:avLst>
              <a:gd fmla="val 16667" name="adj"/>
            </a:avLst>
          </a:prstGeom>
          <a:solidFill>
            <a:srgbClr val="FFF4D5"/>
          </a:solidFill>
          <a:ln cap="flat" cmpd="sng" w="10150">
            <a:solidFill>
              <a:srgbClr val="B2D5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7254120" y="2628225"/>
            <a:ext cx="502800" cy="502800"/>
          </a:xfrm>
          <a:prstGeom prst="ellipse">
            <a:avLst/>
          </a:prstGeom>
          <a:solidFill>
            <a:srgbClr val="144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 txBox="1"/>
          <p:nvPr/>
        </p:nvSpPr>
        <p:spPr>
          <a:xfrm>
            <a:off x="7254120" y="2756240"/>
            <a:ext cx="50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19" name="Google Shape;619;p20"/>
          <p:cNvSpPr txBox="1"/>
          <p:nvPr/>
        </p:nvSpPr>
        <p:spPr>
          <a:xfrm>
            <a:off x="7848480" y="2628225"/>
            <a:ext cx="3154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00" lIns="18275" spcFirstLastPara="1" rIns="18275" wrap="square" tIns="128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Tasques</a:t>
            </a:r>
            <a:endParaRPr/>
          </a:p>
        </p:txBody>
      </p:sp>
      <p:sp>
        <p:nvSpPr>
          <p:cNvPr id="620" name="Google Shape;620;p20"/>
          <p:cNvSpPr txBox="1"/>
          <p:nvPr/>
        </p:nvSpPr>
        <p:spPr>
          <a:xfrm>
            <a:off x="7848475" y="3067138"/>
            <a:ext cx="3381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1. Defineix subjectes i objectes.</a:t>
            </a:r>
            <a:b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2. Assigna permisos.</a:t>
            </a:r>
            <a:b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3. Escriu una política en 3 frases.</a:t>
            </a:r>
            <a:b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4. Marca on caldria una excepció amb ACL.</a:t>
            </a:r>
            <a:endParaRPr sz="1200"/>
          </a:p>
        </p:txBody>
      </p:sp>
      <p:sp>
        <p:nvSpPr>
          <p:cNvPr id="621" name="Google Shape;621;p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h7e69cd57b07db49f_0_895"/>
          <p:cNvSpPr txBox="1"/>
          <p:nvPr/>
        </p:nvSpPr>
        <p:spPr>
          <a:xfrm>
            <a:off x="502920" y="475488"/>
            <a:ext cx="10972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Activitat 4 · Política d’accés en una petita empresa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h7e69cd57b07db49f_0_895"/>
          <p:cNvSpPr txBox="1"/>
          <p:nvPr/>
        </p:nvSpPr>
        <p:spPr>
          <a:xfrm>
            <a:off x="502927" y="1320227"/>
            <a:ext cx="1069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3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Objectiu: transformar una situació real en subjectes, objectes i drets d’accés.</a:t>
            </a:r>
            <a:endParaRPr/>
          </a:p>
        </p:txBody>
      </p:sp>
      <p:sp>
        <p:nvSpPr>
          <p:cNvPr id="628" name="Google Shape;628;h7e69cd57b07db49f_0_895"/>
          <p:cNvSpPr txBox="1"/>
          <p:nvPr/>
        </p:nvSpPr>
        <p:spPr>
          <a:xfrm>
            <a:off x="502930" y="1670705"/>
            <a:ext cx="59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Solució orientativa</a:t>
            </a:r>
            <a:endParaRPr/>
          </a:p>
        </p:txBody>
      </p:sp>
      <p:graphicFrame>
        <p:nvGraphicFramePr>
          <p:cNvPr id="629" name="Google Shape;629;h7e69cd57b07db49f_0_895"/>
          <p:cNvGraphicFramePr/>
          <p:nvPr/>
        </p:nvGraphicFramePr>
        <p:xfrm>
          <a:off x="502930" y="2036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{A247124D-D94B-4204-BD82-86F96101B9F8}</a:tableStyleId>
              </a:tblPr>
              <a:tblGrid>
                <a:gridCol w="1595300"/>
                <a:gridCol w="1139475"/>
                <a:gridCol w="1139475"/>
                <a:gridCol w="1139475"/>
                <a:gridCol w="1139475"/>
                <a:gridCol w="1139475"/>
              </a:tblGrid>
              <a:tr h="51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Subjecte / objecte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Nòmines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Factures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CRM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Còpies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Comuns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D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Direcció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Comptabilitat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Comercial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Informàtica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Treballadors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 u="none" cap="none" strike="noStrike">
                          <a:solidFill>
                            <a:srgbClr val="1437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L/E</a:t>
                      </a:r>
                      <a:endParaRPr sz="1200"/>
                    </a:p>
                  </a:txBody>
                  <a:tcPr marT="50300" marB="50300" marR="73150" marL="73150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0" name="Google Shape;630;h7e69cd57b07db49f_0_895"/>
          <p:cNvSpPr/>
          <p:nvPr/>
        </p:nvSpPr>
        <p:spPr>
          <a:xfrm>
            <a:off x="502925" y="4432204"/>
            <a:ext cx="6492300" cy="757500"/>
          </a:xfrm>
          <a:prstGeom prst="roundRect">
            <a:avLst>
              <a:gd fmla="val 16667" name="adj"/>
            </a:avLst>
          </a:prstGeom>
          <a:solidFill>
            <a:srgbClr val="E8F5FD"/>
          </a:solidFill>
          <a:ln cap="flat" cmpd="sng" w="12700">
            <a:solidFill>
              <a:srgbClr val="B2D5E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0575" lIns="164575" spcFirstLastPara="1" rIns="164575" wrap="square" tIns="1005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Política proposada: permisos per grups, mínim privilegi i revisions periòdiques. Les excepcions puntuals s’han de documentar i tenir data de revisió.</a:t>
            </a:r>
            <a:endParaRPr sz="1200"/>
          </a:p>
        </p:txBody>
      </p:sp>
      <p:sp>
        <p:nvSpPr>
          <p:cNvPr id="631" name="Google Shape;631;h7e69cd57b07db49f_0_895"/>
          <p:cNvSpPr txBox="1"/>
          <p:nvPr/>
        </p:nvSpPr>
        <p:spPr>
          <a:xfrm>
            <a:off x="502925" y="5426151"/>
            <a:ext cx="6492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575" lIns="164575" spcFirstLastPara="1" rIns="164575" wrap="square" tIns="100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1200">
                <a:solidFill>
                  <a:srgbClr val="143758"/>
                </a:solidFill>
                <a:latin typeface="Arial"/>
                <a:ea typeface="Arial"/>
                <a:cs typeface="Arial"/>
                <a:sym typeface="Arial"/>
              </a:rPr>
              <a:t>Possible ACL: una persona de comercial necessita accés temporal de lectura a una factura concreta, sense entrar al grup de comptabilitat.</a:t>
            </a:r>
            <a:endParaRPr sz="1200"/>
          </a:p>
        </p:txBody>
      </p:sp>
      <p:sp>
        <p:nvSpPr>
          <p:cNvPr id="632" name="Google Shape;632;h7e69cd57b07db49f_0_89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1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Idees clau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502933" y="157867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Resum final de la sessió.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815875" y="2193195"/>
            <a:ext cx="104241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ca" sz="17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El control d’accés decideix qui pot fer què sobre quin recurs.</a:t>
            </a:r>
            <a:endParaRPr sz="1700">
              <a:solidFill>
                <a:srgbClr val="163B5C"/>
              </a:solidFill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ca" sz="17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Els permisos tradicionals són la base: propietari, grup i altres.</a:t>
            </a:r>
            <a:endParaRPr sz="1700">
              <a:solidFill>
                <a:srgbClr val="163B5C"/>
              </a:solidFill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ca" sz="17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Les ACL amplien aquest model quan necessitem permisos més específics.</a:t>
            </a:r>
            <a:endParaRPr sz="1700">
              <a:solidFill>
                <a:srgbClr val="163B5C"/>
              </a:solidFill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ca" sz="1700">
                <a:solidFill>
                  <a:srgbClr val="163B5C"/>
                </a:solidFill>
              </a:rPr>
              <a:t>Cada entrada d'una ACL identifica un usuari o grup i els seus permisos. A Windows, les ACE poden ser de tipus Permetre o Denegar.</a:t>
            </a:r>
            <a:endParaRPr sz="1700">
              <a:solidFill>
                <a:srgbClr val="163B5C"/>
              </a:solidFill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ca" sz="17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Linux i Windows implementen ACL amb eines diferents, però la idea és la mateixa.</a:t>
            </a:r>
            <a:endParaRPr sz="1700">
              <a:solidFill>
                <a:srgbClr val="163B5C"/>
              </a:solidFill>
            </a:endParaRPr>
          </a:p>
          <a:p>
            <a:pPr indent="-3365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ca" sz="17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Una bona política ACL aplica mínim privilegi i revisió periòdica.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2"/>
          <p:cNvSpPr/>
          <p:nvPr/>
        </p:nvSpPr>
        <p:spPr>
          <a:xfrm>
            <a:off x="502920" y="53035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23E66"/>
              </a:buClr>
              <a:buSzPts val="2800"/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Crèdits i material de consulta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502933" y="155405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3B5C"/>
              </a:buClr>
              <a:buSzPts val="1500"/>
              <a:buFont typeface="Arial"/>
              <a:buNone/>
            </a:pPr>
            <a:r>
              <a:rPr lang="ca" sz="15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Manteniu sempre els crèdits i la llicència del material.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794775" y="2055648"/>
            <a:ext cx="10424100" cy="42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575" lIns="164575" spcFirstLastPara="1" rIns="164575" wrap="square" tIns="100575">
            <a:normAutofit/>
          </a:bodyPr>
          <a:lstStyle/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Material base: Ivan Basart Carrillo i Carles Caño Valls.</a:t>
            </a:r>
            <a:endParaRPr sz="1600">
              <a:solidFill>
                <a:srgbClr val="163B5C"/>
              </a:solidFill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Material de suport SMX2: Carles Franquesa.</a:t>
            </a:r>
            <a:endParaRPr sz="1600">
              <a:solidFill>
                <a:srgbClr val="163B5C"/>
              </a:solidFill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Material adaptat per a 1r CFGM SMX · M0226 · Seguretat Informàtica</a:t>
            </a:r>
            <a:r>
              <a:rPr lang="ca" sz="1600">
                <a:solidFill>
                  <a:srgbClr val="163B5C"/>
                </a:solidFill>
              </a:rPr>
              <a:t>, </a:t>
            </a:r>
            <a:r>
              <a:rPr lang="ca" sz="1600">
                <a:solidFill>
                  <a:srgbClr val="163B5C"/>
                </a:solidFill>
              </a:rPr>
              <a:t>Adaptació didàctica i redisseny visual: Eduard Gutiérrez</a:t>
            </a:r>
            <a:endParaRPr sz="1600">
              <a:solidFill>
                <a:srgbClr val="163B5C"/>
              </a:solidFill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Llicència: Creative Commons BY-NC-SA 4.0.</a:t>
            </a:r>
            <a:endParaRPr sz="1600">
              <a:solidFill>
                <a:srgbClr val="163B5C"/>
              </a:solidFill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>
                <a:solidFill>
                  <a:srgbClr val="163B5C"/>
                </a:solidFill>
                <a:latin typeface="Arial"/>
                <a:ea typeface="Arial"/>
                <a:cs typeface="Arial"/>
                <a:sym typeface="Arial"/>
              </a:rPr>
              <a:t>Consulta sempre la documentació oficial del sistema operatiu quan apliquis permisos en entorns reals.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laFontanal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2026-09-28T10:38:12Z</dcterms:created>
  <dc:creator>Daniel Gutiérrez Pascu</dc:creator>
</cp:coreProperties>
</file>